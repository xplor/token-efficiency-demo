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9cc60ae2-a466-9c7c-af6f-6c379591c664}">
          <p14:sldIdLst>
            <p14:sldId id="256"/>
            <p14:sldId id="257"/>
            <p14:sldId id="258"/>
          </p14:sldIdLst>
        </p14:section>
        <p14:section name="Theory 1 - Context" id="{60a0d2ef-ceb5-80c9-c8fe-15ecc5967089}">
          <p14:sldIdLst>
            <p14:sldId id="259"/>
            <p14:sldId id="260"/>
            <p14:sldId id="261"/>
            <p14:sldId id="262"/>
          </p14:sldIdLst>
        </p14:section>
        <p14:section name="Demo 1 - Vibe" id="{e059ac13-4e8e-c914-293a-18d6f58d4982}">
          <p14:sldIdLst>
            <p14:sldId id="263"/>
          </p14:sldIdLst>
        </p14:section>
        <p14:section name="Theory 2 - Planning" id="{0fdffc44-07d6-618c-6273-cd2c923180e4}">
          <p14:sldIdLst>
            <p14:sldId id="264"/>
            <p14:sldId id="265"/>
            <p14:sldId id="266"/>
            <p14:sldId id="267"/>
            <p14:sldId id="268"/>
            <p14:sldId id="269"/>
            <p14:sldId id="270"/>
          </p14:sldIdLst>
        </p14:section>
        <p14:section name="Demo 2 - Disciplined" id="{07824460-252d-6005-f9ec-92c06a28ca5e}">
          <p14:sldIdLst>
            <p14:sldId id="271"/>
          </p14:sldIdLst>
        </p14:section>
        <p14:section name="Theory 3 - Context" id="{c1f583f5-0416-715e-16dd-e90bce234bc3}">
          <p14:sldIdLst>
            <p14:sldId id="272"/>
            <p14:sldId id="273"/>
            <p14:sldId id="274"/>
            <p14:sldId id="275"/>
            <p14:sldId id="276"/>
          </p14:sldIdLst>
        </p14:section>
        <p14:section name="Demo 3 - Fresh context" id="{4f5337b5-2fda-9b92-5066-6167b9b7e151}">
          <p14:sldIdLst>
            <p14:sldId id="277"/>
          </p14:sldIdLst>
        </p14:section>
        <p14:section name="Close" id="{8e7b8d7b-d199-c106-3d89-df6c32af8799}">
          <p14:sldIdLst>
            <p14:sldId id="278"/>
            <p14:sldId id="279"/>
            <p14:sldId id="280"/>
          </p14:sldIdLst>
        </p14:section>
        <p14:section name="Backup" id="{42bdc90e-1efb-5ca3-c15e-dab297950008}">
          <p14:sldIdLst>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Welcome. 60 minutes, no laptops needed - we drive, you watch and heckle. We alternate theory and live demos four times so nobody sits through 30 minutes of slides. Promise: every demo is live in the Claude Code CLI, and every habit works the same in Cursor - the Cursor equivalents are on the cheat sheet you get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[Eugene starts `node race.mjs` on the second screen/terminal NOW if not already running.] Before we explain anything, we've started two Claude Code agents on the same four tickets in this repo. One gets prompts the way we all write them at 4pm on a Thursday. The other gets the habits we're about to teach. Same model. When both finish, QA checks the work and sends any failures back once - same report to both - because in real life a wrong answer comes back to you. We'll come back at the end and see who was right, and what it cost including the rework.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Quick shape of the hour. Purple is us talking, teal is a live demo. Two big themes: planning is how we keep an agent on target, and managing context is how we keep it cheap. Questions are welcome during demos - that's when the agent is thinking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The wrong mental model: the agent 'knows' my repo. The right one: a fixed-size working set, and everything competes for it. Your CLAUDE.md, every file it opened, every test log, every message so far. And it's re-read every single turn - that's where cost and quality both go. Mental model to keep: include what helps the NEXT decision,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Make it concrete. One careless read of that analytics fixture costs more than the entire source tree - four times over. The demo bug needs ONE line changed in ONE file. And this repo is deliberately realistic: dead code that looks alive, files whose names lie. Your agent doesn't know which is which unless you tell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If you remember one slide from theory 1, it's this one. 'Token efficiency' is not about being stingy. A 20-cent session that edits the wrong file and passes review is the most expensive thing that can happen. So we measure four things, and tokens are the least painful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Here's the scorecard for every demo. Shout these out when you see them. The headline ratio: of the files it opened, how many mattered? Aim for 70% or better. Eugene, take it away - let's vibe.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EUGENE drives, ADAM narrates and tallies. Eugene: fresh Claude Code session in parcel-pilot-stage/demo1-vibe, status line visible. Paste prompt 1 - expect the tax fix to be right; say 'good docs and a failing test did our job for us'. Then prompt 2 in the SAME chat; ask the room if anyone sees a problem with the ticket. When it finishes, run the hidden check: node demo-kit/verify.mjs ../../parcel-pilot-stage/demo1-vibe 1 3. In rehearsal Task 3 failed every time: '&gt; 10000' means exactly £100 still pays, and express went free too. Open shipping-price.ts and show the one if. Then /context. Adam: 'It did exactly what we asked. The bug is in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EUGENE. Debrief what we just saw - tie each card to a moment in Demo 1 ('remember when it opened tax-calculator.ts?'). None of this is the model being dumb. It did exactly what we asked: find out everything, because we told it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EUGENE. This is the whole lesson on one slide - everything else is detail. Aim, Plan, Build, Prove, Reset. Notice that 'plan' is conditional and 'prove'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EUGENE. Walk the rows using the Demo 2 task - the same ticket Demo 1 failed. Point at the acceptance row: 'over £100' became '&gt; 10000', so exactly £100 still paid; and nobody said express was excluded. Two facts we knew and never typed. And the context row says 'not src/shipping/' - because carrier-rates.ts and shipping-selector.ts are sitting there sounding perfect.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EUGENE. Same bug. The right-hand prompt is maybe 150 tokens longer. It removes a repository-wide search worth tens of thousands. Everything in it is something you, the engineer, already knew - you'd just never have typed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EUGENE. This is why we plan. The agent in Demo 1 DID plan - it just did it invisibly, between tool calls. Plan mode makes that thinking visible and reviewable before a single edit. A wrong assumption costs one line to fix in a plan, a correction spiral in the build, and a whole new session after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EUGENE. The sections that matter most are the two people skip: 'don't touch' and 'open questions'. 'Don't touch' is what keeps the agent from wandering into src/shipping/ or refactoring the pipeline. 'Open questions' is where it tells you what it guessed - 'does exactly £100 count? express too?' is where both of Demo 1's bugs would have surfaced. Once approved, the plan is the contract: if the agent finds something that breaks the plan, the right move is to stop and re-plan, not let it improvise.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EUGENE. This is where planning and context management meet. Planning is the expensive, exploratory part - it fills the window with search results and dead ends. Once you have a plan you trust, save it to a file and clear. The build then starts from a clean window containing the plan and the files it names - nothing else. Same tools in both CLIs: plan mode via Shift+Tab, then /clear. Adam will do exactly this in the next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drives the Claude Code CLI in parcel-pilot-stage/demo2-disciplined, EUGENE narrates and keeps the same tally as Demo 1. Prompts: demo-kit/prompts.md (disciplined-1, disciplined-3, save-plan, build-from-plan). Step 2: 'same ticket Demo 1 got wrong - this time we say the two things we knew.' At step 3 ask the room 'what would you change in this plan?'. At step 4, read /context before and after /clear as numbers - a fresh session still holds the system prompt and CLAUDE.md, so the floor isn't zero. Step 5: run verify.mjs ... 1 3 - Task 3 passes here and failed in Demo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Three options, and the difference is what survives. Continue keeps everything, including the noise. Compact (Claude Code) or summarize (Cursor CLI) replaces the transcript with a summary - it's lossy, so tell it what to keep. Clear keeps nothing but the repo - which is fine when the plan or handoff is in a file. 'Keep context under 20%' is a smoke alarm, not a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Left: the signals. The big one is the agent forgetting something you told it - that means the instruction has been buried by everything since. Right: compacting is a summary written by the model, so steer it. Compact at a natural boundary, say what matters, and restate the one constraint that must not be lost. And if the agent went down a wrong path, rewind to before it - arguing with it leaves the wrong path in context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Progressive disclosure is the single biggest structural win for agent docs. Layer 0 is the only thing paid on every turn, so it's tiny and mostly pointers. Layer 1 is a routing map the agent reads when it needs to find code. Layer 2 is scoped rules that load only when the agent touches matching files. Layer 3 is the deep stuff - ADRs, runbooks, skills - pulled only when changing that specific rule. parcel-pilot is built exactly like this, which is partly why the disciplined runs stay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Left is real - it's this repo's CLAUDE.md. Short facts that apply to every task, then pointers with a condition: read X only when Y. Right is what most CLAUDE.md files become after a year: every lesson, every incident, every subsystem, paid for on every turn of every session, including the ones fixing a typo in notifications.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The instinct after a bad session is 'add it to CLAUDE.md'. Do that for a year and every prompt carries thousands of tokens of folklore. Use the layers. Eugene's going to show the whole thing: a new goal, a fresh context, and a lesson saved as a scoped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EUGENE drives the Claude Code CLI in parcel-pilot-stage/demo3-notifications, ADAM narrates. Step 1: cat CLAUDE.md so the room sees layer 0 is short and says nothing about notifications. Step 2: point out the agent reads ADR 003 because the prompt pointed at it - progressive disclosure on demand, not preloaded. The decoys: delivery-queue.ts (when to retry) and notification-log.ts (audit). The trap: the constant is named maxRetries but holds the attempt count - changing it to 2 gives ONE retry. Step 5: create .claude/rules/notifications.md (copy from demo-kit/claude-rule-example if short on time). The paths: frontmatter means Claude loads it only when it reads or edits a matching file. Cursor users: same idea as .cursor/rules/*.mdc with globs. Then: 'Adam, how's the 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Eugene switches to the race terminal - the scoreboard prints when both lanes finish (results also saved in demo-kit/results/). Adam reads the rows top-down: they are slide 7's six scorecard measures, correctness first, then cost. The numbers on this slide are from a rehearsal run - the fallback if the live race hasn't finished; say so if you use them. The failed vibe task is free shipping: 'over £100' became '&gt; 10000' and express went free too. Then the QA round: the same failing-check report goes to both lanes; disciplined had nothing to fix, vibe needed a correction in its already-long chat. That rework is in the cost: about twice the spend and 40% more peak context for the same four tickets. Files read is even - good docs kept both lanes on the right files, which is Theory 3 working. Own it; it makes the rest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EUGENE. Read it, don't explain it - they've seen every line live. Ask the room for one habit each they'll try tomorrow (take two answers, max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Close on the three lines. Point to the cheat sheet (shared in the channel / handed out) and the repo for self-paced practice. Q&amp;A for the remaining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EUGENE. This table is on the cheat sheet, so don't photograph it. Point out: both tools have plan mode, both have mentions, both have compaction and a reset. We demo in Claude Code; if you use Cursor, every move we made has a column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Last theory slide. Three scenarios, three different setups. The line people skip is the escalation condition. Backup slide: use in Q&amp;A if model choice comes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accent1"/>
        </a:solidFill>
      </p:bgPr>
    </p:bg>
    <p:spTree>
      <p:nvGrpSpPr>
        <p:cNvPr id="1" name=""/>
        <p:cNvGrpSpPr/>
        <p:nvPr/>
      </p:nvGrpSpPr>
      <p:grpSpPr>
        <a:xfrm>
          <a:off x="0" y="0"/>
          <a:ext cx="0" cy="0"/>
          <a:chOff x="0" y="0"/>
          <a:chExt cx="0" cy="0"/>
        </a:xfrm>
      </p:grpSpPr>
      <p:sp>
        <p:nvSpPr>
          <p:cNvPr id="2" name="Classification footer"/>
          <p:cNvSpPr/>
          <p:nvPr/>
        </p:nvSpPr>
        <p:spPr>
          <a:xfrm>
            <a:off x="64008" y="6638544"/>
            <a:ext cx="2377440" cy="155448"/>
          </a:xfrm>
          <a:prstGeom prst="rect">
            <a:avLst/>
          </a:prstGeom>
          <a:noFill/>
          <a:ln/>
        </p:spPr>
        <p:txBody>
          <a:bodyPr wrap="square" lIns="0" tIns="0" rIns="0" bIns="0" rtlCol="0" anchor="ctr"/>
          <a:lstStyle/>
          <a:p>
            <a:pPr indent="0" marL="0">
              <a:buNone/>
            </a:pPr>
            <a:r>
              <a:rPr lang="en-US" sz="1000" dirty="0">
                <a:solidFill>
                  <a:srgbClr val="FFFFFF">
                    <a:alpha val="50000"/>
                  </a:srgbClr>
                </a:solidFill>
              </a:rPr>
              <a:t>Xplor Technologies - CONFIDENTIAL</a:t>
            </a:r>
            <a:endParaRPr lang="en-US" sz="1000" dirty="0"/>
          </a:p>
        </p:txBody>
      </p:sp>
      <p:sp>
        <p:nvSpPr>
          <p:cNvPr id="3" name="Text 1"/>
          <p:cNvSpPr/>
          <p:nvPr>
            <p:ph idx="101" type="title" hasCustomPrompt="1"/>
          </p:nvPr>
        </p:nvSpPr>
        <p:spPr>
          <a:xfrm>
            <a:off x="731520" y="2011680"/>
            <a:ext cx="10515600" cy="1005840"/>
          </a:xfrm>
          <a:prstGeom prst="rect">
            <a:avLst/>
          </a:prstGeom>
          <a:noFill/>
          <a:ln/>
        </p:spPr>
        <p:txBody>
          <a:bodyPr wrap="square" rtlCol="0"/>
          <a:lstStyle>
            <a:lvl1pPr indent="0" marL="0">
              <a:buNone/>
              <a:defRPr lang="en-US" sz="5400" b="1" dirty="0">
                <a:solidFill>
                  <a:schemeClr val="bg1"/>
                </a:solidFill>
              </a:defRPr>
            </a:lvl1pPr>
          </a:lstStyle>
          <a:p>
            <a:pPr indent="0" marL="0">
              <a:buNone/>
            </a:pPr>
            <a:endParaRPr lang="en-US" sz="5400" dirty="0"/>
          </a:p>
        </p:txBody>
      </p:sp>
      <p:sp>
        <p:nvSpPr>
          <p:cNvPr id="4" name="Text 1"/>
          <p:cNvSpPr/>
          <p:nvPr>
            <p:ph idx="102" type="body" hasCustomPrompt="1"/>
          </p:nvPr>
        </p:nvSpPr>
        <p:spPr>
          <a:xfrm>
            <a:off x="731520" y="3108960"/>
            <a:ext cx="10515600" cy="640080"/>
          </a:xfrm>
          <a:prstGeom prst="rect">
            <a:avLst/>
          </a:prstGeom>
          <a:noFill/>
          <a:ln/>
        </p:spPr>
        <p:txBody>
          <a:bodyPr wrap="square" rtlCol="0"/>
          <a:lstStyle>
            <a:lvl1pPr indent="0" marL="0">
              <a:buNone/>
              <a:defRPr lang="en-US" sz="2400" dirty="0">
                <a:solidFill>
                  <a:schemeClr val="bg2"/>
                </a:solidFill>
              </a:defRPr>
            </a:lvl1pPr>
          </a:lstStyle>
          <a:p>
            <a:pPr indent="0" marL="0">
              <a:buNone/>
            </a:pPr>
            <a:endParaRPr lang="en-US" sz="2400" dirty="0"/>
          </a:p>
        </p:txBody>
      </p:sp>
      <p:sp>
        <p:nvSpPr>
          <p:cNvPr id="5" name="Text 1"/>
          <p:cNvSpPr/>
          <p:nvPr>
            <p:ph idx="103" type="body" hasCustomPrompt="1"/>
          </p:nvPr>
        </p:nvSpPr>
        <p:spPr>
          <a:xfrm>
            <a:off x="731520" y="4937760"/>
            <a:ext cx="10515600" cy="914400"/>
          </a:xfrm>
          <a:prstGeom prst="rect">
            <a:avLst/>
          </a:prstGeom>
          <a:noFill/>
          <a:ln/>
        </p:spPr>
        <p:txBody>
          <a:bodyPr wrap="square" rtlCol="0"/>
          <a:lstStyle>
            <a:lvl1pPr indent="0" marL="0">
              <a:buNone/>
              <a:defRPr lang="en-US" sz="1600" b="1" dirty="0">
                <a:solidFill>
                  <a:schemeClr val="accent4"/>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MO_DARK">
    <p:bg>
      <p:bgPr>
        <a:solidFill>
          <a:schemeClr val="tx2"/>
        </a:solidFill>
      </p:bgPr>
    </p:bg>
    <p:spTree>
      <p:nvGrpSpPr>
        <p:cNvPr id="1" name=""/>
        <p:cNvGrpSpPr/>
        <p:nvPr/>
      </p:nvGrpSpPr>
      <p:grpSpPr>
        <a:xfrm>
          <a:off x="0" y="0"/>
          <a:ext cx="0" cy="0"/>
          <a:chOff x="0" y="0"/>
          <a:chExt cx="0" cy="0"/>
        </a:xfrm>
      </p:grpSpPr>
      <p:sp>
        <p:nvSpPr>
          <p:cNvPr id="2" name="Classification footer"/>
          <p:cNvSpPr/>
          <p:nvPr/>
        </p:nvSpPr>
        <p:spPr>
          <a:xfrm>
            <a:off x="64008" y="6638544"/>
            <a:ext cx="2377440" cy="155448"/>
          </a:xfrm>
          <a:prstGeom prst="rect">
            <a:avLst/>
          </a:prstGeom>
          <a:noFill/>
          <a:ln/>
        </p:spPr>
        <p:txBody>
          <a:bodyPr wrap="square" lIns="0" tIns="0" rIns="0" bIns="0" rtlCol="0" anchor="ctr"/>
          <a:lstStyle/>
          <a:p>
            <a:pPr indent="0" marL="0">
              <a:buNone/>
            </a:pPr>
            <a:r>
              <a:rPr lang="en-US" sz="1000" dirty="0">
                <a:solidFill>
                  <a:srgbClr val="FFFFFF">
                    <a:alpha val="50000"/>
                  </a:srgbClr>
                </a:solidFill>
              </a:rPr>
              <a:t>Xplor Technologies - CONFIDENTIAL</a:t>
            </a:r>
            <a:endParaRPr lang="en-US" sz="1000" dirty="0"/>
          </a:p>
        </p:txBody>
      </p:sp>
      <p:sp>
        <p:nvSpPr>
          <p:cNvPr id="3" name="Text 1"/>
          <p:cNvSpPr/>
          <p:nvPr>
            <p:ph idx="101" type="title" hasCustomPrompt="1"/>
          </p:nvPr>
        </p:nvSpPr>
        <p:spPr>
          <a:xfrm>
            <a:off x="640080" y="868680"/>
            <a:ext cx="7315200" cy="73152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4" name="Text 1"/>
          <p:cNvSpPr/>
          <p:nvPr>
            <p:ph idx="102" type="body" hasCustomPrompt="1"/>
          </p:nvPr>
        </p:nvSpPr>
        <p:spPr>
          <a:xfrm>
            <a:off x="640080" y="1600200"/>
            <a:ext cx="7315200" cy="411480"/>
          </a:xfrm>
          <a:prstGeom prst="rect">
            <a:avLst/>
          </a:prstGeom>
          <a:noFill/>
          <a:ln/>
        </p:spPr>
        <p:txBody>
          <a:bodyPr wrap="square" rtlCol="0"/>
          <a:lstStyle>
            <a:lvl1pPr indent="0" marL="0">
              <a:buNone/>
              <a:defRPr lang="en-US" sz="1600" dirty="0">
                <a:solidFill>
                  <a:schemeClr val="accent5"/>
                </a:solidFill>
              </a:defRPr>
            </a:lvl1pPr>
          </a:lstStyle>
          <a:p>
            <a:pPr indent="0" marL="0">
              <a:buNone/>
            </a:pPr>
            <a:endParaRPr lang="en-US" sz="1600" dirty="0"/>
          </a:p>
        </p:txBody>
      </p:sp>
      <p:sp>
        <p:nvSpPr>
          <p:cNvPr id="5" name="Text 1"/>
          <p:cNvSpPr/>
          <p:nvPr/>
        </p:nvSpPr>
        <p:spPr>
          <a:xfrm>
            <a:off x="640080" y="6400800"/>
            <a:ext cx="3657600" cy="274320"/>
          </a:xfrm>
          <a:prstGeom prst="rect">
            <a:avLst/>
          </a:prstGeom>
          <a:noFill/>
          <a:ln/>
        </p:spPr>
        <p:txBody>
          <a:bodyPr wrap="square" lIns="0" tIns="0" rIns="0" bIns="0" rtlCol="0" anchor="ctr"/>
          <a:lstStyle/>
          <a:p>
            <a:pPr indent="0" marL="0">
              <a:buNone/>
            </a:pPr>
            <a:r>
              <a:rPr lang="en-US" sz="1000" dirty="0">
                <a:solidFill>
                  <a:schemeClr val="accent5"/>
                </a:solidFill>
              </a:rPr>
              <a:t>Vibe vs. Verified</a:t>
            </a:r>
            <a:endParaRPr lang="en-US" sz="10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Classification footer"/>
          <p:cNvSpPr/>
          <p:nvPr/>
        </p:nvSpPr>
        <p:spPr>
          <a:xfrm>
            <a:off x="64008" y="6638544"/>
            <a:ext cx="2377440" cy="155448"/>
          </a:xfrm>
          <a:prstGeom prst="rect">
            <a:avLst/>
          </a:prstGeom>
          <a:noFill/>
          <a:ln/>
        </p:spPr>
        <p:txBody>
          <a:bodyPr wrap="square" lIns="0" tIns="0" rIns="0" bIns="0" rtlCol="0" anchor="ctr"/>
          <a:lstStyle/>
          <a:p>
            <a:pPr indent="0" marL="0">
              <a:buNone/>
            </a:pPr>
            <a:r>
              <a:rPr lang="en-US" sz="1000" dirty="0">
                <a:solidFill>
                  <a:srgbClr val="000000">
                    <a:alpha val="50000"/>
                  </a:srgbClr>
                </a:solidFill>
              </a:rPr>
              <a:t>Xplor Technologies - CONFIDENTIAL</a:t>
            </a:r>
            <a:endParaRPr lang="en-US" sz="1000" dirty="0"/>
          </a:p>
        </p:txBody>
      </p:sp>
      <p:sp>
        <p:nvSpPr>
          <p:cNvPr id="3" name="Text 1"/>
          <p:cNvSpPr/>
          <p:nvPr>
            <p:ph idx="101" type="title" hasCustomPrompt="1"/>
          </p:nvPr>
        </p:nvSpPr>
        <p:spPr>
          <a:xfrm>
            <a:off x="640080" y="411480"/>
            <a:ext cx="8412480" cy="64008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rtlCol="0"/>
          <a:lstStyle>
            <a:lvl1pPr indent="0" marL="0">
              <a:buNone/>
              <a:defRPr lang="en-US" sz="1500" dirty="0">
                <a:solidFill>
                  <a:schemeClr val="accent3"/>
                </a:solidFill>
              </a:defRPr>
            </a:lvl1pPr>
          </a:lstStyle>
          <a:p>
            <a:pPr indent="0" marL="0">
              <a:buNone/>
            </a:pPr>
            <a:endParaRPr lang="en-US" sz="1500" dirty="0"/>
          </a:p>
        </p:txBody>
      </p:sp>
      <p:sp>
        <p:nvSpPr>
          <p:cNvPr id="5" name="Text 1"/>
          <p:cNvSpPr/>
          <p:nvPr/>
        </p:nvSpPr>
        <p:spPr>
          <a:xfrm>
            <a:off x="640080" y="6400800"/>
            <a:ext cx="3657600" cy="274320"/>
          </a:xfrm>
          <a:prstGeom prst="rect">
            <a:avLst/>
          </a:prstGeom>
          <a:noFill/>
          <a:ln/>
        </p:spPr>
        <p:txBody>
          <a:bodyPr wrap="square" lIns="0" tIns="0" rIns="0" bIns="0" rtlCol="0" anchor="ctr"/>
          <a:lstStyle/>
          <a:p>
            <a:pPr indent="0" marL="0">
              <a:buNone/>
            </a:pPr>
            <a:r>
              <a:rPr lang="en-US" sz="1000" dirty="0">
                <a:solidFill>
                  <a:schemeClr val="accent6"/>
                </a:solidFill>
              </a:rPr>
              <a:t>Vibe vs. Verified</a:t>
            </a:r>
            <a:endParaRPr lang="en-US" sz="10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731520" y="2011680"/>
            <a:ext cx="10515600" cy="1005840"/>
          </a:xfrm>
          <a:prstGeom prst="rect">
            <a:avLst/>
          </a:prstGeom>
          <a:noFill/>
          <a:ln/>
        </p:spPr>
        <p:txBody>
          <a:bodyPr wrap="square" lIns="0" tIns="0" rIns="0" bIns="0" rtlCol="0" anchor="b"/>
          <a:lstStyle/>
          <a:p>
            <a:pPr indent="0" marL="0">
              <a:buNone/>
            </a:pPr>
            <a:r>
              <a:rPr lang="en-US" sz="5400" b="1" dirty="0">
                <a:solidFill>
                  <a:schemeClr val="bg1"/>
                </a:solidFill>
              </a:rPr>
              <a:t>Vibe vs. Verified</a:t>
            </a:r>
            <a:endParaRPr lang="en-US" sz="5400" dirty="0"/>
          </a:p>
        </p:txBody>
      </p:sp>
      <p:sp>
        <p:nvSpPr>
          <p:cNvPr id="3" name="Text 1"/>
          <p:cNvSpPr/>
          <p:nvPr>
            <p:ph idx="102" type="body" hasCustomPrompt="1"/>
          </p:nvPr>
        </p:nvSpPr>
        <p:spPr>
          <a:xfrm>
            <a:off x="731520" y="3108960"/>
            <a:ext cx="10515600" cy="640080"/>
          </a:xfrm>
          <a:prstGeom prst="rect">
            <a:avLst/>
          </a:prstGeom>
          <a:noFill/>
          <a:ln/>
        </p:spPr>
        <p:txBody>
          <a:bodyPr wrap="square" lIns="0" tIns="0" rIns="0" bIns="0" rtlCol="0" anchor="t"/>
          <a:lstStyle/>
          <a:p>
            <a:pPr indent="0" marL="0">
              <a:buNone/>
            </a:pPr>
            <a:r>
              <a:rPr lang="en-US" sz="2400" dirty="0">
                <a:solidFill>
                  <a:schemeClr val="bg2"/>
                </a:solidFill>
              </a:rPr>
              <a:t>Token-efficient AI development with Claude Code (and Cursor)</a:t>
            </a:r>
            <a:endParaRPr lang="en-US" sz="2400" dirty="0"/>
          </a:p>
        </p:txBody>
      </p:sp>
      <p:sp>
        <p:nvSpPr>
          <p:cNvPr id="4" name="Text 1"/>
          <p:cNvSpPr/>
          <p:nvPr>
            <p:ph idx="103" type="body" hasCustomPrompt="1"/>
          </p:nvPr>
        </p:nvSpPr>
        <p:spPr>
          <a:xfrm>
            <a:off x="731520" y="4937760"/>
            <a:ext cx="10515600" cy="914400"/>
          </a:xfrm>
          <a:prstGeom prst="rect">
            <a:avLst/>
          </a:prstGeom>
          <a:noFill/>
          <a:ln/>
        </p:spPr>
        <p:txBody>
          <a:bodyPr wrap="square" lIns="0" tIns="0" rIns="0" bIns="0" rtlCol="0" anchor="t"/>
          <a:lstStyle/>
          <a:p>
            <a:pPr indent="0" marL="0">
              <a:buNone/>
            </a:pPr>
            <a:r>
              <a:rPr lang="en-US" sz="1600" b="1" dirty="0">
                <a:solidFill>
                  <a:schemeClr val="accent4"/>
                </a:solidFill>
              </a:rPr>
              <a:t>Adam &amp; Eugene  ·  60-minute live session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OPEN · ADAM</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Two agents started racing when we said hello</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Same repository, same model, same four tasks. Only the way we prompt them differs.</a:t>
            </a:r>
            <a:endParaRPr lang="en-US" sz="1500" dirty="0"/>
          </a:p>
        </p:txBody>
      </p:sp>
      <p:sp>
        <p:nvSpPr>
          <p:cNvPr id="5" name="panel"/>
          <p:cNvSpPr/>
          <p:nvPr/>
        </p:nvSpPr>
        <p:spPr>
          <a:xfrm>
            <a:off x="640080" y="1737360"/>
            <a:ext cx="10881360" cy="1371600"/>
          </a:xfrm>
          <a:prstGeom prst="roundRect">
            <a:avLst>
              <a:gd name="adj" fmla="val 5333"/>
            </a:avLst>
          </a:prstGeom>
          <a:solidFill>
            <a:schemeClr val="bg2"/>
          </a:solidFill>
          <a:ln w="12700">
            <a:solidFill>
              <a:schemeClr val="bg2"/>
            </a:solidFill>
            <a:prstDash val="solid"/>
          </a:ln>
        </p:spPr>
      </p:sp>
      <p:sp>
        <p:nvSpPr>
          <p:cNvPr id="6" name="glyph circle"/>
          <p:cNvSpPr/>
          <p:nvPr/>
        </p:nvSpPr>
        <p:spPr>
          <a:xfrm>
            <a:off x="868680" y="1965960"/>
            <a:ext cx="457200" cy="457200"/>
          </a:xfrm>
          <a:prstGeom prst="ellipse">
            <a:avLst/>
          </a:prstGeom>
          <a:solidFill>
            <a:schemeClr val="accent3"/>
          </a:solidFill>
          <a:ln w="12700">
            <a:solidFill>
              <a:schemeClr val="accent3"/>
            </a:solidFill>
            <a:prstDash val="solid"/>
          </a:ln>
        </p:spPr>
      </p:sp>
      <p:sp>
        <p:nvSpPr>
          <p:cNvPr id="7" name="Text 5"/>
          <p:cNvSpPr txBox="1"/>
          <p:nvPr/>
        </p:nvSpPr>
        <p:spPr>
          <a:xfrm>
            <a:off x="868680" y="19659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8" name="Text 6"/>
          <p:cNvSpPr txBox="1"/>
          <p:nvPr/>
        </p:nvSpPr>
        <p:spPr>
          <a:xfrm>
            <a:off x="1508760" y="1938528"/>
            <a:ext cx="3840480" cy="365760"/>
          </a:xfrm>
          <a:prstGeom prst="rect">
            <a:avLst/>
          </a:prstGeom>
          <a:noFill/>
          <a:ln/>
        </p:spPr>
        <p:txBody>
          <a:bodyPr wrap="square" lIns="0" tIns="0" rIns="0" bIns="0" rtlCol="0" anchor="t"/>
          <a:lstStyle/>
          <a:p>
            <a:pPr indent="0" marL="0">
              <a:buNone/>
            </a:pPr>
            <a:r>
              <a:rPr lang="en-US" sz="1800" b="1" dirty="0">
                <a:solidFill>
                  <a:schemeClr val="accent3"/>
                </a:solidFill>
              </a:rPr>
              <a:t>Vibe lane</a:t>
            </a:r>
            <a:endParaRPr lang="en-US" sz="1800" dirty="0"/>
          </a:p>
        </p:txBody>
      </p:sp>
      <p:sp>
        <p:nvSpPr>
          <p:cNvPr id="9" name="Text 7"/>
          <p:cNvSpPr txBox="1"/>
          <p:nvPr/>
        </p:nvSpPr>
        <p:spPr>
          <a:xfrm>
            <a:off x="1508760" y="2359152"/>
            <a:ext cx="4023360" cy="640080"/>
          </a:xfrm>
          <a:prstGeom prst="rect">
            <a:avLst/>
          </a:prstGeom>
          <a:noFill/>
          <a:ln/>
        </p:spPr>
        <p:txBody>
          <a:bodyPr wrap="square" lIns="0" tIns="0" rIns="0" bIns="0" rtlCol="0" anchor="t"/>
          <a:lstStyle/>
          <a:p>
            <a:pPr indent="0" marL="0">
              <a:buNone/>
            </a:pPr>
            <a:r>
              <a:rPr lang="en-US" sz="1400" dirty="0">
                <a:solidFill>
                  <a:schemeClr val="accent3"/>
                </a:solidFill>
              </a:rPr>
              <a:t>One conversation · four one-line prompts · no files, no constraints, no test command</a:t>
            </a:r>
            <a:endParaRPr lang="en-US" sz="1400" dirty="0"/>
          </a:p>
        </p:txBody>
      </p:sp>
      <p:sp>
        <p:nvSpPr>
          <p:cNvPr id="10" name="task chip"/>
          <p:cNvSpPr/>
          <p:nvPr/>
        </p:nvSpPr>
        <p:spPr>
          <a:xfrm>
            <a:off x="5669280" y="2148840"/>
            <a:ext cx="1325880" cy="548640"/>
          </a:xfrm>
          <a:prstGeom prst="roundRect">
            <a:avLst>
              <a:gd name="adj" fmla="val 13333"/>
            </a:avLst>
          </a:prstGeom>
          <a:solidFill>
            <a:schemeClr val="bg1"/>
          </a:solidFill>
          <a:ln w="15875">
            <a:solidFill>
              <a:schemeClr val="accent3"/>
            </a:solidFill>
            <a:prstDash val="solid"/>
          </a:ln>
        </p:spPr>
      </p:sp>
      <p:sp>
        <p:nvSpPr>
          <p:cNvPr id="11" name="Text 9"/>
          <p:cNvSpPr txBox="1"/>
          <p:nvPr/>
        </p:nvSpPr>
        <p:spPr>
          <a:xfrm>
            <a:off x="5669280" y="2148840"/>
            <a:ext cx="1325880" cy="548640"/>
          </a:xfrm>
          <a:prstGeom prst="rect">
            <a:avLst/>
          </a:prstGeom>
          <a:noFill/>
          <a:ln/>
        </p:spPr>
        <p:txBody>
          <a:bodyPr wrap="square" lIns="0" tIns="0" rIns="0" bIns="0" rtlCol="0" anchor="ctr"/>
          <a:lstStyle/>
          <a:p>
            <a:pPr algn="ctr" indent="0" marL="0">
              <a:buNone/>
            </a:pPr>
            <a:r>
              <a:rPr lang="en-US" sz="1300" b="1" dirty="0">
                <a:solidFill>
                  <a:schemeClr val="tx1"/>
                </a:solidFill>
              </a:rPr>
              <a:t>Tax bug</a:t>
            </a:r>
            <a:endParaRPr lang="en-US" sz="1300" dirty="0"/>
          </a:p>
        </p:txBody>
      </p:sp>
      <p:sp>
        <p:nvSpPr>
          <p:cNvPr id="12" name="task chip"/>
          <p:cNvSpPr/>
          <p:nvPr/>
        </p:nvSpPr>
        <p:spPr>
          <a:xfrm>
            <a:off x="7132320" y="2148840"/>
            <a:ext cx="1325880" cy="548640"/>
          </a:xfrm>
          <a:prstGeom prst="roundRect">
            <a:avLst>
              <a:gd name="adj" fmla="val 13333"/>
            </a:avLst>
          </a:prstGeom>
          <a:solidFill>
            <a:schemeClr val="bg1"/>
          </a:solidFill>
          <a:ln w="15875">
            <a:solidFill>
              <a:schemeClr val="accent3"/>
            </a:solidFill>
            <a:prstDash val="solid"/>
          </a:ln>
        </p:spPr>
      </p:sp>
      <p:sp>
        <p:nvSpPr>
          <p:cNvPr id="13" name="Text 11"/>
          <p:cNvSpPr txBox="1"/>
          <p:nvPr/>
        </p:nvSpPr>
        <p:spPr>
          <a:xfrm>
            <a:off x="7132320" y="2148840"/>
            <a:ext cx="1325880" cy="548640"/>
          </a:xfrm>
          <a:prstGeom prst="rect">
            <a:avLst/>
          </a:prstGeom>
          <a:noFill/>
          <a:ln/>
        </p:spPr>
        <p:txBody>
          <a:bodyPr wrap="square" lIns="0" tIns="0" rIns="0" bIns="0" rtlCol="0" anchor="ctr"/>
          <a:lstStyle/>
          <a:p>
            <a:pPr algn="ctr" indent="0" marL="0">
              <a:buNone/>
            </a:pPr>
            <a:r>
              <a:rPr lang="en-US" sz="1300" b="1" dirty="0">
                <a:solidFill>
                  <a:schemeClr val="tx1"/>
                </a:solidFill>
              </a:rPr>
              <a:t>Free shipping</a:t>
            </a:r>
            <a:endParaRPr lang="en-US" sz="1300" dirty="0"/>
          </a:p>
        </p:txBody>
      </p:sp>
      <p:sp>
        <p:nvSpPr>
          <p:cNvPr id="14" name="task chip"/>
          <p:cNvSpPr/>
          <p:nvPr/>
        </p:nvSpPr>
        <p:spPr>
          <a:xfrm>
            <a:off x="8595360" y="2148840"/>
            <a:ext cx="1325880" cy="548640"/>
          </a:xfrm>
          <a:prstGeom prst="roundRect">
            <a:avLst>
              <a:gd name="adj" fmla="val 13333"/>
            </a:avLst>
          </a:prstGeom>
          <a:solidFill>
            <a:schemeClr val="bg1"/>
          </a:solidFill>
          <a:ln w="15875">
            <a:solidFill>
              <a:schemeClr val="accent3"/>
            </a:solidFill>
            <a:prstDash val="solid"/>
          </a:ln>
        </p:spPr>
      </p:sp>
      <p:sp>
        <p:nvSpPr>
          <p:cNvPr id="15" name="Text 13"/>
          <p:cNvSpPr txBox="1"/>
          <p:nvPr/>
        </p:nvSpPr>
        <p:spPr>
          <a:xfrm>
            <a:off x="8595360" y="2148840"/>
            <a:ext cx="1325880" cy="548640"/>
          </a:xfrm>
          <a:prstGeom prst="rect">
            <a:avLst/>
          </a:prstGeom>
          <a:noFill/>
          <a:ln/>
        </p:spPr>
        <p:txBody>
          <a:bodyPr wrap="square" lIns="0" tIns="0" rIns="0" bIns="0" rtlCol="0" anchor="ctr"/>
          <a:lstStyle/>
          <a:p>
            <a:pPr algn="ctr" indent="0" marL="0">
              <a:buNone/>
            </a:pPr>
            <a:r>
              <a:rPr lang="en-US" sz="1300" b="1" dirty="0">
                <a:solidFill>
                  <a:schemeClr val="tx1"/>
                </a:solidFill>
              </a:rPr>
              <a:t>Discount cap</a:t>
            </a:r>
            <a:endParaRPr lang="en-US" sz="1300" dirty="0"/>
          </a:p>
        </p:txBody>
      </p:sp>
      <p:sp>
        <p:nvSpPr>
          <p:cNvPr id="16" name="task chip"/>
          <p:cNvSpPr/>
          <p:nvPr/>
        </p:nvSpPr>
        <p:spPr>
          <a:xfrm>
            <a:off x="10058400" y="2148840"/>
            <a:ext cx="1325880" cy="548640"/>
          </a:xfrm>
          <a:prstGeom prst="roundRect">
            <a:avLst>
              <a:gd name="adj" fmla="val 13333"/>
            </a:avLst>
          </a:prstGeom>
          <a:solidFill>
            <a:schemeClr val="bg1"/>
          </a:solidFill>
          <a:ln w="15875">
            <a:solidFill>
              <a:schemeClr val="accent3"/>
            </a:solidFill>
            <a:prstDash val="solid"/>
          </a:ln>
        </p:spPr>
      </p:sp>
      <p:sp>
        <p:nvSpPr>
          <p:cNvPr id="17" name="Text 15"/>
          <p:cNvSpPr txBox="1"/>
          <p:nvPr/>
        </p:nvSpPr>
        <p:spPr>
          <a:xfrm>
            <a:off x="10058400" y="2148840"/>
            <a:ext cx="1325880" cy="548640"/>
          </a:xfrm>
          <a:prstGeom prst="rect">
            <a:avLst/>
          </a:prstGeom>
          <a:noFill/>
          <a:ln/>
        </p:spPr>
        <p:txBody>
          <a:bodyPr wrap="square" lIns="0" tIns="0" rIns="0" bIns="0" rtlCol="0" anchor="ctr"/>
          <a:lstStyle/>
          <a:p>
            <a:pPr algn="ctr" indent="0" marL="0">
              <a:buNone/>
            </a:pPr>
            <a:r>
              <a:rPr lang="en-US" sz="1300" b="1" dirty="0">
                <a:solidFill>
                  <a:schemeClr val="tx1"/>
                </a:solidFill>
              </a:rPr>
              <a:t>Retry limit</a:t>
            </a:r>
            <a:endParaRPr lang="en-US" sz="1300" dirty="0"/>
          </a:p>
        </p:txBody>
      </p:sp>
      <p:sp>
        <p:nvSpPr>
          <p:cNvPr id="18" name="panel"/>
          <p:cNvSpPr/>
          <p:nvPr/>
        </p:nvSpPr>
        <p:spPr>
          <a:xfrm>
            <a:off x="640080" y="3337560"/>
            <a:ext cx="10881360" cy="1371600"/>
          </a:xfrm>
          <a:prstGeom prst="roundRect">
            <a:avLst>
              <a:gd name="adj" fmla="val 5333"/>
            </a:avLst>
          </a:prstGeom>
          <a:solidFill>
            <a:schemeClr val="bg2"/>
          </a:solidFill>
          <a:ln w="12700">
            <a:solidFill>
              <a:schemeClr val="bg2"/>
            </a:solidFill>
            <a:prstDash val="solid"/>
          </a:ln>
        </p:spPr>
      </p:sp>
      <p:sp>
        <p:nvSpPr>
          <p:cNvPr id="19" name="glyph circle"/>
          <p:cNvSpPr/>
          <p:nvPr/>
        </p:nvSpPr>
        <p:spPr>
          <a:xfrm>
            <a:off x="868680" y="3566160"/>
            <a:ext cx="457200" cy="457200"/>
          </a:xfrm>
          <a:prstGeom prst="ellipse">
            <a:avLst/>
          </a:prstGeom>
          <a:solidFill>
            <a:schemeClr val="accent2"/>
          </a:solidFill>
          <a:ln w="12700">
            <a:solidFill>
              <a:schemeClr val="accent2"/>
            </a:solidFill>
            <a:prstDash val="solid"/>
          </a:ln>
        </p:spPr>
      </p:sp>
      <p:sp>
        <p:nvSpPr>
          <p:cNvPr id="20" name="Text 18"/>
          <p:cNvSpPr txBox="1"/>
          <p:nvPr/>
        </p:nvSpPr>
        <p:spPr>
          <a:xfrm>
            <a:off x="868680" y="35661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21" name="Text 19"/>
          <p:cNvSpPr txBox="1"/>
          <p:nvPr/>
        </p:nvSpPr>
        <p:spPr>
          <a:xfrm>
            <a:off x="1508760" y="3538728"/>
            <a:ext cx="3840480" cy="365760"/>
          </a:xfrm>
          <a:prstGeom prst="rect">
            <a:avLst/>
          </a:prstGeom>
          <a:noFill/>
          <a:ln/>
        </p:spPr>
        <p:txBody>
          <a:bodyPr wrap="square" lIns="0" tIns="0" rIns="0" bIns="0" rtlCol="0" anchor="t"/>
          <a:lstStyle/>
          <a:p>
            <a:pPr indent="0" marL="0">
              <a:buNone/>
            </a:pPr>
            <a:r>
              <a:rPr lang="en-US" sz="1800" b="1" dirty="0">
                <a:solidFill>
                  <a:schemeClr val="accent2"/>
                </a:solidFill>
              </a:rPr>
              <a:t>Disciplined lane</a:t>
            </a:r>
            <a:endParaRPr lang="en-US" sz="1800" dirty="0"/>
          </a:p>
        </p:txBody>
      </p:sp>
      <p:sp>
        <p:nvSpPr>
          <p:cNvPr id="22" name="Text 20"/>
          <p:cNvSpPr txBox="1"/>
          <p:nvPr/>
        </p:nvSpPr>
        <p:spPr>
          <a:xfrm>
            <a:off x="1508760" y="3959352"/>
            <a:ext cx="4023360" cy="640080"/>
          </a:xfrm>
          <a:prstGeom prst="rect">
            <a:avLst/>
          </a:prstGeom>
          <a:noFill/>
          <a:ln/>
        </p:spPr>
        <p:txBody>
          <a:bodyPr wrap="square" lIns="0" tIns="0" rIns="0" bIns="0" rtlCol="0" anchor="t"/>
          <a:lstStyle/>
          <a:p>
            <a:pPr indent="0" marL="0">
              <a:buNone/>
            </a:pPr>
            <a:r>
              <a:rPr lang="en-US" sz="1400" dirty="0">
                <a:solidFill>
                  <a:schemeClr val="accent3"/>
                </a:solidFill>
              </a:rPr>
              <a:t>Fresh conversation per task · six-part prompts · plan first · narrowest test, then verify</a:t>
            </a:r>
            <a:endParaRPr lang="en-US" sz="1400" dirty="0"/>
          </a:p>
        </p:txBody>
      </p:sp>
      <p:sp>
        <p:nvSpPr>
          <p:cNvPr id="23" name="task chip"/>
          <p:cNvSpPr/>
          <p:nvPr/>
        </p:nvSpPr>
        <p:spPr>
          <a:xfrm>
            <a:off x="5669280" y="3749040"/>
            <a:ext cx="1325880" cy="548640"/>
          </a:xfrm>
          <a:prstGeom prst="roundRect">
            <a:avLst>
              <a:gd name="adj" fmla="val 13333"/>
            </a:avLst>
          </a:prstGeom>
          <a:solidFill>
            <a:schemeClr val="bg1"/>
          </a:solidFill>
          <a:ln w="15875">
            <a:solidFill>
              <a:schemeClr val="accent2"/>
            </a:solidFill>
            <a:prstDash val="solid"/>
          </a:ln>
        </p:spPr>
      </p:sp>
      <p:sp>
        <p:nvSpPr>
          <p:cNvPr id="24" name="Text 22"/>
          <p:cNvSpPr txBox="1"/>
          <p:nvPr/>
        </p:nvSpPr>
        <p:spPr>
          <a:xfrm>
            <a:off x="5669280" y="3749040"/>
            <a:ext cx="1325880" cy="548640"/>
          </a:xfrm>
          <a:prstGeom prst="rect">
            <a:avLst/>
          </a:prstGeom>
          <a:noFill/>
          <a:ln/>
        </p:spPr>
        <p:txBody>
          <a:bodyPr wrap="square" lIns="0" tIns="0" rIns="0" bIns="0" rtlCol="0" anchor="ctr"/>
          <a:lstStyle/>
          <a:p>
            <a:pPr algn="ctr" indent="0" marL="0">
              <a:buNone/>
            </a:pPr>
            <a:r>
              <a:rPr lang="en-US" sz="1300" b="1" dirty="0">
                <a:solidFill>
                  <a:schemeClr val="tx1"/>
                </a:solidFill>
              </a:rPr>
              <a:t>Tax bug</a:t>
            </a:r>
            <a:endParaRPr lang="en-US" sz="1300" dirty="0"/>
          </a:p>
        </p:txBody>
      </p:sp>
      <p:sp>
        <p:nvSpPr>
          <p:cNvPr id="25" name="task chip"/>
          <p:cNvSpPr/>
          <p:nvPr/>
        </p:nvSpPr>
        <p:spPr>
          <a:xfrm>
            <a:off x="7132320" y="3749040"/>
            <a:ext cx="1325880" cy="548640"/>
          </a:xfrm>
          <a:prstGeom prst="roundRect">
            <a:avLst>
              <a:gd name="adj" fmla="val 13333"/>
            </a:avLst>
          </a:prstGeom>
          <a:solidFill>
            <a:schemeClr val="bg1"/>
          </a:solidFill>
          <a:ln w="15875">
            <a:solidFill>
              <a:schemeClr val="accent2"/>
            </a:solidFill>
            <a:prstDash val="solid"/>
          </a:ln>
        </p:spPr>
      </p:sp>
      <p:sp>
        <p:nvSpPr>
          <p:cNvPr id="26" name="Text 24"/>
          <p:cNvSpPr txBox="1"/>
          <p:nvPr/>
        </p:nvSpPr>
        <p:spPr>
          <a:xfrm>
            <a:off x="7132320" y="3749040"/>
            <a:ext cx="1325880" cy="548640"/>
          </a:xfrm>
          <a:prstGeom prst="rect">
            <a:avLst/>
          </a:prstGeom>
          <a:noFill/>
          <a:ln/>
        </p:spPr>
        <p:txBody>
          <a:bodyPr wrap="square" lIns="0" tIns="0" rIns="0" bIns="0" rtlCol="0" anchor="ctr"/>
          <a:lstStyle/>
          <a:p>
            <a:pPr algn="ctr" indent="0" marL="0">
              <a:buNone/>
            </a:pPr>
            <a:r>
              <a:rPr lang="en-US" sz="1300" b="1" dirty="0">
                <a:solidFill>
                  <a:schemeClr val="tx1"/>
                </a:solidFill>
              </a:rPr>
              <a:t>Free shipping</a:t>
            </a:r>
            <a:endParaRPr lang="en-US" sz="1300" dirty="0"/>
          </a:p>
        </p:txBody>
      </p:sp>
      <p:sp>
        <p:nvSpPr>
          <p:cNvPr id="27" name="task chip"/>
          <p:cNvSpPr/>
          <p:nvPr/>
        </p:nvSpPr>
        <p:spPr>
          <a:xfrm>
            <a:off x="8595360" y="3749040"/>
            <a:ext cx="1325880" cy="548640"/>
          </a:xfrm>
          <a:prstGeom prst="roundRect">
            <a:avLst>
              <a:gd name="adj" fmla="val 13333"/>
            </a:avLst>
          </a:prstGeom>
          <a:solidFill>
            <a:schemeClr val="bg1"/>
          </a:solidFill>
          <a:ln w="15875">
            <a:solidFill>
              <a:schemeClr val="accent2"/>
            </a:solidFill>
            <a:prstDash val="solid"/>
          </a:ln>
        </p:spPr>
      </p:sp>
      <p:sp>
        <p:nvSpPr>
          <p:cNvPr id="28" name="Text 26"/>
          <p:cNvSpPr txBox="1"/>
          <p:nvPr/>
        </p:nvSpPr>
        <p:spPr>
          <a:xfrm>
            <a:off x="8595360" y="3749040"/>
            <a:ext cx="1325880" cy="548640"/>
          </a:xfrm>
          <a:prstGeom prst="rect">
            <a:avLst/>
          </a:prstGeom>
          <a:noFill/>
          <a:ln/>
        </p:spPr>
        <p:txBody>
          <a:bodyPr wrap="square" lIns="0" tIns="0" rIns="0" bIns="0" rtlCol="0" anchor="ctr"/>
          <a:lstStyle/>
          <a:p>
            <a:pPr algn="ctr" indent="0" marL="0">
              <a:buNone/>
            </a:pPr>
            <a:r>
              <a:rPr lang="en-US" sz="1300" b="1" dirty="0">
                <a:solidFill>
                  <a:schemeClr val="tx1"/>
                </a:solidFill>
              </a:rPr>
              <a:t>Discount cap</a:t>
            </a:r>
            <a:endParaRPr lang="en-US" sz="1300" dirty="0"/>
          </a:p>
        </p:txBody>
      </p:sp>
      <p:sp>
        <p:nvSpPr>
          <p:cNvPr id="29" name="task chip"/>
          <p:cNvSpPr/>
          <p:nvPr/>
        </p:nvSpPr>
        <p:spPr>
          <a:xfrm>
            <a:off x="10058400" y="3749040"/>
            <a:ext cx="1325880" cy="548640"/>
          </a:xfrm>
          <a:prstGeom prst="roundRect">
            <a:avLst>
              <a:gd name="adj" fmla="val 13333"/>
            </a:avLst>
          </a:prstGeom>
          <a:solidFill>
            <a:schemeClr val="bg1"/>
          </a:solidFill>
          <a:ln w="15875">
            <a:solidFill>
              <a:schemeClr val="accent2"/>
            </a:solidFill>
            <a:prstDash val="solid"/>
          </a:ln>
        </p:spPr>
      </p:sp>
      <p:sp>
        <p:nvSpPr>
          <p:cNvPr id="30" name="Text 28"/>
          <p:cNvSpPr txBox="1"/>
          <p:nvPr/>
        </p:nvSpPr>
        <p:spPr>
          <a:xfrm>
            <a:off x="10058400" y="3749040"/>
            <a:ext cx="1325880" cy="548640"/>
          </a:xfrm>
          <a:prstGeom prst="rect">
            <a:avLst/>
          </a:prstGeom>
          <a:noFill/>
          <a:ln/>
        </p:spPr>
        <p:txBody>
          <a:bodyPr wrap="square" lIns="0" tIns="0" rIns="0" bIns="0" rtlCol="0" anchor="ctr"/>
          <a:lstStyle/>
          <a:p>
            <a:pPr algn="ctr" indent="0" marL="0">
              <a:buNone/>
            </a:pPr>
            <a:r>
              <a:rPr lang="en-US" sz="1300" b="1" dirty="0">
                <a:solidFill>
                  <a:schemeClr val="tx1"/>
                </a:solidFill>
              </a:rPr>
              <a:t>Retry limit</a:t>
            </a:r>
            <a:endParaRPr lang="en-US" sz="1300" dirty="0"/>
          </a:p>
        </p:txBody>
      </p:sp>
      <p:sp>
        <p:nvSpPr>
          <p:cNvPr id="31" name="panel"/>
          <p:cNvSpPr/>
          <p:nvPr/>
        </p:nvSpPr>
        <p:spPr>
          <a:xfrm>
            <a:off x="640080" y="5120640"/>
            <a:ext cx="10881360" cy="640080"/>
          </a:xfrm>
          <a:prstGeom prst="roundRect">
            <a:avLst>
              <a:gd name="adj" fmla="val 11429"/>
            </a:avLst>
          </a:prstGeom>
          <a:solidFill>
            <a:schemeClr val="bg2"/>
          </a:solidFill>
          <a:ln w="12700">
            <a:solidFill>
              <a:schemeClr val="bg2"/>
            </a:solidFill>
            <a:prstDash val="solid"/>
          </a:ln>
        </p:spPr>
      </p:sp>
      <p:sp>
        <p:nvSpPr>
          <p:cNvPr id="32" name="Text 30"/>
          <p:cNvSpPr txBox="1"/>
          <p:nvPr/>
        </p:nvSpPr>
        <p:spPr>
          <a:xfrm>
            <a:off x="868680" y="5120640"/>
            <a:ext cx="10424160" cy="640080"/>
          </a:xfrm>
          <a:prstGeom prst="rect">
            <a:avLst/>
          </a:prstGeom>
          <a:noFill/>
          <a:ln/>
        </p:spPr>
        <p:txBody>
          <a:bodyPr wrap="square" lIns="0" tIns="0" rIns="0" bIns="0" rtlCol="0" anchor="ctr"/>
          <a:lstStyle/>
          <a:p>
            <a:pPr indent="0" marL="0">
              <a:buNone/>
            </a:pPr>
            <a:r>
              <a:rPr lang="en-US" sz="1500" b="1" dirty="0">
                <a:solidFill>
                  <a:schemeClr val="tx2"/>
                </a:solidFill>
              </a:rPr>
              <a:t>Then a QA round: any failed check goes back to that lane once, like a real QA ticket. We read the scoreboard at minute 54.</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OPEN · ADAM</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Theory, demo, theory, demo</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Every idea gets shown live within ten minutes of being explained.</a:t>
            </a:r>
            <a:endParaRPr lang="en-US" sz="1500" dirty="0"/>
          </a:p>
        </p:txBody>
      </p:sp>
      <p:sp>
        <p:nvSpPr>
          <p:cNvPr id="5" name="Text 3"/>
          <p:cNvSpPr txBox="1"/>
          <p:nvPr/>
        </p:nvSpPr>
        <p:spPr>
          <a:xfrm>
            <a:off x="640080" y="1691640"/>
            <a:ext cx="822960" cy="457200"/>
          </a:xfrm>
          <a:prstGeom prst="rect">
            <a:avLst/>
          </a:prstGeom>
          <a:noFill/>
          <a:ln/>
        </p:spPr>
        <p:txBody>
          <a:bodyPr wrap="square" lIns="0" tIns="0" rIns="0" bIns="0" rtlCol="0" anchor="ctr"/>
          <a:lstStyle/>
          <a:p>
            <a:pPr indent="0" marL="0">
              <a:buNone/>
            </a:pPr>
            <a:r>
              <a:rPr lang="en-US" sz="1600" b="1" dirty="0">
                <a:solidFill>
                  <a:schemeClr val="accent6"/>
                </a:solidFill>
              </a:rPr>
              <a:t>0:03</a:t>
            </a:r>
            <a:endParaRPr lang="en-US" sz="1600" dirty="0"/>
          </a:p>
        </p:txBody>
      </p:sp>
      <p:sp>
        <p:nvSpPr>
          <p:cNvPr id="6" name="block type"/>
          <p:cNvSpPr/>
          <p:nvPr/>
        </p:nvSpPr>
        <p:spPr>
          <a:xfrm>
            <a:off x="1554480" y="1764792"/>
            <a:ext cx="1188720" cy="329184"/>
          </a:xfrm>
          <a:prstGeom prst="roundRect">
            <a:avLst>
              <a:gd name="adj" fmla="val 22222"/>
            </a:avLst>
          </a:prstGeom>
          <a:solidFill>
            <a:schemeClr val="accent1"/>
          </a:solidFill>
          <a:ln w="12700">
            <a:solidFill>
              <a:schemeClr val="accent1"/>
            </a:solidFill>
            <a:prstDash val="solid"/>
          </a:ln>
        </p:spPr>
      </p:sp>
      <p:sp>
        <p:nvSpPr>
          <p:cNvPr id="7" name="Text 5"/>
          <p:cNvSpPr txBox="1"/>
          <p:nvPr/>
        </p:nvSpPr>
        <p:spPr>
          <a:xfrm>
            <a:off x="1554480" y="1764792"/>
            <a:ext cx="1188720" cy="329184"/>
          </a:xfrm>
          <a:prstGeom prst="rect">
            <a:avLst/>
          </a:prstGeom>
          <a:noFill/>
          <a:ln/>
        </p:spPr>
        <p:txBody>
          <a:bodyPr wrap="square" lIns="0" tIns="0" rIns="0" bIns="0" rtlCol="0" anchor="ctr"/>
          <a:lstStyle/>
          <a:p>
            <a:pPr algn="ctr" indent="0" marL="0">
              <a:buNone/>
            </a:pPr>
            <a:r>
              <a:rPr lang="en-US" sz="1200" b="1" spc="100" kern="0" dirty="0">
                <a:solidFill>
                  <a:schemeClr val="bg1"/>
                </a:solidFill>
              </a:rPr>
              <a:t>THEORY</a:t>
            </a:r>
            <a:endParaRPr lang="en-US" sz="1200" dirty="0"/>
          </a:p>
        </p:txBody>
      </p:sp>
      <p:sp>
        <p:nvSpPr>
          <p:cNvPr id="8" name="Text 6"/>
          <p:cNvSpPr txBox="1"/>
          <p:nvPr/>
        </p:nvSpPr>
        <p:spPr>
          <a:xfrm>
            <a:off x="3017520" y="1691640"/>
            <a:ext cx="5943600" cy="457200"/>
          </a:xfrm>
          <a:prstGeom prst="rect">
            <a:avLst/>
          </a:prstGeom>
          <a:noFill/>
          <a:ln/>
        </p:spPr>
        <p:txBody>
          <a:bodyPr wrap="square" lIns="0" tIns="0" rIns="0" bIns="0" rtlCol="0" anchor="ctr"/>
          <a:lstStyle/>
          <a:p>
            <a:pPr indent="0" marL="0">
              <a:buNone/>
            </a:pPr>
            <a:r>
              <a:rPr lang="en-US" sz="1800" b="1" dirty="0">
                <a:solidFill>
                  <a:schemeClr val="tx1"/>
                </a:solidFill>
              </a:rPr>
              <a:t>How context actually works</a:t>
            </a:r>
            <a:endParaRPr lang="en-US" sz="1800" dirty="0"/>
          </a:p>
        </p:txBody>
      </p:sp>
      <p:sp>
        <p:nvSpPr>
          <p:cNvPr id="9" name="Text 7"/>
          <p:cNvSpPr txBox="1"/>
          <p:nvPr/>
        </p:nvSpPr>
        <p:spPr>
          <a:xfrm>
            <a:off x="9052560" y="1691640"/>
            <a:ext cx="2468880" cy="457200"/>
          </a:xfrm>
          <a:prstGeom prst="rect">
            <a:avLst/>
          </a:prstGeom>
          <a:noFill/>
          <a:ln/>
        </p:spPr>
        <p:txBody>
          <a:bodyPr wrap="square" lIns="0" tIns="0" rIns="0" bIns="0" rtlCol="0" anchor="ctr"/>
          <a:lstStyle/>
          <a:p>
            <a:pPr algn="r" indent="0" marL="0">
              <a:buNone/>
            </a:pPr>
            <a:r>
              <a:rPr lang="en-US" sz="1500" dirty="0">
                <a:solidFill>
                  <a:schemeClr val="accent3"/>
                </a:solidFill>
              </a:rPr>
              <a:t>Adam</a:t>
            </a:r>
            <a:endParaRPr lang="en-US" sz="1500" dirty="0"/>
          </a:p>
        </p:txBody>
      </p:sp>
      <p:sp>
        <p:nvSpPr>
          <p:cNvPr id="10" name="Text 8"/>
          <p:cNvSpPr txBox="1"/>
          <p:nvPr/>
        </p:nvSpPr>
        <p:spPr>
          <a:xfrm>
            <a:off x="640080" y="2295144"/>
            <a:ext cx="822960" cy="457200"/>
          </a:xfrm>
          <a:prstGeom prst="rect">
            <a:avLst/>
          </a:prstGeom>
          <a:noFill/>
          <a:ln/>
        </p:spPr>
        <p:txBody>
          <a:bodyPr wrap="square" lIns="0" tIns="0" rIns="0" bIns="0" rtlCol="0" anchor="ctr"/>
          <a:lstStyle/>
          <a:p>
            <a:pPr indent="0" marL="0">
              <a:buNone/>
            </a:pPr>
            <a:r>
              <a:rPr lang="en-US" sz="1600" b="1" dirty="0">
                <a:solidFill>
                  <a:schemeClr val="accent6"/>
                </a:solidFill>
              </a:rPr>
              <a:t>0:09</a:t>
            </a:r>
            <a:endParaRPr lang="en-US" sz="1600" dirty="0"/>
          </a:p>
        </p:txBody>
      </p:sp>
      <p:sp>
        <p:nvSpPr>
          <p:cNvPr id="11" name="block type"/>
          <p:cNvSpPr/>
          <p:nvPr/>
        </p:nvSpPr>
        <p:spPr>
          <a:xfrm>
            <a:off x="1554480" y="2368296"/>
            <a:ext cx="1188720" cy="329184"/>
          </a:xfrm>
          <a:prstGeom prst="roundRect">
            <a:avLst>
              <a:gd name="adj" fmla="val 22222"/>
            </a:avLst>
          </a:prstGeom>
          <a:solidFill>
            <a:schemeClr val="accent2"/>
          </a:solidFill>
          <a:ln w="12700">
            <a:solidFill>
              <a:schemeClr val="accent2"/>
            </a:solidFill>
            <a:prstDash val="solid"/>
          </a:ln>
        </p:spPr>
      </p:sp>
      <p:sp>
        <p:nvSpPr>
          <p:cNvPr id="12" name="Text 10"/>
          <p:cNvSpPr txBox="1"/>
          <p:nvPr/>
        </p:nvSpPr>
        <p:spPr>
          <a:xfrm>
            <a:off x="1554480" y="2368296"/>
            <a:ext cx="1188720" cy="329184"/>
          </a:xfrm>
          <a:prstGeom prst="rect">
            <a:avLst/>
          </a:prstGeom>
          <a:noFill/>
          <a:ln/>
        </p:spPr>
        <p:txBody>
          <a:bodyPr wrap="square" lIns="0" tIns="0" rIns="0" bIns="0" rtlCol="0" anchor="ctr"/>
          <a:lstStyle/>
          <a:p>
            <a:pPr algn="ctr" indent="0" marL="0">
              <a:buNone/>
            </a:pPr>
            <a:r>
              <a:rPr lang="en-US" sz="1200" b="1" spc="100" kern="0" dirty="0">
                <a:solidFill>
                  <a:schemeClr val="bg1"/>
                </a:solidFill>
              </a:rPr>
              <a:t>DEMO</a:t>
            </a:r>
            <a:endParaRPr lang="en-US" sz="1200" dirty="0"/>
          </a:p>
        </p:txBody>
      </p:sp>
      <p:sp>
        <p:nvSpPr>
          <p:cNvPr id="13" name="Text 11"/>
          <p:cNvSpPr txBox="1"/>
          <p:nvPr/>
        </p:nvSpPr>
        <p:spPr>
          <a:xfrm>
            <a:off x="3017520" y="2295144"/>
            <a:ext cx="5943600" cy="457200"/>
          </a:xfrm>
          <a:prstGeom prst="rect">
            <a:avLst/>
          </a:prstGeom>
          <a:noFill/>
          <a:ln/>
        </p:spPr>
        <p:txBody>
          <a:bodyPr wrap="square" lIns="0" tIns="0" rIns="0" bIns="0" rtlCol="0" anchor="ctr"/>
          <a:lstStyle/>
          <a:p>
            <a:pPr indent="0" marL="0">
              <a:buNone/>
            </a:pPr>
            <a:r>
              <a:rPr lang="en-US" sz="1800" b="1" dirty="0">
                <a:solidFill>
                  <a:schemeClr val="tx1"/>
                </a:solidFill>
              </a:rPr>
              <a:t>Vibe it: one prompt, no plan</a:t>
            </a:r>
            <a:endParaRPr lang="en-US" sz="1800" dirty="0"/>
          </a:p>
        </p:txBody>
      </p:sp>
      <p:sp>
        <p:nvSpPr>
          <p:cNvPr id="14" name="Text 12"/>
          <p:cNvSpPr txBox="1"/>
          <p:nvPr/>
        </p:nvSpPr>
        <p:spPr>
          <a:xfrm>
            <a:off x="9052560" y="2295144"/>
            <a:ext cx="2468880" cy="457200"/>
          </a:xfrm>
          <a:prstGeom prst="rect">
            <a:avLst/>
          </a:prstGeom>
          <a:noFill/>
          <a:ln/>
        </p:spPr>
        <p:txBody>
          <a:bodyPr wrap="square" lIns="0" tIns="0" rIns="0" bIns="0" rtlCol="0" anchor="ctr"/>
          <a:lstStyle/>
          <a:p>
            <a:pPr algn="r" indent="0" marL="0">
              <a:buNone/>
            </a:pPr>
            <a:r>
              <a:rPr lang="en-US" sz="1500" dirty="0">
                <a:solidFill>
                  <a:schemeClr val="accent3"/>
                </a:solidFill>
              </a:rPr>
              <a:t>Eugene drives</a:t>
            </a:r>
            <a:endParaRPr lang="en-US" sz="1500" dirty="0"/>
          </a:p>
        </p:txBody>
      </p:sp>
      <p:sp>
        <p:nvSpPr>
          <p:cNvPr id="15" name="Text 13"/>
          <p:cNvSpPr txBox="1"/>
          <p:nvPr/>
        </p:nvSpPr>
        <p:spPr>
          <a:xfrm>
            <a:off x="640080" y="2898648"/>
            <a:ext cx="822960" cy="457200"/>
          </a:xfrm>
          <a:prstGeom prst="rect">
            <a:avLst/>
          </a:prstGeom>
          <a:noFill/>
          <a:ln/>
        </p:spPr>
        <p:txBody>
          <a:bodyPr wrap="square" lIns="0" tIns="0" rIns="0" bIns="0" rtlCol="0" anchor="ctr"/>
          <a:lstStyle/>
          <a:p>
            <a:pPr indent="0" marL="0">
              <a:buNone/>
            </a:pPr>
            <a:r>
              <a:rPr lang="en-US" sz="1600" b="1" dirty="0">
                <a:solidFill>
                  <a:schemeClr val="accent6"/>
                </a:solidFill>
              </a:rPr>
              <a:t>0:17</a:t>
            </a:r>
            <a:endParaRPr lang="en-US" sz="1600" dirty="0"/>
          </a:p>
        </p:txBody>
      </p:sp>
      <p:sp>
        <p:nvSpPr>
          <p:cNvPr id="16" name="block type"/>
          <p:cNvSpPr/>
          <p:nvPr/>
        </p:nvSpPr>
        <p:spPr>
          <a:xfrm>
            <a:off x="1554480" y="2971800"/>
            <a:ext cx="1188720" cy="329184"/>
          </a:xfrm>
          <a:prstGeom prst="roundRect">
            <a:avLst>
              <a:gd name="adj" fmla="val 22222"/>
            </a:avLst>
          </a:prstGeom>
          <a:solidFill>
            <a:schemeClr val="accent1"/>
          </a:solidFill>
          <a:ln w="12700">
            <a:solidFill>
              <a:schemeClr val="accent1"/>
            </a:solidFill>
            <a:prstDash val="solid"/>
          </a:ln>
        </p:spPr>
      </p:sp>
      <p:sp>
        <p:nvSpPr>
          <p:cNvPr id="17" name="Text 15"/>
          <p:cNvSpPr txBox="1"/>
          <p:nvPr/>
        </p:nvSpPr>
        <p:spPr>
          <a:xfrm>
            <a:off x="1554480" y="2971800"/>
            <a:ext cx="1188720" cy="329184"/>
          </a:xfrm>
          <a:prstGeom prst="rect">
            <a:avLst/>
          </a:prstGeom>
          <a:noFill/>
          <a:ln/>
        </p:spPr>
        <p:txBody>
          <a:bodyPr wrap="square" lIns="0" tIns="0" rIns="0" bIns="0" rtlCol="0" anchor="ctr"/>
          <a:lstStyle/>
          <a:p>
            <a:pPr algn="ctr" indent="0" marL="0">
              <a:buNone/>
            </a:pPr>
            <a:r>
              <a:rPr lang="en-US" sz="1200" b="1" spc="100" kern="0" dirty="0">
                <a:solidFill>
                  <a:schemeClr val="bg1"/>
                </a:solidFill>
              </a:rPr>
              <a:t>THEORY</a:t>
            </a:r>
            <a:endParaRPr lang="en-US" sz="1200" dirty="0"/>
          </a:p>
        </p:txBody>
      </p:sp>
      <p:sp>
        <p:nvSpPr>
          <p:cNvPr id="18" name="Text 16"/>
          <p:cNvSpPr txBox="1"/>
          <p:nvPr/>
        </p:nvSpPr>
        <p:spPr>
          <a:xfrm>
            <a:off x="3017520" y="2898648"/>
            <a:ext cx="5943600" cy="457200"/>
          </a:xfrm>
          <a:prstGeom prst="rect">
            <a:avLst/>
          </a:prstGeom>
          <a:noFill/>
          <a:ln/>
        </p:spPr>
        <p:txBody>
          <a:bodyPr wrap="square" lIns="0" tIns="0" rIns="0" bIns="0" rtlCol="0" anchor="ctr"/>
          <a:lstStyle/>
          <a:p>
            <a:pPr indent="0" marL="0">
              <a:buNone/>
            </a:pPr>
            <a:r>
              <a:rPr lang="en-US" sz="1800" b="1" dirty="0">
                <a:solidFill>
                  <a:schemeClr val="tx1"/>
                </a:solidFill>
              </a:rPr>
              <a:t>Planning keeps agents on target</a:t>
            </a:r>
            <a:endParaRPr lang="en-US" sz="1800" dirty="0"/>
          </a:p>
        </p:txBody>
      </p:sp>
      <p:sp>
        <p:nvSpPr>
          <p:cNvPr id="19" name="Text 17"/>
          <p:cNvSpPr txBox="1"/>
          <p:nvPr/>
        </p:nvSpPr>
        <p:spPr>
          <a:xfrm>
            <a:off x="9052560" y="2898648"/>
            <a:ext cx="2468880" cy="457200"/>
          </a:xfrm>
          <a:prstGeom prst="rect">
            <a:avLst/>
          </a:prstGeom>
          <a:noFill/>
          <a:ln/>
        </p:spPr>
        <p:txBody>
          <a:bodyPr wrap="square" lIns="0" tIns="0" rIns="0" bIns="0" rtlCol="0" anchor="ctr"/>
          <a:lstStyle/>
          <a:p>
            <a:pPr algn="r" indent="0" marL="0">
              <a:buNone/>
            </a:pPr>
            <a:r>
              <a:rPr lang="en-US" sz="1500" dirty="0">
                <a:solidFill>
                  <a:schemeClr val="accent3"/>
                </a:solidFill>
              </a:rPr>
              <a:t>Eugene</a:t>
            </a:r>
            <a:endParaRPr lang="en-US" sz="1500" dirty="0"/>
          </a:p>
        </p:txBody>
      </p:sp>
      <p:sp>
        <p:nvSpPr>
          <p:cNvPr id="20" name="Text 18"/>
          <p:cNvSpPr txBox="1"/>
          <p:nvPr/>
        </p:nvSpPr>
        <p:spPr>
          <a:xfrm>
            <a:off x="640080" y="3502152"/>
            <a:ext cx="822960" cy="457200"/>
          </a:xfrm>
          <a:prstGeom prst="rect">
            <a:avLst/>
          </a:prstGeom>
          <a:noFill/>
          <a:ln/>
        </p:spPr>
        <p:txBody>
          <a:bodyPr wrap="square" lIns="0" tIns="0" rIns="0" bIns="0" rtlCol="0" anchor="ctr"/>
          <a:lstStyle/>
          <a:p>
            <a:pPr indent="0" marL="0">
              <a:buNone/>
            </a:pPr>
            <a:r>
              <a:rPr lang="en-US" sz="1600" b="1" dirty="0">
                <a:solidFill>
                  <a:schemeClr val="accent6"/>
                </a:solidFill>
              </a:rPr>
              <a:t>0:27</a:t>
            </a:r>
            <a:endParaRPr lang="en-US" sz="1600" dirty="0"/>
          </a:p>
        </p:txBody>
      </p:sp>
      <p:sp>
        <p:nvSpPr>
          <p:cNvPr id="21" name="block type"/>
          <p:cNvSpPr/>
          <p:nvPr/>
        </p:nvSpPr>
        <p:spPr>
          <a:xfrm>
            <a:off x="1554480" y="3575304"/>
            <a:ext cx="1188720" cy="329184"/>
          </a:xfrm>
          <a:prstGeom prst="roundRect">
            <a:avLst>
              <a:gd name="adj" fmla="val 22222"/>
            </a:avLst>
          </a:prstGeom>
          <a:solidFill>
            <a:schemeClr val="accent2"/>
          </a:solidFill>
          <a:ln w="12700">
            <a:solidFill>
              <a:schemeClr val="accent2"/>
            </a:solidFill>
            <a:prstDash val="solid"/>
          </a:ln>
        </p:spPr>
      </p:sp>
      <p:sp>
        <p:nvSpPr>
          <p:cNvPr id="22" name="Text 20"/>
          <p:cNvSpPr txBox="1"/>
          <p:nvPr/>
        </p:nvSpPr>
        <p:spPr>
          <a:xfrm>
            <a:off x="1554480" y="3575304"/>
            <a:ext cx="1188720" cy="329184"/>
          </a:xfrm>
          <a:prstGeom prst="rect">
            <a:avLst/>
          </a:prstGeom>
          <a:noFill/>
          <a:ln/>
        </p:spPr>
        <p:txBody>
          <a:bodyPr wrap="square" lIns="0" tIns="0" rIns="0" bIns="0" rtlCol="0" anchor="ctr"/>
          <a:lstStyle/>
          <a:p>
            <a:pPr algn="ctr" indent="0" marL="0">
              <a:buNone/>
            </a:pPr>
            <a:r>
              <a:rPr lang="en-US" sz="1200" b="1" spc="100" kern="0" dirty="0">
                <a:solidFill>
                  <a:schemeClr val="bg1"/>
                </a:solidFill>
              </a:rPr>
              <a:t>DEMO</a:t>
            </a:r>
            <a:endParaRPr lang="en-US" sz="1200" dirty="0"/>
          </a:p>
        </p:txBody>
      </p:sp>
      <p:sp>
        <p:nvSpPr>
          <p:cNvPr id="23" name="Text 21"/>
          <p:cNvSpPr txBox="1"/>
          <p:nvPr/>
        </p:nvSpPr>
        <p:spPr>
          <a:xfrm>
            <a:off x="3017520" y="3502152"/>
            <a:ext cx="5943600" cy="457200"/>
          </a:xfrm>
          <a:prstGeom prst="rect">
            <a:avLst/>
          </a:prstGeom>
          <a:noFill/>
          <a:ln/>
        </p:spPr>
        <p:txBody>
          <a:bodyPr wrap="square" lIns="0" tIns="0" rIns="0" bIns="0" rtlCol="0" anchor="ctr"/>
          <a:lstStyle/>
          <a:p>
            <a:pPr indent="0" marL="0">
              <a:buNone/>
            </a:pPr>
            <a:r>
              <a:rPr lang="en-US" sz="1800" b="1" dirty="0">
                <a:solidFill>
                  <a:schemeClr val="tx1"/>
                </a:solidFill>
              </a:rPr>
              <a:t>Plan, save, clear, build</a:t>
            </a:r>
            <a:endParaRPr lang="en-US" sz="1800" dirty="0"/>
          </a:p>
        </p:txBody>
      </p:sp>
      <p:sp>
        <p:nvSpPr>
          <p:cNvPr id="24" name="Text 22"/>
          <p:cNvSpPr txBox="1"/>
          <p:nvPr/>
        </p:nvSpPr>
        <p:spPr>
          <a:xfrm>
            <a:off x="9052560" y="3502152"/>
            <a:ext cx="2468880" cy="457200"/>
          </a:xfrm>
          <a:prstGeom prst="rect">
            <a:avLst/>
          </a:prstGeom>
          <a:noFill/>
          <a:ln/>
        </p:spPr>
        <p:txBody>
          <a:bodyPr wrap="square" lIns="0" tIns="0" rIns="0" bIns="0" rtlCol="0" anchor="ctr"/>
          <a:lstStyle/>
          <a:p>
            <a:pPr algn="r" indent="0" marL="0">
              <a:buNone/>
            </a:pPr>
            <a:r>
              <a:rPr lang="en-US" sz="1500" dirty="0">
                <a:solidFill>
                  <a:schemeClr val="accent3"/>
                </a:solidFill>
              </a:rPr>
              <a:t>Adam drives</a:t>
            </a:r>
            <a:endParaRPr lang="en-US" sz="1500" dirty="0"/>
          </a:p>
        </p:txBody>
      </p:sp>
      <p:sp>
        <p:nvSpPr>
          <p:cNvPr id="25" name="Text 23"/>
          <p:cNvSpPr txBox="1"/>
          <p:nvPr/>
        </p:nvSpPr>
        <p:spPr>
          <a:xfrm>
            <a:off x="640080" y="4105656"/>
            <a:ext cx="822960" cy="457200"/>
          </a:xfrm>
          <a:prstGeom prst="rect">
            <a:avLst/>
          </a:prstGeom>
          <a:noFill/>
          <a:ln/>
        </p:spPr>
        <p:txBody>
          <a:bodyPr wrap="square" lIns="0" tIns="0" rIns="0" bIns="0" rtlCol="0" anchor="ctr"/>
          <a:lstStyle/>
          <a:p>
            <a:pPr indent="0" marL="0">
              <a:buNone/>
            </a:pPr>
            <a:r>
              <a:rPr lang="en-US" sz="1600" b="1" dirty="0">
                <a:solidFill>
                  <a:schemeClr val="accent6"/>
                </a:solidFill>
              </a:rPr>
              <a:t>0:38</a:t>
            </a:r>
            <a:endParaRPr lang="en-US" sz="1600" dirty="0"/>
          </a:p>
        </p:txBody>
      </p:sp>
      <p:sp>
        <p:nvSpPr>
          <p:cNvPr id="26" name="block type"/>
          <p:cNvSpPr/>
          <p:nvPr/>
        </p:nvSpPr>
        <p:spPr>
          <a:xfrm>
            <a:off x="1554480" y="4178808"/>
            <a:ext cx="1188720" cy="329184"/>
          </a:xfrm>
          <a:prstGeom prst="roundRect">
            <a:avLst>
              <a:gd name="adj" fmla="val 22222"/>
            </a:avLst>
          </a:prstGeom>
          <a:solidFill>
            <a:schemeClr val="accent1"/>
          </a:solidFill>
          <a:ln w="12700">
            <a:solidFill>
              <a:schemeClr val="accent1"/>
            </a:solidFill>
            <a:prstDash val="solid"/>
          </a:ln>
        </p:spPr>
      </p:sp>
      <p:sp>
        <p:nvSpPr>
          <p:cNvPr id="27" name="Text 25"/>
          <p:cNvSpPr txBox="1"/>
          <p:nvPr/>
        </p:nvSpPr>
        <p:spPr>
          <a:xfrm>
            <a:off x="1554480" y="4178808"/>
            <a:ext cx="1188720" cy="329184"/>
          </a:xfrm>
          <a:prstGeom prst="rect">
            <a:avLst/>
          </a:prstGeom>
          <a:noFill/>
          <a:ln/>
        </p:spPr>
        <p:txBody>
          <a:bodyPr wrap="square" lIns="0" tIns="0" rIns="0" bIns="0" rtlCol="0" anchor="ctr"/>
          <a:lstStyle/>
          <a:p>
            <a:pPr algn="ctr" indent="0" marL="0">
              <a:buNone/>
            </a:pPr>
            <a:r>
              <a:rPr lang="en-US" sz="1200" b="1" spc="100" kern="0" dirty="0">
                <a:solidFill>
                  <a:schemeClr val="bg1"/>
                </a:solidFill>
              </a:rPr>
              <a:t>THEORY</a:t>
            </a:r>
            <a:endParaRPr lang="en-US" sz="1200" dirty="0"/>
          </a:p>
        </p:txBody>
      </p:sp>
      <p:sp>
        <p:nvSpPr>
          <p:cNvPr id="28" name="Text 26"/>
          <p:cNvSpPr txBox="1"/>
          <p:nvPr/>
        </p:nvSpPr>
        <p:spPr>
          <a:xfrm>
            <a:off x="3017520" y="4105656"/>
            <a:ext cx="5943600" cy="457200"/>
          </a:xfrm>
          <a:prstGeom prst="rect">
            <a:avLst/>
          </a:prstGeom>
          <a:noFill/>
          <a:ln/>
        </p:spPr>
        <p:txBody>
          <a:bodyPr wrap="square" lIns="0" tIns="0" rIns="0" bIns="0" rtlCol="0" anchor="ctr"/>
          <a:lstStyle/>
          <a:p>
            <a:pPr indent="0" marL="0">
              <a:buNone/>
            </a:pPr>
            <a:r>
              <a:rPr lang="en-US" sz="1800" b="1" dirty="0">
                <a:solidFill>
                  <a:schemeClr val="tx1"/>
                </a:solidFill>
              </a:rPr>
              <a:t>Managing context and progressive disclosure</a:t>
            </a:r>
            <a:endParaRPr lang="en-US" sz="1800" dirty="0"/>
          </a:p>
        </p:txBody>
      </p:sp>
      <p:sp>
        <p:nvSpPr>
          <p:cNvPr id="29" name="Text 27"/>
          <p:cNvSpPr txBox="1"/>
          <p:nvPr/>
        </p:nvSpPr>
        <p:spPr>
          <a:xfrm>
            <a:off x="9052560" y="4105656"/>
            <a:ext cx="2468880" cy="457200"/>
          </a:xfrm>
          <a:prstGeom prst="rect">
            <a:avLst/>
          </a:prstGeom>
          <a:noFill/>
          <a:ln/>
        </p:spPr>
        <p:txBody>
          <a:bodyPr wrap="square" lIns="0" tIns="0" rIns="0" bIns="0" rtlCol="0" anchor="ctr"/>
          <a:lstStyle/>
          <a:p>
            <a:pPr algn="r" indent="0" marL="0">
              <a:buNone/>
            </a:pPr>
            <a:r>
              <a:rPr lang="en-US" sz="1500" dirty="0">
                <a:solidFill>
                  <a:schemeClr val="accent3"/>
                </a:solidFill>
              </a:rPr>
              <a:t>Adam</a:t>
            </a:r>
            <a:endParaRPr lang="en-US" sz="1500" dirty="0"/>
          </a:p>
        </p:txBody>
      </p:sp>
      <p:sp>
        <p:nvSpPr>
          <p:cNvPr id="30" name="Text 28"/>
          <p:cNvSpPr txBox="1"/>
          <p:nvPr/>
        </p:nvSpPr>
        <p:spPr>
          <a:xfrm>
            <a:off x="640080" y="4709160"/>
            <a:ext cx="822960" cy="457200"/>
          </a:xfrm>
          <a:prstGeom prst="rect">
            <a:avLst/>
          </a:prstGeom>
          <a:noFill/>
          <a:ln/>
        </p:spPr>
        <p:txBody>
          <a:bodyPr wrap="square" lIns="0" tIns="0" rIns="0" bIns="0" rtlCol="0" anchor="ctr"/>
          <a:lstStyle/>
          <a:p>
            <a:pPr indent="0" marL="0">
              <a:buNone/>
            </a:pPr>
            <a:r>
              <a:rPr lang="en-US" sz="1600" b="1" dirty="0">
                <a:solidFill>
                  <a:schemeClr val="accent6"/>
                </a:solidFill>
              </a:rPr>
              <a:t>0:46</a:t>
            </a:r>
            <a:endParaRPr lang="en-US" sz="1600" dirty="0"/>
          </a:p>
        </p:txBody>
      </p:sp>
      <p:sp>
        <p:nvSpPr>
          <p:cNvPr id="31" name="block type"/>
          <p:cNvSpPr/>
          <p:nvPr/>
        </p:nvSpPr>
        <p:spPr>
          <a:xfrm>
            <a:off x="1554480" y="4782312"/>
            <a:ext cx="1188720" cy="329184"/>
          </a:xfrm>
          <a:prstGeom prst="roundRect">
            <a:avLst>
              <a:gd name="adj" fmla="val 22222"/>
            </a:avLst>
          </a:prstGeom>
          <a:solidFill>
            <a:schemeClr val="accent2"/>
          </a:solidFill>
          <a:ln w="12700">
            <a:solidFill>
              <a:schemeClr val="accent2"/>
            </a:solidFill>
            <a:prstDash val="solid"/>
          </a:ln>
        </p:spPr>
      </p:sp>
      <p:sp>
        <p:nvSpPr>
          <p:cNvPr id="32" name="Text 30"/>
          <p:cNvSpPr txBox="1"/>
          <p:nvPr/>
        </p:nvSpPr>
        <p:spPr>
          <a:xfrm>
            <a:off x="1554480" y="4782312"/>
            <a:ext cx="1188720" cy="329184"/>
          </a:xfrm>
          <a:prstGeom prst="rect">
            <a:avLst/>
          </a:prstGeom>
          <a:noFill/>
          <a:ln/>
        </p:spPr>
        <p:txBody>
          <a:bodyPr wrap="square" lIns="0" tIns="0" rIns="0" bIns="0" rtlCol="0" anchor="ctr"/>
          <a:lstStyle/>
          <a:p>
            <a:pPr algn="ctr" indent="0" marL="0">
              <a:buNone/>
            </a:pPr>
            <a:r>
              <a:rPr lang="en-US" sz="1200" b="1" spc="100" kern="0" dirty="0">
                <a:solidFill>
                  <a:schemeClr val="bg1"/>
                </a:solidFill>
              </a:rPr>
              <a:t>DEMO</a:t>
            </a:r>
            <a:endParaRPr lang="en-US" sz="1200" dirty="0"/>
          </a:p>
        </p:txBody>
      </p:sp>
      <p:sp>
        <p:nvSpPr>
          <p:cNvPr id="33" name="Text 31"/>
          <p:cNvSpPr txBox="1"/>
          <p:nvPr/>
        </p:nvSpPr>
        <p:spPr>
          <a:xfrm>
            <a:off x="3017520" y="4709160"/>
            <a:ext cx="5943600" cy="457200"/>
          </a:xfrm>
          <a:prstGeom prst="rect">
            <a:avLst/>
          </a:prstGeom>
          <a:noFill/>
          <a:ln/>
        </p:spPr>
        <p:txBody>
          <a:bodyPr wrap="square" lIns="0" tIns="0" rIns="0" bIns="0" rtlCol="0" anchor="ctr"/>
          <a:lstStyle/>
          <a:p>
            <a:pPr indent="0" marL="0">
              <a:buNone/>
            </a:pPr>
            <a:r>
              <a:rPr lang="en-US" sz="1800" b="1" dirty="0">
                <a:solidFill>
                  <a:schemeClr val="tx1"/>
                </a:solidFill>
              </a:rPr>
              <a:t>New goal, fresh context</a:t>
            </a:r>
            <a:endParaRPr lang="en-US" sz="1800" dirty="0"/>
          </a:p>
        </p:txBody>
      </p:sp>
      <p:sp>
        <p:nvSpPr>
          <p:cNvPr id="34" name="Text 32"/>
          <p:cNvSpPr txBox="1"/>
          <p:nvPr/>
        </p:nvSpPr>
        <p:spPr>
          <a:xfrm>
            <a:off x="9052560" y="4709160"/>
            <a:ext cx="2468880" cy="457200"/>
          </a:xfrm>
          <a:prstGeom prst="rect">
            <a:avLst/>
          </a:prstGeom>
          <a:noFill/>
          <a:ln/>
        </p:spPr>
        <p:txBody>
          <a:bodyPr wrap="square" lIns="0" tIns="0" rIns="0" bIns="0" rtlCol="0" anchor="ctr"/>
          <a:lstStyle/>
          <a:p>
            <a:pPr algn="r" indent="0" marL="0">
              <a:buNone/>
            </a:pPr>
            <a:r>
              <a:rPr lang="en-US" sz="1500" dirty="0">
                <a:solidFill>
                  <a:schemeClr val="accent3"/>
                </a:solidFill>
              </a:rPr>
              <a:t>Eugene drives</a:t>
            </a:r>
            <a:endParaRPr lang="en-US" sz="1500" dirty="0"/>
          </a:p>
        </p:txBody>
      </p:sp>
      <p:sp>
        <p:nvSpPr>
          <p:cNvPr id="35" name="Text 33"/>
          <p:cNvSpPr txBox="1"/>
          <p:nvPr/>
        </p:nvSpPr>
        <p:spPr>
          <a:xfrm>
            <a:off x="640080" y="5312664"/>
            <a:ext cx="822960" cy="457200"/>
          </a:xfrm>
          <a:prstGeom prst="rect">
            <a:avLst/>
          </a:prstGeom>
          <a:noFill/>
          <a:ln/>
        </p:spPr>
        <p:txBody>
          <a:bodyPr wrap="square" lIns="0" tIns="0" rIns="0" bIns="0" rtlCol="0" anchor="ctr"/>
          <a:lstStyle/>
          <a:p>
            <a:pPr indent="0" marL="0">
              <a:buNone/>
            </a:pPr>
            <a:r>
              <a:rPr lang="en-US" sz="1600" b="1" dirty="0">
                <a:solidFill>
                  <a:schemeClr val="accent6"/>
                </a:solidFill>
              </a:rPr>
              <a:t>0:54</a:t>
            </a:r>
            <a:endParaRPr lang="en-US" sz="1600" dirty="0"/>
          </a:p>
        </p:txBody>
      </p:sp>
      <p:sp>
        <p:nvSpPr>
          <p:cNvPr id="36" name="block type"/>
          <p:cNvSpPr/>
          <p:nvPr/>
        </p:nvSpPr>
        <p:spPr>
          <a:xfrm>
            <a:off x="1554480" y="5385816"/>
            <a:ext cx="1188720" cy="329184"/>
          </a:xfrm>
          <a:prstGeom prst="roundRect">
            <a:avLst>
              <a:gd name="adj" fmla="val 22222"/>
            </a:avLst>
          </a:prstGeom>
          <a:solidFill>
            <a:schemeClr val="accent2"/>
          </a:solidFill>
          <a:ln w="12700">
            <a:solidFill>
              <a:schemeClr val="accent2"/>
            </a:solidFill>
            <a:prstDash val="solid"/>
          </a:ln>
        </p:spPr>
      </p:sp>
      <p:sp>
        <p:nvSpPr>
          <p:cNvPr id="37" name="Text 35"/>
          <p:cNvSpPr txBox="1"/>
          <p:nvPr/>
        </p:nvSpPr>
        <p:spPr>
          <a:xfrm>
            <a:off x="1554480" y="5385816"/>
            <a:ext cx="1188720" cy="329184"/>
          </a:xfrm>
          <a:prstGeom prst="rect">
            <a:avLst/>
          </a:prstGeom>
          <a:noFill/>
          <a:ln/>
        </p:spPr>
        <p:txBody>
          <a:bodyPr wrap="square" lIns="0" tIns="0" rIns="0" bIns="0" rtlCol="0" anchor="ctr"/>
          <a:lstStyle/>
          <a:p>
            <a:pPr algn="ctr" indent="0" marL="0">
              <a:buNone/>
            </a:pPr>
            <a:r>
              <a:rPr lang="en-US" sz="1200" b="1" spc="100" kern="0" dirty="0">
                <a:solidFill>
                  <a:schemeClr val="bg1"/>
                </a:solidFill>
              </a:rPr>
              <a:t>DEMO</a:t>
            </a:r>
            <a:endParaRPr lang="en-US" sz="1200" dirty="0"/>
          </a:p>
        </p:txBody>
      </p:sp>
      <p:sp>
        <p:nvSpPr>
          <p:cNvPr id="38" name="Text 36"/>
          <p:cNvSpPr txBox="1"/>
          <p:nvPr/>
        </p:nvSpPr>
        <p:spPr>
          <a:xfrm>
            <a:off x="3017520" y="5312664"/>
            <a:ext cx="5943600" cy="457200"/>
          </a:xfrm>
          <a:prstGeom prst="rect">
            <a:avLst/>
          </a:prstGeom>
          <a:noFill/>
          <a:ln/>
        </p:spPr>
        <p:txBody>
          <a:bodyPr wrap="square" lIns="0" tIns="0" rIns="0" bIns="0" rtlCol="0" anchor="ctr"/>
          <a:lstStyle/>
          <a:p>
            <a:pPr indent="0" marL="0">
              <a:buNone/>
            </a:pPr>
            <a:r>
              <a:rPr lang="en-US" sz="1800" b="1" dirty="0">
                <a:solidFill>
                  <a:schemeClr val="tx1"/>
                </a:solidFill>
              </a:rPr>
              <a:t>Race results and takeaways</a:t>
            </a:r>
            <a:endParaRPr lang="en-US" sz="1800" dirty="0"/>
          </a:p>
        </p:txBody>
      </p:sp>
      <p:sp>
        <p:nvSpPr>
          <p:cNvPr id="39" name="Text 37"/>
          <p:cNvSpPr txBox="1"/>
          <p:nvPr/>
        </p:nvSpPr>
        <p:spPr>
          <a:xfrm>
            <a:off x="9052560" y="5312664"/>
            <a:ext cx="2468880" cy="457200"/>
          </a:xfrm>
          <a:prstGeom prst="rect">
            <a:avLst/>
          </a:prstGeom>
          <a:noFill/>
          <a:ln/>
        </p:spPr>
        <p:txBody>
          <a:bodyPr wrap="square" lIns="0" tIns="0" rIns="0" bIns="0" rtlCol="0" anchor="ctr"/>
          <a:lstStyle/>
          <a:p>
            <a:pPr algn="r" indent="0" marL="0">
              <a:buNone/>
            </a:pPr>
            <a:r>
              <a:rPr lang="en-US" sz="1500" dirty="0">
                <a:solidFill>
                  <a:schemeClr val="accent3"/>
                </a:solidFill>
              </a:rPr>
              <a:t>Both</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1 · ADAM</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Context is a working set, not a warehouse</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Everything below shares one window, and the model re-reads all of it on every turn.</a:t>
            </a:r>
            <a:endParaRPr lang="en-US" sz="1500" dirty="0"/>
          </a:p>
        </p:txBody>
      </p:sp>
      <p:sp>
        <p:nvSpPr>
          <p:cNvPr id="5" name="window segment"/>
          <p:cNvSpPr/>
          <p:nvPr/>
        </p:nvSpPr>
        <p:spPr>
          <a:xfrm>
            <a:off x="640080" y="1691640"/>
            <a:ext cx="1371600" cy="868680"/>
          </a:xfrm>
          <a:prstGeom prst="rect">
            <a:avLst/>
          </a:prstGeom>
          <a:solidFill>
            <a:schemeClr val="accent3"/>
          </a:solidFill>
          <a:ln w="25400">
            <a:solidFill>
              <a:schemeClr val="bg1"/>
            </a:solidFill>
            <a:prstDash val="solid"/>
          </a:ln>
        </p:spPr>
      </p:sp>
      <p:sp>
        <p:nvSpPr>
          <p:cNvPr id="6" name="Text 4"/>
          <p:cNvSpPr txBox="1"/>
          <p:nvPr/>
        </p:nvSpPr>
        <p:spPr>
          <a:xfrm>
            <a:off x="640080" y="1691640"/>
            <a:ext cx="1371600" cy="868680"/>
          </a:xfrm>
          <a:prstGeom prst="rect">
            <a:avLst/>
          </a:prstGeom>
          <a:noFill/>
          <a:ln/>
        </p:spPr>
        <p:txBody>
          <a:bodyPr wrap="square" lIns="0" tIns="0" rIns="0" bIns="0" rtlCol="0" anchor="ctr"/>
          <a:lstStyle/>
          <a:p>
            <a:pPr algn="ctr" indent="0" marL="0">
              <a:buNone/>
            </a:pPr>
            <a:r>
              <a:rPr lang="en-US" sz="1400" b="1" dirty="0">
                <a:solidFill>
                  <a:schemeClr val="bg1"/>
                </a:solidFill>
              </a:rPr>
              <a:t>System + tools</a:t>
            </a:r>
            <a:endParaRPr lang="en-US" sz="1400" dirty="0"/>
          </a:p>
        </p:txBody>
      </p:sp>
      <p:sp>
        <p:nvSpPr>
          <p:cNvPr id="7" name="window segment"/>
          <p:cNvSpPr/>
          <p:nvPr/>
        </p:nvSpPr>
        <p:spPr>
          <a:xfrm>
            <a:off x="2011680" y="1691640"/>
            <a:ext cx="1188720" cy="868680"/>
          </a:xfrm>
          <a:prstGeom prst="rect">
            <a:avLst/>
          </a:prstGeom>
          <a:solidFill>
            <a:schemeClr val="tx2"/>
          </a:solidFill>
          <a:ln w="25400">
            <a:solidFill>
              <a:schemeClr val="bg1"/>
            </a:solidFill>
            <a:prstDash val="solid"/>
          </a:ln>
        </p:spPr>
      </p:sp>
      <p:sp>
        <p:nvSpPr>
          <p:cNvPr id="8" name="Text 6"/>
          <p:cNvSpPr txBox="1"/>
          <p:nvPr/>
        </p:nvSpPr>
        <p:spPr>
          <a:xfrm>
            <a:off x="2011680" y="1691640"/>
            <a:ext cx="1188720" cy="868680"/>
          </a:xfrm>
          <a:prstGeom prst="rect">
            <a:avLst/>
          </a:prstGeom>
          <a:noFill/>
          <a:ln/>
        </p:spPr>
        <p:txBody>
          <a:bodyPr wrap="square" lIns="0" tIns="0" rIns="0" bIns="0" rtlCol="0" anchor="ctr"/>
          <a:lstStyle/>
          <a:p>
            <a:pPr algn="ctr" indent="0" marL="0">
              <a:buNone/>
            </a:pPr>
            <a:r>
              <a:rPr lang="en-US" sz="1400" b="1" dirty="0">
                <a:solidFill>
                  <a:schemeClr val="bg1"/>
                </a:solidFill>
              </a:rPr>
              <a:t>Rules files</a:t>
            </a:r>
            <a:endParaRPr lang="en-US" sz="1400" dirty="0"/>
          </a:p>
        </p:txBody>
      </p:sp>
      <p:sp>
        <p:nvSpPr>
          <p:cNvPr id="9" name="window segment"/>
          <p:cNvSpPr/>
          <p:nvPr/>
        </p:nvSpPr>
        <p:spPr>
          <a:xfrm>
            <a:off x="3200400" y="1691640"/>
            <a:ext cx="822960" cy="868680"/>
          </a:xfrm>
          <a:prstGeom prst="rect">
            <a:avLst/>
          </a:prstGeom>
          <a:solidFill>
            <a:schemeClr val="accent1"/>
          </a:solidFill>
          <a:ln w="25400">
            <a:solidFill>
              <a:schemeClr val="bg1"/>
            </a:solidFill>
            <a:prstDash val="solid"/>
          </a:ln>
        </p:spPr>
      </p:sp>
      <p:sp>
        <p:nvSpPr>
          <p:cNvPr id="10" name="Text 8"/>
          <p:cNvSpPr txBox="1"/>
          <p:nvPr/>
        </p:nvSpPr>
        <p:spPr>
          <a:xfrm>
            <a:off x="3200400" y="1691640"/>
            <a:ext cx="822960" cy="868680"/>
          </a:xfrm>
          <a:prstGeom prst="rect">
            <a:avLst/>
          </a:prstGeom>
          <a:noFill/>
          <a:ln/>
        </p:spPr>
        <p:txBody>
          <a:bodyPr wrap="square" lIns="0" tIns="0" rIns="0" bIns="0" rtlCol="0" anchor="ctr"/>
          <a:lstStyle/>
          <a:p>
            <a:pPr algn="ctr" indent="0" marL="0">
              <a:buNone/>
            </a:pPr>
            <a:r>
              <a:rPr lang="en-US" sz="1400" b="1" dirty="0">
                <a:solidFill>
                  <a:schemeClr val="bg1"/>
                </a:solidFill>
              </a:rPr>
              <a:t>Your prompt</a:t>
            </a:r>
            <a:endParaRPr lang="en-US" sz="1400" dirty="0"/>
          </a:p>
        </p:txBody>
      </p:sp>
      <p:sp>
        <p:nvSpPr>
          <p:cNvPr id="11" name="window segment"/>
          <p:cNvSpPr/>
          <p:nvPr/>
        </p:nvSpPr>
        <p:spPr>
          <a:xfrm>
            <a:off x="4023360" y="1691640"/>
            <a:ext cx="3108960" cy="868680"/>
          </a:xfrm>
          <a:prstGeom prst="rect">
            <a:avLst/>
          </a:prstGeom>
          <a:solidFill>
            <a:schemeClr val="accent2"/>
          </a:solidFill>
          <a:ln w="25400">
            <a:solidFill>
              <a:schemeClr val="bg1"/>
            </a:solidFill>
            <a:prstDash val="solid"/>
          </a:ln>
        </p:spPr>
      </p:sp>
      <p:sp>
        <p:nvSpPr>
          <p:cNvPr id="12" name="Text 10"/>
          <p:cNvSpPr txBox="1"/>
          <p:nvPr/>
        </p:nvSpPr>
        <p:spPr>
          <a:xfrm>
            <a:off x="4023360" y="1691640"/>
            <a:ext cx="3108960" cy="868680"/>
          </a:xfrm>
          <a:prstGeom prst="rect">
            <a:avLst/>
          </a:prstGeom>
          <a:noFill/>
          <a:ln/>
        </p:spPr>
        <p:txBody>
          <a:bodyPr wrap="square" lIns="0" tIns="0" rIns="0" bIns="0" rtlCol="0" anchor="ctr"/>
          <a:lstStyle/>
          <a:p>
            <a:pPr algn="ctr" indent="0" marL="0">
              <a:buNone/>
            </a:pPr>
            <a:r>
              <a:rPr lang="en-US" sz="1400" b="1" dirty="0">
                <a:solidFill>
                  <a:schemeClr val="bg1"/>
                </a:solidFill>
              </a:rPr>
              <a:t>Files it read</a:t>
            </a:r>
            <a:endParaRPr lang="en-US" sz="1400" dirty="0"/>
          </a:p>
        </p:txBody>
      </p:sp>
      <p:sp>
        <p:nvSpPr>
          <p:cNvPr id="13" name="window segment"/>
          <p:cNvSpPr/>
          <p:nvPr/>
        </p:nvSpPr>
        <p:spPr>
          <a:xfrm>
            <a:off x="7132320" y="1691640"/>
            <a:ext cx="2194560" cy="868680"/>
          </a:xfrm>
          <a:prstGeom prst="rect">
            <a:avLst/>
          </a:prstGeom>
          <a:solidFill>
            <a:schemeClr val="accent4"/>
          </a:solidFill>
          <a:ln w="25400">
            <a:solidFill>
              <a:schemeClr val="bg1"/>
            </a:solidFill>
            <a:prstDash val="solid"/>
          </a:ln>
        </p:spPr>
      </p:sp>
      <p:sp>
        <p:nvSpPr>
          <p:cNvPr id="14" name="Text 12"/>
          <p:cNvSpPr txBox="1"/>
          <p:nvPr/>
        </p:nvSpPr>
        <p:spPr>
          <a:xfrm>
            <a:off x="7132320" y="1691640"/>
            <a:ext cx="2194560" cy="868680"/>
          </a:xfrm>
          <a:prstGeom prst="rect">
            <a:avLst/>
          </a:prstGeom>
          <a:noFill/>
          <a:ln/>
        </p:spPr>
        <p:txBody>
          <a:bodyPr wrap="square" lIns="0" tIns="0" rIns="0" bIns="0" rtlCol="0" anchor="ctr"/>
          <a:lstStyle/>
          <a:p>
            <a:pPr algn="ctr" indent="0" marL="0">
              <a:buNone/>
            </a:pPr>
            <a:r>
              <a:rPr lang="en-US" sz="1400" b="1" dirty="0">
                <a:solidFill>
                  <a:schemeClr val="tx1"/>
                </a:solidFill>
              </a:rPr>
              <a:t>Tool output</a:t>
            </a:r>
            <a:endParaRPr lang="en-US" sz="1400" dirty="0"/>
          </a:p>
        </p:txBody>
      </p:sp>
      <p:sp>
        <p:nvSpPr>
          <p:cNvPr id="15" name="window segment"/>
          <p:cNvSpPr/>
          <p:nvPr/>
        </p:nvSpPr>
        <p:spPr>
          <a:xfrm>
            <a:off x="9326880" y="1691640"/>
            <a:ext cx="2194560" cy="868680"/>
          </a:xfrm>
          <a:prstGeom prst="rect">
            <a:avLst/>
          </a:prstGeom>
          <a:solidFill>
            <a:schemeClr val="accent5"/>
          </a:solidFill>
          <a:ln w="25400">
            <a:solidFill>
              <a:schemeClr val="bg1"/>
            </a:solidFill>
            <a:prstDash val="solid"/>
          </a:ln>
        </p:spPr>
      </p:sp>
      <p:sp>
        <p:nvSpPr>
          <p:cNvPr id="16" name="Text 14"/>
          <p:cNvSpPr txBox="1"/>
          <p:nvPr/>
        </p:nvSpPr>
        <p:spPr>
          <a:xfrm>
            <a:off x="9326880" y="1691640"/>
            <a:ext cx="2194560" cy="868680"/>
          </a:xfrm>
          <a:prstGeom prst="rect">
            <a:avLst/>
          </a:prstGeom>
          <a:noFill/>
          <a:ln/>
        </p:spPr>
        <p:txBody>
          <a:bodyPr wrap="square" lIns="0" tIns="0" rIns="0" bIns="0" rtlCol="0" anchor="ctr"/>
          <a:lstStyle/>
          <a:p>
            <a:pPr algn="ctr" indent="0" marL="0">
              <a:buNone/>
            </a:pPr>
            <a:r>
              <a:rPr lang="en-US" sz="1400" b="1" dirty="0">
                <a:solidFill>
                  <a:schemeClr val="tx1"/>
                </a:solidFill>
              </a:rPr>
              <a:t>History</a:t>
            </a:r>
            <a:endParaRPr lang="en-US" sz="1400" dirty="0"/>
          </a:p>
        </p:txBody>
      </p:sp>
      <p:sp>
        <p:nvSpPr>
          <p:cNvPr id="17" name="Text 15"/>
          <p:cNvSpPr txBox="1"/>
          <p:nvPr/>
        </p:nvSpPr>
        <p:spPr>
          <a:xfrm>
            <a:off x="640080" y="2651760"/>
            <a:ext cx="54864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One context window</a:t>
            </a:r>
            <a:endParaRPr lang="en-US" sz="1200" dirty="0"/>
          </a:p>
        </p:txBody>
      </p:sp>
      <p:sp>
        <p:nvSpPr>
          <p:cNvPr id="18" name="glyph circle"/>
          <p:cNvSpPr/>
          <p:nvPr/>
        </p:nvSpPr>
        <p:spPr>
          <a:xfrm>
            <a:off x="640080" y="3154680"/>
            <a:ext cx="457200" cy="457200"/>
          </a:xfrm>
          <a:prstGeom prst="ellipse">
            <a:avLst/>
          </a:prstGeom>
          <a:solidFill>
            <a:schemeClr val="accent1"/>
          </a:solidFill>
          <a:ln w="12700">
            <a:solidFill>
              <a:schemeClr val="accent1"/>
            </a:solidFill>
            <a:prstDash val="solid"/>
          </a:ln>
        </p:spPr>
      </p:sp>
      <p:sp>
        <p:nvSpPr>
          <p:cNvPr id="19" name="Text 17"/>
          <p:cNvSpPr txBox="1"/>
          <p:nvPr/>
        </p:nvSpPr>
        <p:spPr>
          <a:xfrm>
            <a:off x="640080" y="31546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20" name="Text 18"/>
          <p:cNvSpPr txBox="1"/>
          <p:nvPr/>
        </p:nvSpPr>
        <p:spPr>
          <a:xfrm>
            <a:off x="1325880" y="3118104"/>
            <a:ext cx="9966960" cy="347472"/>
          </a:xfrm>
          <a:prstGeom prst="rect">
            <a:avLst/>
          </a:prstGeom>
          <a:noFill/>
          <a:ln/>
        </p:spPr>
        <p:txBody>
          <a:bodyPr wrap="square" lIns="0" tIns="0" rIns="0" bIns="0" rtlCol="0" anchor="t"/>
          <a:lstStyle/>
          <a:p>
            <a:pPr indent="0" marL="0">
              <a:buNone/>
            </a:pPr>
            <a:r>
              <a:rPr lang="en-US" sz="1700" b="1" dirty="0">
                <a:solidFill>
                  <a:schemeClr val="tx1"/>
                </a:solidFill>
              </a:rPr>
              <a:t>It does not remember your repository</a:t>
            </a:r>
            <a:endParaRPr lang="en-US" sz="1700" dirty="0"/>
          </a:p>
        </p:txBody>
      </p:sp>
      <p:sp>
        <p:nvSpPr>
          <p:cNvPr id="21" name="Text 19"/>
          <p:cNvSpPr txBox="1"/>
          <p:nvPr/>
        </p:nvSpPr>
        <p:spPr>
          <a:xfrm>
            <a:off x="1325880" y="3483864"/>
            <a:ext cx="9966960" cy="548640"/>
          </a:xfrm>
          <a:prstGeom prst="rect">
            <a:avLst/>
          </a:prstGeom>
          <a:noFill/>
          <a:ln/>
        </p:spPr>
        <p:txBody>
          <a:bodyPr wrap="square" lIns="0" tIns="0" rIns="0" bIns="0" rtlCol="0" anchor="t"/>
          <a:lstStyle/>
          <a:p>
            <a:pPr indent="0" marL="0">
              <a:buNone/>
            </a:pPr>
            <a:r>
              <a:rPr lang="en-US" sz="1500" dirty="0">
                <a:solidFill>
                  <a:schemeClr val="accent3"/>
                </a:solidFill>
              </a:rPr>
              <a:t>Each turn starts from this window only. Whatever it had to discover, it pays to discover again next session.</a:t>
            </a:r>
            <a:endParaRPr lang="en-US" sz="1500" dirty="0"/>
          </a:p>
        </p:txBody>
      </p:sp>
      <p:sp>
        <p:nvSpPr>
          <p:cNvPr id="22" name="glyph circle"/>
          <p:cNvSpPr/>
          <p:nvPr/>
        </p:nvSpPr>
        <p:spPr>
          <a:xfrm>
            <a:off x="640080" y="4178808"/>
            <a:ext cx="457200" cy="457200"/>
          </a:xfrm>
          <a:prstGeom prst="ellipse">
            <a:avLst/>
          </a:prstGeom>
          <a:solidFill>
            <a:schemeClr val="accent2"/>
          </a:solidFill>
          <a:ln w="12700">
            <a:solidFill>
              <a:schemeClr val="accent2"/>
            </a:solidFill>
            <a:prstDash val="solid"/>
          </a:ln>
        </p:spPr>
      </p:sp>
      <p:sp>
        <p:nvSpPr>
          <p:cNvPr id="23" name="Text 21"/>
          <p:cNvSpPr txBox="1"/>
          <p:nvPr/>
        </p:nvSpPr>
        <p:spPr>
          <a:xfrm>
            <a:off x="640080" y="417880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24" name="Text 22"/>
          <p:cNvSpPr txBox="1"/>
          <p:nvPr/>
        </p:nvSpPr>
        <p:spPr>
          <a:xfrm>
            <a:off x="1325880" y="4142232"/>
            <a:ext cx="9966960" cy="347472"/>
          </a:xfrm>
          <a:prstGeom prst="rect">
            <a:avLst/>
          </a:prstGeom>
          <a:noFill/>
          <a:ln/>
        </p:spPr>
        <p:txBody>
          <a:bodyPr wrap="square" lIns="0" tIns="0" rIns="0" bIns="0" rtlCol="0" anchor="t"/>
          <a:lstStyle/>
          <a:p>
            <a:pPr indent="0" marL="0">
              <a:buNone/>
            </a:pPr>
            <a:r>
              <a:rPr lang="en-US" sz="1700" b="1" dirty="0">
                <a:solidFill>
                  <a:schemeClr val="tx1"/>
                </a:solidFill>
              </a:rPr>
              <a:t>Irrelevant material is not neutral</a:t>
            </a:r>
            <a:endParaRPr lang="en-US" sz="1700" dirty="0"/>
          </a:p>
        </p:txBody>
      </p:sp>
      <p:sp>
        <p:nvSpPr>
          <p:cNvPr id="25" name="Text 23"/>
          <p:cNvSpPr txBox="1"/>
          <p:nvPr/>
        </p:nvSpPr>
        <p:spPr>
          <a:xfrm>
            <a:off x="1325880" y="4507992"/>
            <a:ext cx="9966960" cy="548640"/>
          </a:xfrm>
          <a:prstGeom prst="rect">
            <a:avLst/>
          </a:prstGeom>
          <a:noFill/>
          <a:ln/>
        </p:spPr>
        <p:txBody>
          <a:bodyPr wrap="square" lIns="0" tIns="0" rIns="0" bIns="0" rtlCol="0" anchor="t"/>
          <a:lstStyle/>
          <a:p>
            <a:pPr indent="0" marL="0">
              <a:buNone/>
            </a:pPr>
            <a:r>
              <a:rPr lang="en-US" sz="1500" dirty="0">
                <a:solidFill>
                  <a:schemeClr val="accent3"/>
                </a:solidFill>
              </a:rPr>
              <a:t>Every extra file competes with the useful ones and invites the agent to explore further.</a:t>
            </a:r>
            <a:endParaRPr lang="en-US" sz="1500" dirty="0"/>
          </a:p>
        </p:txBody>
      </p:sp>
      <p:sp>
        <p:nvSpPr>
          <p:cNvPr id="26" name="glyph circle"/>
          <p:cNvSpPr/>
          <p:nvPr/>
        </p:nvSpPr>
        <p:spPr>
          <a:xfrm>
            <a:off x="640080" y="5202936"/>
            <a:ext cx="457200" cy="457200"/>
          </a:xfrm>
          <a:prstGeom prst="ellipse">
            <a:avLst/>
          </a:prstGeom>
          <a:solidFill>
            <a:schemeClr val="tx2"/>
          </a:solidFill>
          <a:ln w="12700">
            <a:solidFill>
              <a:schemeClr val="tx2"/>
            </a:solidFill>
            <a:prstDash val="solid"/>
          </a:ln>
        </p:spPr>
      </p:sp>
      <p:sp>
        <p:nvSpPr>
          <p:cNvPr id="27" name="Text 25"/>
          <p:cNvSpPr txBox="1"/>
          <p:nvPr/>
        </p:nvSpPr>
        <p:spPr>
          <a:xfrm>
            <a:off x="640080" y="5202936"/>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28" name="Text 26"/>
          <p:cNvSpPr txBox="1"/>
          <p:nvPr/>
        </p:nvSpPr>
        <p:spPr>
          <a:xfrm>
            <a:off x="1325880" y="5166360"/>
            <a:ext cx="9966960" cy="347472"/>
          </a:xfrm>
          <a:prstGeom prst="rect">
            <a:avLst/>
          </a:prstGeom>
          <a:noFill/>
          <a:ln/>
        </p:spPr>
        <p:txBody>
          <a:bodyPr wrap="square" lIns="0" tIns="0" rIns="0" bIns="0" rtlCol="0" anchor="t"/>
          <a:lstStyle/>
          <a:p>
            <a:pPr indent="0" marL="0">
              <a:buNone/>
            </a:pPr>
            <a:r>
              <a:rPr lang="en-US" sz="1700" b="1" dirty="0">
                <a:solidFill>
                  <a:schemeClr val="tx1"/>
                </a:solidFill>
              </a:rPr>
              <a:t>Each turn re-pays for everything before it</a:t>
            </a:r>
            <a:endParaRPr lang="en-US" sz="1700" dirty="0"/>
          </a:p>
        </p:txBody>
      </p:sp>
      <p:sp>
        <p:nvSpPr>
          <p:cNvPr id="29" name="Text 27"/>
          <p:cNvSpPr txBox="1"/>
          <p:nvPr/>
        </p:nvSpPr>
        <p:spPr>
          <a:xfrm>
            <a:off x="1325880" y="5532120"/>
            <a:ext cx="9966960" cy="548640"/>
          </a:xfrm>
          <a:prstGeom prst="rect">
            <a:avLst/>
          </a:prstGeom>
          <a:noFill/>
          <a:ln/>
        </p:spPr>
        <p:txBody>
          <a:bodyPr wrap="square" lIns="0" tIns="0" rIns="0" bIns="0" rtlCol="0" anchor="t"/>
          <a:lstStyle/>
          <a:p>
            <a:pPr indent="0" marL="0">
              <a:buNone/>
            </a:pPr>
            <a:r>
              <a:rPr lang="en-US" sz="1500" dirty="0">
                <a:solidFill>
                  <a:schemeClr val="accent3"/>
                </a:solidFill>
              </a:rPr>
              <a:t>A full test log on turn 3 is still in the window on turn 30. Long chats get slower, pricier and vaguer.</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1 · ADAM</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What reading costs in today's demo repo</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parcel-pilot: a small TypeScript order-pricing service with 57 source files and about 120 tests.</a:t>
            </a:r>
            <a:endParaRPr lang="en-US" sz="1500" dirty="0"/>
          </a:p>
        </p:txBody>
      </p:sp>
      <p:sp>
        <p:nvSpPr>
          <p:cNvPr id="5" name="panel"/>
          <p:cNvSpPr/>
          <p:nvPr/>
        </p:nvSpPr>
        <p:spPr>
          <a:xfrm>
            <a:off x="640080" y="1737360"/>
            <a:ext cx="2560320" cy="2377440"/>
          </a:xfrm>
          <a:prstGeom prst="roundRect">
            <a:avLst>
              <a:gd name="adj" fmla="val 3077"/>
            </a:avLst>
          </a:prstGeom>
          <a:solidFill>
            <a:schemeClr val="bg2"/>
          </a:solidFill>
          <a:ln w="12700">
            <a:solidFill>
              <a:schemeClr val="bg2"/>
            </a:solidFill>
            <a:prstDash val="solid"/>
          </a:ln>
        </p:spPr>
      </p:sp>
      <p:sp>
        <p:nvSpPr>
          <p:cNvPr id="6" name="Text 4"/>
          <p:cNvSpPr txBox="1"/>
          <p:nvPr/>
        </p:nvSpPr>
        <p:spPr>
          <a:xfrm>
            <a:off x="868680" y="1920240"/>
            <a:ext cx="2194560" cy="914400"/>
          </a:xfrm>
          <a:prstGeom prst="rect">
            <a:avLst/>
          </a:prstGeom>
          <a:noFill/>
          <a:ln/>
        </p:spPr>
        <p:txBody>
          <a:bodyPr wrap="square" lIns="0" tIns="0" rIns="0" bIns="0" rtlCol="0" anchor="t"/>
          <a:lstStyle/>
          <a:p>
            <a:pPr indent="0" marL="0">
              <a:buNone/>
            </a:pPr>
            <a:r>
              <a:rPr lang="en-US" sz="5400" b="1" dirty="0">
                <a:solidFill>
                  <a:schemeClr val="accent2"/>
                </a:solidFill>
              </a:rPr>
              <a:t>~1.5k</a:t>
            </a:r>
            <a:endParaRPr lang="en-US" sz="5400" dirty="0"/>
          </a:p>
        </p:txBody>
      </p:sp>
      <p:sp>
        <p:nvSpPr>
          <p:cNvPr id="7" name="Text 5"/>
          <p:cNvSpPr txBox="1"/>
          <p:nvPr/>
        </p:nvSpPr>
        <p:spPr>
          <a:xfrm>
            <a:off x="868680" y="2834640"/>
            <a:ext cx="219456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TOKENS</a:t>
            </a:r>
            <a:endParaRPr lang="en-US" sz="1200" dirty="0"/>
          </a:p>
        </p:txBody>
      </p:sp>
      <p:sp>
        <p:nvSpPr>
          <p:cNvPr id="8" name="Text 6"/>
          <p:cNvSpPr txBox="1"/>
          <p:nvPr/>
        </p:nvSpPr>
        <p:spPr>
          <a:xfrm>
            <a:off x="868680" y="3200400"/>
            <a:ext cx="2194560" cy="822960"/>
          </a:xfrm>
          <a:prstGeom prst="rect">
            <a:avLst/>
          </a:prstGeom>
          <a:noFill/>
          <a:ln/>
        </p:spPr>
        <p:txBody>
          <a:bodyPr wrap="square" lIns="0" tIns="0" rIns="0" bIns="0" rtlCol="0" anchor="t"/>
          <a:lstStyle/>
          <a:p>
            <a:pPr indent="0" marL="0">
              <a:buNone/>
            </a:pPr>
            <a:r>
              <a:rPr lang="en-US" sz="1500" dirty="0">
                <a:solidFill>
                  <a:schemeClr val="accent3"/>
                </a:solidFill>
              </a:rPr>
              <a:t>One focused source file</a:t>
            </a:r>
            <a:endParaRPr lang="en-US" sz="1500" dirty="0"/>
          </a:p>
        </p:txBody>
      </p:sp>
      <p:sp>
        <p:nvSpPr>
          <p:cNvPr id="9" name="panel"/>
          <p:cNvSpPr/>
          <p:nvPr/>
        </p:nvSpPr>
        <p:spPr>
          <a:xfrm>
            <a:off x="3383280" y="1737360"/>
            <a:ext cx="2560320" cy="2377440"/>
          </a:xfrm>
          <a:prstGeom prst="roundRect">
            <a:avLst>
              <a:gd name="adj" fmla="val 3077"/>
            </a:avLst>
          </a:prstGeom>
          <a:solidFill>
            <a:schemeClr val="bg2"/>
          </a:solidFill>
          <a:ln w="12700">
            <a:solidFill>
              <a:schemeClr val="bg2"/>
            </a:solidFill>
            <a:prstDash val="solid"/>
          </a:ln>
        </p:spPr>
      </p:sp>
      <p:sp>
        <p:nvSpPr>
          <p:cNvPr id="10" name="Text 8"/>
          <p:cNvSpPr txBox="1"/>
          <p:nvPr/>
        </p:nvSpPr>
        <p:spPr>
          <a:xfrm>
            <a:off x="3611880" y="1920240"/>
            <a:ext cx="2194560" cy="914400"/>
          </a:xfrm>
          <a:prstGeom prst="rect">
            <a:avLst/>
          </a:prstGeom>
          <a:noFill/>
          <a:ln/>
        </p:spPr>
        <p:txBody>
          <a:bodyPr wrap="square" lIns="0" tIns="0" rIns="0" bIns="0" rtlCol="0" anchor="t"/>
          <a:lstStyle/>
          <a:p>
            <a:pPr indent="0" marL="0">
              <a:buNone/>
            </a:pPr>
            <a:r>
              <a:rPr lang="en-US" sz="5400" b="1" dirty="0">
                <a:solidFill>
                  <a:schemeClr val="accent1"/>
                </a:solidFill>
              </a:rPr>
              <a:t>~30k</a:t>
            </a:r>
            <a:endParaRPr lang="en-US" sz="5400" dirty="0"/>
          </a:p>
        </p:txBody>
      </p:sp>
      <p:sp>
        <p:nvSpPr>
          <p:cNvPr id="11" name="Text 9"/>
          <p:cNvSpPr txBox="1"/>
          <p:nvPr/>
        </p:nvSpPr>
        <p:spPr>
          <a:xfrm>
            <a:off x="3611880" y="2834640"/>
            <a:ext cx="219456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TOKENS</a:t>
            </a:r>
            <a:endParaRPr lang="en-US" sz="1200" dirty="0"/>
          </a:p>
        </p:txBody>
      </p:sp>
      <p:sp>
        <p:nvSpPr>
          <p:cNvPr id="12" name="Text 10"/>
          <p:cNvSpPr txBox="1"/>
          <p:nvPr/>
        </p:nvSpPr>
        <p:spPr>
          <a:xfrm>
            <a:off x="3611880" y="3200400"/>
            <a:ext cx="2194560" cy="822960"/>
          </a:xfrm>
          <a:prstGeom prst="rect">
            <a:avLst/>
          </a:prstGeom>
          <a:noFill/>
          <a:ln/>
        </p:spPr>
        <p:txBody>
          <a:bodyPr wrap="square" lIns="0" tIns="0" rIns="0" bIns="0" rtlCol="0" anchor="t"/>
          <a:lstStyle/>
          <a:p>
            <a:pPr indent="0" marL="0">
              <a:buNone/>
            </a:pPr>
            <a:r>
              <a:rPr lang="en-US" sz="1500" dirty="0">
                <a:solidFill>
                  <a:schemeClr val="accent3"/>
                </a:solidFill>
              </a:rPr>
              <a:t>All 57 files under src/</a:t>
            </a:r>
            <a:endParaRPr lang="en-US" sz="1500" dirty="0"/>
          </a:p>
        </p:txBody>
      </p:sp>
      <p:sp>
        <p:nvSpPr>
          <p:cNvPr id="13" name="panel"/>
          <p:cNvSpPr/>
          <p:nvPr/>
        </p:nvSpPr>
        <p:spPr>
          <a:xfrm>
            <a:off x="6126480" y="1737360"/>
            <a:ext cx="2560320" cy="2377440"/>
          </a:xfrm>
          <a:prstGeom prst="roundRect">
            <a:avLst>
              <a:gd name="adj" fmla="val 3077"/>
            </a:avLst>
          </a:prstGeom>
          <a:solidFill>
            <a:schemeClr val="bg2"/>
          </a:solidFill>
          <a:ln w="12700">
            <a:solidFill>
              <a:schemeClr val="bg2"/>
            </a:solidFill>
            <a:prstDash val="solid"/>
          </a:ln>
        </p:spPr>
      </p:sp>
      <p:sp>
        <p:nvSpPr>
          <p:cNvPr id="14" name="Text 12"/>
          <p:cNvSpPr txBox="1"/>
          <p:nvPr/>
        </p:nvSpPr>
        <p:spPr>
          <a:xfrm>
            <a:off x="6355080" y="1920240"/>
            <a:ext cx="2194560" cy="914400"/>
          </a:xfrm>
          <a:prstGeom prst="rect">
            <a:avLst/>
          </a:prstGeom>
          <a:noFill/>
          <a:ln/>
        </p:spPr>
        <p:txBody>
          <a:bodyPr wrap="square" lIns="0" tIns="0" rIns="0" bIns="0" rtlCol="0" anchor="t"/>
          <a:lstStyle/>
          <a:p>
            <a:pPr indent="0" marL="0">
              <a:buNone/>
            </a:pPr>
            <a:r>
              <a:rPr lang="en-US" sz="5400" b="1" dirty="0">
                <a:solidFill>
                  <a:schemeClr val="tx2"/>
                </a:solidFill>
              </a:rPr>
              <a:t>~130k</a:t>
            </a:r>
            <a:endParaRPr lang="en-US" sz="5400" dirty="0"/>
          </a:p>
        </p:txBody>
      </p:sp>
      <p:sp>
        <p:nvSpPr>
          <p:cNvPr id="15" name="Text 13"/>
          <p:cNvSpPr txBox="1"/>
          <p:nvPr/>
        </p:nvSpPr>
        <p:spPr>
          <a:xfrm>
            <a:off x="6355080" y="2834640"/>
            <a:ext cx="219456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TOKENS</a:t>
            </a:r>
            <a:endParaRPr lang="en-US" sz="1200" dirty="0"/>
          </a:p>
        </p:txBody>
      </p:sp>
      <p:sp>
        <p:nvSpPr>
          <p:cNvPr id="16" name="Text 14"/>
          <p:cNvSpPr txBox="1"/>
          <p:nvPr/>
        </p:nvSpPr>
        <p:spPr>
          <a:xfrm>
            <a:off x="6355080" y="3200400"/>
            <a:ext cx="2194560" cy="822960"/>
          </a:xfrm>
          <a:prstGeom prst="rect">
            <a:avLst/>
          </a:prstGeom>
          <a:noFill/>
          <a:ln/>
        </p:spPr>
        <p:txBody>
          <a:bodyPr wrap="square" lIns="0" tIns="0" rIns="0" bIns="0" rtlCol="0" anchor="t"/>
          <a:lstStyle/>
          <a:p>
            <a:pPr indent="0" marL="0">
              <a:buNone/>
            </a:pPr>
            <a:r>
              <a:rPr lang="en-US" sz="1500" dirty="0">
                <a:solidFill>
                  <a:schemeClr val="accent3"/>
                </a:solidFill>
              </a:rPr>
              <a:t>One careless read of the analytics fixture</a:t>
            </a:r>
            <a:endParaRPr lang="en-US" sz="1500" dirty="0"/>
          </a:p>
        </p:txBody>
      </p:sp>
      <p:sp>
        <p:nvSpPr>
          <p:cNvPr id="17" name="panel"/>
          <p:cNvSpPr/>
          <p:nvPr/>
        </p:nvSpPr>
        <p:spPr>
          <a:xfrm>
            <a:off x="8869680" y="1737360"/>
            <a:ext cx="2560320" cy="2377440"/>
          </a:xfrm>
          <a:prstGeom prst="roundRect">
            <a:avLst>
              <a:gd name="adj" fmla="val 3077"/>
            </a:avLst>
          </a:prstGeom>
          <a:solidFill>
            <a:schemeClr val="bg2"/>
          </a:solidFill>
          <a:ln w="12700">
            <a:solidFill>
              <a:schemeClr val="bg2"/>
            </a:solidFill>
            <a:prstDash val="solid"/>
          </a:ln>
        </p:spPr>
      </p:sp>
      <p:sp>
        <p:nvSpPr>
          <p:cNvPr id="18" name="Text 16"/>
          <p:cNvSpPr txBox="1"/>
          <p:nvPr/>
        </p:nvSpPr>
        <p:spPr>
          <a:xfrm>
            <a:off x="9098280" y="1920240"/>
            <a:ext cx="2194560" cy="914400"/>
          </a:xfrm>
          <a:prstGeom prst="rect">
            <a:avLst/>
          </a:prstGeom>
          <a:noFill/>
          <a:ln/>
        </p:spPr>
        <p:txBody>
          <a:bodyPr wrap="square" lIns="0" tIns="0" rIns="0" bIns="0" rtlCol="0" anchor="t"/>
          <a:lstStyle/>
          <a:p>
            <a:pPr indent="0" marL="0">
              <a:buNone/>
            </a:pPr>
            <a:r>
              <a:rPr lang="en-US" sz="5400" b="1" dirty="0">
                <a:solidFill>
                  <a:schemeClr val="tx1"/>
                </a:solidFill>
              </a:rPr>
              <a:t>1</a:t>
            </a:r>
            <a:endParaRPr lang="en-US" sz="5400" dirty="0"/>
          </a:p>
        </p:txBody>
      </p:sp>
      <p:sp>
        <p:nvSpPr>
          <p:cNvPr id="19" name="Text 17"/>
          <p:cNvSpPr txBox="1"/>
          <p:nvPr/>
        </p:nvSpPr>
        <p:spPr>
          <a:xfrm>
            <a:off x="9098280" y="2834640"/>
            <a:ext cx="219456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LINE</a:t>
            </a:r>
            <a:endParaRPr lang="en-US" sz="1200" dirty="0"/>
          </a:p>
        </p:txBody>
      </p:sp>
      <p:sp>
        <p:nvSpPr>
          <p:cNvPr id="20" name="Text 18"/>
          <p:cNvSpPr txBox="1"/>
          <p:nvPr/>
        </p:nvSpPr>
        <p:spPr>
          <a:xfrm>
            <a:off x="9098280" y="3200400"/>
            <a:ext cx="2194560" cy="822960"/>
          </a:xfrm>
          <a:prstGeom prst="rect">
            <a:avLst/>
          </a:prstGeom>
          <a:noFill/>
          <a:ln/>
        </p:spPr>
        <p:txBody>
          <a:bodyPr wrap="square" lIns="0" tIns="0" rIns="0" bIns="0" rtlCol="0" anchor="t"/>
          <a:lstStyle/>
          <a:p>
            <a:pPr indent="0" marL="0">
              <a:buNone/>
            </a:pPr>
            <a:r>
              <a:rPr lang="en-US" sz="1500" dirty="0">
                <a:solidFill>
                  <a:schemeClr val="accent3"/>
                </a:solidFill>
              </a:rPr>
              <a:t>The actual fix for the tax bug</a:t>
            </a:r>
            <a:endParaRPr lang="en-US" sz="1500" dirty="0"/>
          </a:p>
        </p:txBody>
      </p:sp>
      <p:sp>
        <p:nvSpPr>
          <p:cNvPr id="21" name="Text 19"/>
          <p:cNvSpPr txBox="1"/>
          <p:nvPr/>
        </p:nvSpPr>
        <p:spPr>
          <a:xfrm>
            <a:off x="640080" y="4434840"/>
            <a:ext cx="10881360" cy="365760"/>
          </a:xfrm>
          <a:prstGeom prst="rect">
            <a:avLst/>
          </a:prstGeom>
          <a:noFill/>
          <a:ln/>
        </p:spPr>
        <p:txBody>
          <a:bodyPr wrap="square" lIns="0" tIns="0" rIns="0" bIns="0" rtlCol="0" anchor="t"/>
          <a:lstStyle/>
          <a:p>
            <a:pPr indent="0" marL="0">
              <a:buNone/>
            </a:pPr>
            <a:r>
              <a:rPr lang="en-US" sz="1800" b="1" dirty="0">
                <a:solidFill>
                  <a:schemeClr val="tx1"/>
                </a:solidFill>
              </a:rPr>
              <a:t>Like any real codebase, some files look more relevant than they are</a:t>
            </a:r>
            <a:endParaRPr lang="en-US" sz="1800" dirty="0"/>
          </a:p>
        </p:txBody>
      </p:sp>
      <p:sp>
        <p:nvSpPr>
          <p:cNvPr id="22" name="Text 20"/>
          <p:cNvSpPr txBox="1"/>
          <p:nvPr/>
        </p:nvSpPr>
        <p:spPr>
          <a:xfrm>
            <a:off x="640080" y="4846320"/>
            <a:ext cx="10881360" cy="137160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chemeClr val="accent3"/>
                </a:solidFill>
              </a:rPr>
              <a:t>archive/ holds retired pricing code that looks current - and is never compiled or tested</a:t>
            </a:r>
            <a:endParaRPr lang="en-US" sz="1500" dirty="0"/>
          </a:p>
          <a:p>
            <a:pPr marL="228600" indent="-228600">
              <a:spcAft>
                <a:spcPts val="600"/>
              </a:spcAft>
              <a:buSzPct val="100000"/>
              <a:buChar char="•"/>
            </a:pPr>
            <a:r>
              <a:rPr lang="en-US" sz="1500" dirty="0">
                <a:solidFill>
                  <a:schemeClr val="accent3"/>
                </a:solidFill>
              </a:rPr>
              <a:t>tax-calculator.ts is the obvious suspect for a tax bug; the bug is somewhere else</a:t>
            </a:r>
            <a:endParaRPr lang="en-US" sz="1500" dirty="0"/>
          </a:p>
          <a:p>
            <a:pPr marL="228600" indent="-228600">
              <a:spcAft>
                <a:spcPts val="600"/>
              </a:spcAft>
              <a:buSzPct val="100000"/>
              <a:buChar char="•"/>
            </a:pPr>
            <a:r>
              <a:rPr lang="en-US" sz="1500" dirty="0">
                <a:solidFill>
                  <a:schemeClr val="accent3"/>
                </a:solidFill>
              </a:rPr>
              <a:t>src/shipping/ has carrier-rates.ts and shipping-selector.ts: right-sounding, wrong for what the customer pays</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1 · ADAM</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Tokens are the smallest of four costs</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We are not trying to minimise tokens. We are maximising verified progress per minute, per token and per prompt.</a:t>
            </a:r>
            <a:endParaRPr lang="en-US" sz="1500" dirty="0"/>
          </a:p>
        </p:txBody>
      </p:sp>
      <p:sp>
        <p:nvSpPr>
          <p:cNvPr id="5" name="panel"/>
          <p:cNvSpPr/>
          <p:nvPr/>
        </p:nvSpPr>
        <p:spPr>
          <a:xfrm>
            <a:off x="640080" y="1737360"/>
            <a:ext cx="5349240" cy="1600200"/>
          </a:xfrm>
          <a:prstGeom prst="roundRect">
            <a:avLst>
              <a:gd name="adj" fmla="val 4571"/>
            </a:avLst>
          </a:prstGeom>
          <a:solidFill>
            <a:schemeClr val="bg2"/>
          </a:solidFill>
          <a:ln w="12700">
            <a:solidFill>
              <a:schemeClr val="bg2"/>
            </a:solidFill>
            <a:prstDash val="solid"/>
          </a:ln>
        </p:spPr>
      </p:sp>
      <p:sp>
        <p:nvSpPr>
          <p:cNvPr id="6" name="glyph circle"/>
          <p:cNvSpPr/>
          <p:nvPr/>
        </p:nvSpPr>
        <p:spPr>
          <a:xfrm>
            <a:off x="914400" y="2011680"/>
            <a:ext cx="548640" cy="548640"/>
          </a:xfrm>
          <a:prstGeom prst="ellipse">
            <a:avLst/>
          </a:prstGeom>
          <a:solidFill>
            <a:schemeClr val="accent2"/>
          </a:solidFill>
          <a:ln w="12700">
            <a:solidFill>
              <a:schemeClr val="accent2"/>
            </a:solidFill>
            <a:prstDash val="solid"/>
          </a:ln>
        </p:spPr>
      </p:sp>
      <p:sp>
        <p:nvSpPr>
          <p:cNvPr id="7" name="Text 5"/>
          <p:cNvSpPr txBox="1"/>
          <p:nvPr/>
        </p:nvSpPr>
        <p:spPr>
          <a:xfrm>
            <a:off x="914400" y="20116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8" name="Text 6"/>
          <p:cNvSpPr txBox="1"/>
          <p:nvPr/>
        </p:nvSpPr>
        <p:spPr>
          <a:xfrm>
            <a:off x="1691640" y="1993392"/>
            <a:ext cx="4023360" cy="365760"/>
          </a:xfrm>
          <a:prstGeom prst="rect">
            <a:avLst/>
          </a:prstGeom>
          <a:noFill/>
          <a:ln/>
        </p:spPr>
        <p:txBody>
          <a:bodyPr wrap="square" lIns="0" tIns="0" rIns="0" bIns="0" rtlCol="0" anchor="t"/>
          <a:lstStyle/>
          <a:p>
            <a:pPr indent="0" marL="0">
              <a:buNone/>
            </a:pPr>
            <a:r>
              <a:rPr lang="en-US" sz="2000" b="1" dirty="0">
                <a:solidFill>
                  <a:schemeClr val="tx1"/>
                </a:solidFill>
              </a:rPr>
              <a:t>Time</a:t>
            </a:r>
            <a:endParaRPr lang="en-US" sz="2000" dirty="0"/>
          </a:p>
        </p:txBody>
      </p:sp>
      <p:sp>
        <p:nvSpPr>
          <p:cNvPr id="9" name="Text 7"/>
          <p:cNvSpPr txBox="1"/>
          <p:nvPr/>
        </p:nvSpPr>
        <p:spPr>
          <a:xfrm>
            <a:off x="1691640" y="2423160"/>
            <a:ext cx="4069080" cy="777240"/>
          </a:xfrm>
          <a:prstGeom prst="rect">
            <a:avLst/>
          </a:prstGeom>
          <a:noFill/>
          <a:ln/>
        </p:spPr>
        <p:txBody>
          <a:bodyPr wrap="square" lIns="0" tIns="0" rIns="0" bIns="0" rtlCol="0" anchor="t"/>
          <a:lstStyle/>
          <a:p>
            <a:pPr indent="0" marL="0">
              <a:buNone/>
            </a:pPr>
            <a:r>
              <a:rPr lang="en-US" sz="1500" dirty="0">
                <a:solidFill>
                  <a:schemeClr val="accent3"/>
                </a:solidFill>
              </a:rPr>
              <a:t>Wall-clock minutes to a verified result - not to the first green tick.</a:t>
            </a:r>
            <a:endParaRPr lang="en-US" sz="1500" dirty="0"/>
          </a:p>
        </p:txBody>
      </p:sp>
      <p:sp>
        <p:nvSpPr>
          <p:cNvPr id="10" name="panel"/>
          <p:cNvSpPr/>
          <p:nvPr/>
        </p:nvSpPr>
        <p:spPr>
          <a:xfrm>
            <a:off x="6172200" y="1737360"/>
            <a:ext cx="5349240" cy="1600200"/>
          </a:xfrm>
          <a:prstGeom prst="roundRect">
            <a:avLst>
              <a:gd name="adj" fmla="val 4571"/>
            </a:avLst>
          </a:prstGeom>
          <a:solidFill>
            <a:schemeClr val="bg2"/>
          </a:solidFill>
          <a:ln w="12700">
            <a:solidFill>
              <a:schemeClr val="bg2"/>
            </a:solidFill>
            <a:prstDash val="solid"/>
          </a:ln>
        </p:spPr>
      </p:sp>
      <p:sp>
        <p:nvSpPr>
          <p:cNvPr id="11" name="glyph circle"/>
          <p:cNvSpPr/>
          <p:nvPr/>
        </p:nvSpPr>
        <p:spPr>
          <a:xfrm>
            <a:off x="6446520" y="2011680"/>
            <a:ext cx="548640" cy="548640"/>
          </a:xfrm>
          <a:prstGeom prst="ellipse">
            <a:avLst/>
          </a:prstGeom>
          <a:solidFill>
            <a:schemeClr val="accent1"/>
          </a:solidFill>
          <a:ln w="12700">
            <a:solidFill>
              <a:schemeClr val="accent1"/>
            </a:solidFill>
            <a:prstDash val="solid"/>
          </a:ln>
        </p:spPr>
      </p:sp>
      <p:sp>
        <p:nvSpPr>
          <p:cNvPr id="12" name="Text 10"/>
          <p:cNvSpPr txBox="1"/>
          <p:nvPr/>
        </p:nvSpPr>
        <p:spPr>
          <a:xfrm>
            <a:off x="6446520" y="20116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3" name="Text 11"/>
          <p:cNvSpPr txBox="1"/>
          <p:nvPr/>
        </p:nvSpPr>
        <p:spPr>
          <a:xfrm>
            <a:off x="7223760" y="1993392"/>
            <a:ext cx="4023360" cy="365760"/>
          </a:xfrm>
          <a:prstGeom prst="rect">
            <a:avLst/>
          </a:prstGeom>
          <a:noFill/>
          <a:ln/>
        </p:spPr>
        <p:txBody>
          <a:bodyPr wrap="square" lIns="0" tIns="0" rIns="0" bIns="0" rtlCol="0" anchor="t"/>
          <a:lstStyle/>
          <a:p>
            <a:pPr indent="0" marL="0">
              <a:buNone/>
            </a:pPr>
            <a:r>
              <a:rPr lang="en-US" sz="2000" b="1" dirty="0">
                <a:solidFill>
                  <a:schemeClr val="tx1"/>
                </a:solidFill>
              </a:rPr>
              <a:t>Context</a:t>
            </a:r>
            <a:endParaRPr lang="en-US" sz="2000" dirty="0"/>
          </a:p>
        </p:txBody>
      </p:sp>
      <p:sp>
        <p:nvSpPr>
          <p:cNvPr id="14" name="Text 12"/>
          <p:cNvSpPr txBox="1"/>
          <p:nvPr/>
        </p:nvSpPr>
        <p:spPr>
          <a:xfrm>
            <a:off x="7223760" y="2423160"/>
            <a:ext cx="4069080" cy="777240"/>
          </a:xfrm>
          <a:prstGeom prst="rect">
            <a:avLst/>
          </a:prstGeom>
          <a:noFill/>
          <a:ln/>
        </p:spPr>
        <p:txBody>
          <a:bodyPr wrap="square" lIns="0" tIns="0" rIns="0" bIns="0" rtlCol="0" anchor="t"/>
          <a:lstStyle/>
          <a:p>
            <a:pPr indent="0" marL="0">
              <a:buNone/>
            </a:pPr>
            <a:r>
              <a:rPr lang="en-US" sz="1500" dirty="0">
                <a:solidFill>
                  <a:schemeClr val="accent3"/>
                </a:solidFill>
              </a:rPr>
              <a:t>How much of the window is used, and by what. Bloat makes answers worse, not just pricier.</a:t>
            </a:r>
            <a:endParaRPr lang="en-US" sz="1500" dirty="0"/>
          </a:p>
        </p:txBody>
      </p:sp>
      <p:sp>
        <p:nvSpPr>
          <p:cNvPr id="15" name="panel"/>
          <p:cNvSpPr/>
          <p:nvPr/>
        </p:nvSpPr>
        <p:spPr>
          <a:xfrm>
            <a:off x="640080" y="3520440"/>
            <a:ext cx="5349240" cy="1600200"/>
          </a:xfrm>
          <a:prstGeom prst="roundRect">
            <a:avLst>
              <a:gd name="adj" fmla="val 4571"/>
            </a:avLst>
          </a:prstGeom>
          <a:solidFill>
            <a:schemeClr val="bg2"/>
          </a:solidFill>
          <a:ln w="12700">
            <a:solidFill>
              <a:schemeClr val="bg2"/>
            </a:solidFill>
            <a:prstDash val="solid"/>
          </a:ln>
        </p:spPr>
      </p:sp>
      <p:sp>
        <p:nvSpPr>
          <p:cNvPr id="16" name="glyph circle"/>
          <p:cNvSpPr/>
          <p:nvPr/>
        </p:nvSpPr>
        <p:spPr>
          <a:xfrm>
            <a:off x="914400" y="3794760"/>
            <a:ext cx="548640" cy="548640"/>
          </a:xfrm>
          <a:prstGeom prst="ellipse">
            <a:avLst/>
          </a:prstGeom>
          <a:solidFill>
            <a:schemeClr val="tx2"/>
          </a:solidFill>
          <a:ln w="12700">
            <a:solidFill>
              <a:schemeClr val="tx2"/>
            </a:solidFill>
            <a:prstDash val="solid"/>
          </a:ln>
        </p:spPr>
      </p:sp>
      <p:sp>
        <p:nvSpPr>
          <p:cNvPr id="17" name="Text 15"/>
          <p:cNvSpPr txBox="1"/>
          <p:nvPr/>
        </p:nvSpPr>
        <p:spPr>
          <a:xfrm>
            <a:off x="914400" y="37947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8" name="Text 16"/>
          <p:cNvSpPr txBox="1"/>
          <p:nvPr/>
        </p:nvSpPr>
        <p:spPr>
          <a:xfrm>
            <a:off x="1691640" y="3776472"/>
            <a:ext cx="4023360" cy="365760"/>
          </a:xfrm>
          <a:prstGeom prst="rect">
            <a:avLst/>
          </a:prstGeom>
          <a:noFill/>
          <a:ln/>
        </p:spPr>
        <p:txBody>
          <a:bodyPr wrap="square" lIns="0" tIns="0" rIns="0" bIns="0" rtlCol="0" anchor="t"/>
          <a:lstStyle/>
          <a:p>
            <a:pPr indent="0" marL="0">
              <a:buNone/>
            </a:pPr>
            <a:r>
              <a:rPr lang="en-US" sz="2000" b="1" dirty="0">
                <a:solidFill>
                  <a:schemeClr val="tx1"/>
                </a:solidFill>
              </a:rPr>
              <a:t>Interaction</a:t>
            </a:r>
            <a:endParaRPr lang="en-US" sz="2000" dirty="0"/>
          </a:p>
        </p:txBody>
      </p:sp>
      <p:sp>
        <p:nvSpPr>
          <p:cNvPr id="19" name="Text 17"/>
          <p:cNvSpPr txBox="1"/>
          <p:nvPr/>
        </p:nvSpPr>
        <p:spPr>
          <a:xfrm>
            <a:off x="1691640" y="4206240"/>
            <a:ext cx="4069080" cy="777240"/>
          </a:xfrm>
          <a:prstGeom prst="rect">
            <a:avLst/>
          </a:prstGeom>
          <a:noFill/>
          <a:ln/>
        </p:spPr>
        <p:txBody>
          <a:bodyPr wrap="square" lIns="0" tIns="0" rIns="0" bIns="0" rtlCol="0" anchor="t"/>
          <a:lstStyle/>
          <a:p>
            <a:pPr indent="0" marL="0">
              <a:buNone/>
            </a:pPr>
            <a:r>
              <a:rPr lang="en-US" sz="1500" dirty="0">
                <a:solidFill>
                  <a:schemeClr val="accent3"/>
                </a:solidFill>
              </a:rPr>
              <a:t>Every corrective prompt you type: "no, not that file" is a cost you pay twice.</a:t>
            </a:r>
            <a:endParaRPr lang="en-US" sz="1500" dirty="0"/>
          </a:p>
        </p:txBody>
      </p:sp>
      <p:sp>
        <p:nvSpPr>
          <p:cNvPr id="20" name="panel"/>
          <p:cNvSpPr/>
          <p:nvPr/>
        </p:nvSpPr>
        <p:spPr>
          <a:xfrm>
            <a:off x="6172200" y="3520440"/>
            <a:ext cx="5349240" cy="1600200"/>
          </a:xfrm>
          <a:prstGeom prst="roundRect">
            <a:avLst>
              <a:gd name="adj" fmla="val 4571"/>
            </a:avLst>
          </a:prstGeom>
          <a:solidFill>
            <a:schemeClr val="bg2"/>
          </a:solidFill>
          <a:ln w="12700">
            <a:solidFill>
              <a:schemeClr val="bg2"/>
            </a:solidFill>
            <a:prstDash val="solid"/>
          </a:ln>
        </p:spPr>
      </p:sp>
      <p:sp>
        <p:nvSpPr>
          <p:cNvPr id="21" name="glyph circle"/>
          <p:cNvSpPr/>
          <p:nvPr/>
        </p:nvSpPr>
        <p:spPr>
          <a:xfrm>
            <a:off x="6446520" y="3794760"/>
            <a:ext cx="548640" cy="548640"/>
          </a:xfrm>
          <a:prstGeom prst="ellipse">
            <a:avLst/>
          </a:prstGeom>
          <a:solidFill>
            <a:schemeClr val="accent3"/>
          </a:solidFill>
          <a:ln w="12700">
            <a:solidFill>
              <a:schemeClr val="accent3"/>
            </a:solidFill>
            <a:prstDash val="solid"/>
          </a:ln>
        </p:spPr>
      </p:sp>
      <p:sp>
        <p:nvSpPr>
          <p:cNvPr id="22" name="Text 20"/>
          <p:cNvSpPr txBox="1"/>
          <p:nvPr/>
        </p:nvSpPr>
        <p:spPr>
          <a:xfrm>
            <a:off x="6446520" y="37947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23" name="Text 21"/>
          <p:cNvSpPr txBox="1"/>
          <p:nvPr/>
        </p:nvSpPr>
        <p:spPr>
          <a:xfrm>
            <a:off x="7223760" y="3776472"/>
            <a:ext cx="4023360" cy="365760"/>
          </a:xfrm>
          <a:prstGeom prst="rect">
            <a:avLst/>
          </a:prstGeom>
          <a:noFill/>
          <a:ln/>
        </p:spPr>
        <p:txBody>
          <a:bodyPr wrap="square" lIns="0" tIns="0" rIns="0" bIns="0" rtlCol="0" anchor="t"/>
          <a:lstStyle/>
          <a:p>
            <a:pPr indent="0" marL="0">
              <a:buNone/>
            </a:pPr>
            <a:r>
              <a:rPr lang="en-US" sz="2000" b="1" dirty="0">
                <a:solidFill>
                  <a:schemeClr val="tx1"/>
                </a:solidFill>
              </a:rPr>
              <a:t>Rework</a:t>
            </a:r>
            <a:endParaRPr lang="en-US" sz="2000" dirty="0"/>
          </a:p>
        </p:txBody>
      </p:sp>
      <p:sp>
        <p:nvSpPr>
          <p:cNvPr id="24" name="Text 22"/>
          <p:cNvSpPr txBox="1"/>
          <p:nvPr/>
        </p:nvSpPr>
        <p:spPr>
          <a:xfrm>
            <a:off x="7223760" y="4206240"/>
            <a:ext cx="4069080" cy="777240"/>
          </a:xfrm>
          <a:prstGeom prst="rect">
            <a:avLst/>
          </a:prstGeom>
          <a:noFill/>
          <a:ln/>
        </p:spPr>
        <p:txBody>
          <a:bodyPr wrap="square" lIns="0" tIns="0" rIns="0" bIns="0" rtlCol="0" anchor="t"/>
          <a:lstStyle/>
          <a:p>
            <a:pPr indent="0" marL="0">
              <a:buNone/>
            </a:pPr>
            <a:r>
              <a:rPr lang="en-US" sz="1500" dirty="0">
                <a:solidFill>
                  <a:schemeClr val="accent3"/>
                </a:solidFill>
              </a:rPr>
              <a:t>Changes to files that never needed to change - and the review time they burn.</a:t>
            </a:r>
            <a:endParaRPr lang="en-US" sz="1500" dirty="0"/>
          </a:p>
        </p:txBody>
      </p:sp>
      <p:sp>
        <p:nvSpPr>
          <p:cNvPr id="25" name="panel"/>
          <p:cNvSpPr/>
          <p:nvPr/>
        </p:nvSpPr>
        <p:spPr>
          <a:xfrm>
            <a:off x="640080" y="5486400"/>
            <a:ext cx="10881360" cy="594360"/>
          </a:xfrm>
          <a:prstGeom prst="roundRect">
            <a:avLst>
              <a:gd name="adj" fmla="val 12308"/>
            </a:avLst>
          </a:prstGeom>
          <a:solidFill>
            <a:schemeClr val="bg2"/>
          </a:solidFill>
          <a:ln w="12700">
            <a:solidFill>
              <a:schemeClr val="bg2"/>
            </a:solidFill>
            <a:prstDash val="solid"/>
          </a:ln>
        </p:spPr>
      </p:sp>
      <p:sp>
        <p:nvSpPr>
          <p:cNvPr id="26" name="Text 24"/>
          <p:cNvSpPr txBox="1"/>
          <p:nvPr/>
        </p:nvSpPr>
        <p:spPr>
          <a:xfrm>
            <a:off x="868680" y="5486400"/>
            <a:ext cx="10424160" cy="594360"/>
          </a:xfrm>
          <a:prstGeom prst="rect">
            <a:avLst/>
          </a:prstGeom>
          <a:noFill/>
          <a:ln/>
        </p:spPr>
        <p:txBody>
          <a:bodyPr wrap="square" lIns="0" tIns="0" rIns="0" bIns="0" rtlCol="0" anchor="ctr"/>
          <a:lstStyle/>
          <a:p>
            <a:pPr indent="0" marL="0">
              <a:buNone/>
            </a:pPr>
            <a:r>
              <a:rPr lang="en-US" sz="1500" b="1" dirty="0">
                <a:solidFill>
                  <a:schemeClr val="tx2"/>
                </a:solidFill>
              </a:rPr>
              <a:t>A cheap session that ships the wrong change is the most expensive outcome there is.</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1 · ADAM</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How we'll keep score in every demo</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Tool-neutral numbers you can count yourself, in Cursor or Claude Code.</a:t>
            </a:r>
            <a:endParaRPr lang="en-US" sz="1500" dirty="0"/>
          </a:p>
        </p:txBody>
      </p:sp>
      <p:graphicFrame>
        <p:nvGraphicFramePr>
          <p:cNvPr id="8" name="score table"/>
          <p:cNvGraphicFramePr>
            <a:graphicFrameLocks noGrp="1"/>
          </p:cNvGraphicFramePr>
          <p:nvPr>
            <p:extLst>
              <p:ext uri="{D42A27DB-BD31-4B8C-83A1-F6EECF244321}">
                <p14:modId xmlns:p14="http://schemas.microsoft.com/office/powerpoint/2010/main" val="1579011935"/>
              </p:ext>
            </p:extLst>
          </p:nvPr>
        </p:nvGraphicFramePr>
        <p:xfrm>
          <a:off x="640080" y="1691640"/>
          <a:ext cx="6766560" cy="914400"/>
        </p:xfrm>
        <a:graphic>
          <a:graphicData uri="http://schemas.openxmlformats.org/drawingml/2006/table">
            <a:tbl>
              <a:tblPr/>
              <a:tblGrid>
                <a:gridCol w="3017520"/>
                <a:gridCol w="3749040"/>
              </a:tblGrid>
              <a:tr h="512064">
                <a:tc>
                  <a:txBody>
                    <a:bodyPr/>
                    <a:lstStyle/>
                    <a:p>
                      <a:pPr indent="0" marL="0">
                        <a:buNone/>
                      </a:pPr>
                      <a:r>
                        <a:rPr lang="en-US" sz="1400" b="1" dirty="0">
                          <a:solidFill>
                            <a:schemeClr val="bg1"/>
                          </a:solidFill>
                        </a:rPr>
                        <a:t>Metric</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Why it matters</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solidFill>
                      <a:schemeClr val="tx2"/>
                    </a:solidFill>
                  </a:tcPr>
                </a:tc>
              </a:tr>
              <a:tr h="512064">
                <a:tc>
                  <a:txBody>
                    <a:bodyPr/>
                    <a:lstStyle/>
                    <a:p>
                      <a:pPr indent="0" marL="0">
                        <a:buNone/>
                      </a:pPr>
                      <a:r>
                        <a:rPr lang="en-US" sz="1400" dirty="0">
                          <a:solidFill>
                            <a:schemeClr val="tx1"/>
                          </a:solidFill>
                        </a:rPr>
                        <a:t>Files read / files that mattered</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rPr>
                        <a:t>The single best signal of a wandering agent</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12064">
                <a:tc>
                  <a:txBody>
                    <a:bodyPr/>
                    <a:lstStyle/>
                    <a:p>
                      <a:pPr indent="0" marL="0">
                        <a:buNone/>
                      </a:pPr>
                      <a:r>
                        <a:rPr lang="en-US" sz="1400" dirty="0">
                          <a:solidFill>
                            <a:schemeClr val="tx1"/>
                          </a:solidFill>
                        </a:rPr>
                        <a:t>Prompts, and how many were corrections</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rPr>
                        <a:t>Corrections mean the first prompt left something out</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12064">
                <a:tc>
                  <a:txBody>
                    <a:bodyPr/>
                    <a:lstStyle/>
                    <a:p>
                      <a:pPr indent="0" marL="0">
                        <a:buNone/>
                      </a:pPr>
                      <a:r>
                        <a:rPr lang="en-US" sz="1400" dirty="0">
                          <a:solidFill>
                            <a:schemeClr val="tx1"/>
                          </a:solidFill>
                        </a:rPr>
                        <a:t>Full vs. focused test runs</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rPr>
                        <a:t>A full suite log sits in context for the rest of the chat</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12064">
                <a:tc>
                  <a:txBody>
                    <a:bodyPr/>
                    <a:lstStyle/>
                    <a:p>
                      <a:pPr indent="0" marL="0">
                        <a:buNone/>
                      </a:pPr>
                      <a:r>
                        <a:rPr lang="en-US" sz="1400" dirty="0">
                          <a:solidFill>
                            <a:schemeClr val="tx1"/>
                          </a:solidFill>
                        </a:rPr>
                        <a:t>Files changed that didn't need to</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rPr>
                        <a:t>Rework and review cost</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12064">
                <a:tc>
                  <a:txBody>
                    <a:bodyPr/>
                    <a:lstStyle/>
                    <a:p>
                      <a:pPr indent="0" marL="0">
                        <a:buNone/>
                      </a:pPr>
                      <a:r>
                        <a:rPr lang="en-US" sz="1400" dirty="0">
                          <a:solidFill>
                            <a:schemeClr val="tx1"/>
                          </a:solidFill>
                        </a:rPr>
                        <a:t>Peak context</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rPr>
                        <a:t>/context or the status line · Cursor: context % status line</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12064">
                <a:tc>
                  <a:txBody>
                    <a:bodyPr/>
                    <a:lstStyle/>
                    <a:p>
                      <a:pPr indent="0" marL="0">
                        <a:buNone/>
                      </a:pPr>
                      <a:r>
                        <a:rPr lang="en-US" sz="1400" dirty="0">
                          <a:solidFill>
                            <a:schemeClr val="tx1"/>
                          </a:solidFill>
                        </a:rPr>
                        <a:t>Hidden verification passed?</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rPr>
                        <a:t>Correctness - the cost that actually hurts</a:t>
                      </a:r>
                      <a:endParaRPr lang="en-US" sz="1400" dirty="0"/>
                    </a:p>
                  </a:txBody>
                  <a:tcPr marL="109728" marR="109728"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bl>
          </a:graphicData>
        </a:graphic>
      </p:graphicFrame>
      <p:sp>
        <p:nvSpPr>
          <p:cNvPr id="6" name="panel"/>
          <p:cNvSpPr/>
          <p:nvPr/>
        </p:nvSpPr>
        <p:spPr>
          <a:xfrm>
            <a:off x="7772400" y="1691640"/>
            <a:ext cx="3749040" cy="3584448"/>
          </a:xfrm>
          <a:prstGeom prst="roundRect">
            <a:avLst>
              <a:gd name="adj" fmla="val 2041"/>
            </a:avLst>
          </a:prstGeom>
          <a:solidFill>
            <a:schemeClr val="bg2"/>
          </a:solidFill>
          <a:ln w="12700">
            <a:solidFill>
              <a:schemeClr val="bg2"/>
            </a:solidFill>
            <a:prstDash val="solid"/>
          </a:ln>
        </p:spPr>
      </p:sp>
      <p:sp>
        <p:nvSpPr>
          <p:cNvPr id="7" name="Text 4"/>
          <p:cNvSpPr txBox="1"/>
          <p:nvPr/>
        </p:nvSpPr>
        <p:spPr>
          <a:xfrm>
            <a:off x="8046720" y="1920240"/>
            <a:ext cx="32004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THE HEADLINE RATIO</a:t>
            </a:r>
            <a:endParaRPr lang="en-US" sz="1200" dirty="0"/>
          </a:p>
        </p:txBody>
      </p:sp>
      <p:sp>
        <p:nvSpPr>
          <p:cNvPr id="8" name="Text 5"/>
          <p:cNvSpPr txBox="1"/>
          <p:nvPr/>
        </p:nvSpPr>
        <p:spPr>
          <a:xfrm>
            <a:off x="8046720" y="2240280"/>
            <a:ext cx="3200400" cy="914400"/>
          </a:xfrm>
          <a:prstGeom prst="rect">
            <a:avLst/>
          </a:prstGeom>
          <a:noFill/>
          <a:ln/>
        </p:spPr>
        <p:txBody>
          <a:bodyPr wrap="square" lIns="0" tIns="0" rIns="0" bIns="0" rtlCol="0" anchor="t"/>
          <a:lstStyle/>
          <a:p>
            <a:pPr indent="0" marL="0">
              <a:buNone/>
            </a:pPr>
            <a:r>
              <a:rPr lang="en-US" sz="6000" b="1" dirty="0">
                <a:solidFill>
                  <a:schemeClr val="accent2"/>
                </a:solidFill>
              </a:rPr>
              <a:t>≥ 70%</a:t>
            </a:r>
            <a:endParaRPr lang="en-US" sz="6000" dirty="0"/>
          </a:p>
        </p:txBody>
      </p:sp>
      <p:sp>
        <p:nvSpPr>
          <p:cNvPr id="9" name="Text 6"/>
          <p:cNvSpPr txBox="1"/>
          <p:nvPr/>
        </p:nvSpPr>
        <p:spPr>
          <a:xfrm>
            <a:off x="8046720" y="3246120"/>
            <a:ext cx="3200400" cy="640080"/>
          </a:xfrm>
          <a:prstGeom prst="rect">
            <a:avLst/>
          </a:prstGeom>
          <a:noFill/>
          <a:ln/>
        </p:spPr>
        <p:txBody>
          <a:bodyPr wrap="square" lIns="0" tIns="0" rIns="0" bIns="0" rtlCol="0" anchor="t"/>
          <a:lstStyle/>
          <a:p>
            <a:pPr indent="0" marL="0">
              <a:buNone/>
            </a:pPr>
            <a:r>
              <a:rPr lang="en-US" sz="1700" b="1" dirty="0">
                <a:solidFill>
                  <a:schemeClr val="tx1"/>
                </a:solidFill>
              </a:rPr>
              <a:t>relevant files read ÷ total files read</a:t>
            </a:r>
            <a:endParaRPr lang="en-US" sz="1700" dirty="0"/>
          </a:p>
        </p:txBody>
      </p:sp>
      <p:sp>
        <p:nvSpPr>
          <p:cNvPr id="10" name="Text 7"/>
          <p:cNvSpPr txBox="1"/>
          <p:nvPr/>
        </p:nvSpPr>
        <p:spPr>
          <a:xfrm>
            <a:off x="8046720" y="3977640"/>
            <a:ext cx="3200400" cy="1097280"/>
          </a:xfrm>
          <a:prstGeom prst="rect">
            <a:avLst/>
          </a:prstGeom>
          <a:noFill/>
          <a:ln/>
        </p:spPr>
        <p:txBody>
          <a:bodyPr wrap="square" lIns="0" tIns="0" rIns="0" bIns="0" rtlCol="0" anchor="t"/>
          <a:lstStyle/>
          <a:p>
            <a:pPr indent="0" marL="0">
              <a:buNone/>
            </a:pPr>
            <a:r>
              <a:rPr lang="en-US" sz="1500" dirty="0">
                <a:solidFill>
                  <a:schemeClr val="accent3"/>
                </a:solidFill>
              </a:rPr>
              <a:t>If most of what the agent opened didn't matter, the prompt didn't say what you knew.</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4"/>
                </a:solidFill>
              </a:rPr>
              <a:t>LIVE DEMO 1 · EUGENE</a:t>
            </a:r>
            <a:endParaRPr lang="en-US" sz="1100" dirty="0"/>
          </a:p>
        </p:txBody>
      </p:sp>
      <p:sp>
        <p:nvSpPr>
          <p:cNvPr id="3" name="Text 1"/>
          <p:cNvSpPr/>
          <p:nvPr>
            <p:ph idx="101" type="title" hasCustomPrompt="1"/>
          </p:nvPr>
        </p:nvSpPr>
        <p:spPr>
          <a:xfrm>
            <a:off x="640080" y="868680"/>
            <a:ext cx="7315200" cy="731520"/>
          </a:xfrm>
          <a:prstGeom prst="rect">
            <a:avLst/>
          </a:prstGeom>
          <a:noFill/>
          <a:ln/>
        </p:spPr>
        <p:txBody>
          <a:bodyPr wrap="square" lIns="0" tIns="0" rIns="0" bIns="0" rtlCol="0" anchor="t"/>
          <a:lstStyle/>
          <a:p>
            <a:pPr indent="0" marL="0">
              <a:buNone/>
            </a:pPr>
            <a:r>
              <a:rPr lang="en-US" sz="3600" b="1" dirty="0">
                <a:solidFill>
                  <a:schemeClr val="bg1"/>
                </a:solidFill>
              </a:rPr>
              <a:t>Demo 1 · Vibe it</a:t>
            </a:r>
            <a:endParaRPr lang="en-US" sz="3600" dirty="0"/>
          </a:p>
        </p:txBody>
      </p:sp>
      <p:sp>
        <p:nvSpPr>
          <p:cNvPr id="4" name="Text 1"/>
          <p:cNvSpPr/>
          <p:nvPr>
            <p:ph idx="102" type="body" hasCustomPrompt="1"/>
          </p:nvPr>
        </p:nvSpPr>
        <p:spPr>
          <a:xfrm>
            <a:off x="640080" y="1600200"/>
            <a:ext cx="7315200" cy="411480"/>
          </a:xfrm>
          <a:prstGeom prst="rect">
            <a:avLst/>
          </a:prstGeom>
          <a:noFill/>
          <a:ln/>
        </p:spPr>
        <p:txBody>
          <a:bodyPr wrap="square" lIns="0" tIns="0" rIns="0" bIns="0" rtlCol="0" anchor="t"/>
          <a:lstStyle/>
          <a:p>
            <a:pPr indent="0" marL="0">
              <a:buNone/>
            </a:pPr>
            <a:r>
              <a:rPr lang="en-US" sz="1600" dirty="0">
                <a:solidFill>
                  <a:schemeClr val="accent5"/>
                </a:solidFill>
              </a:rPr>
              <a:t>Claude Code · fresh session · no hints, no file names, no test command</a:t>
            </a:r>
            <a:endParaRPr lang="en-US" sz="1600" dirty="0"/>
          </a:p>
        </p:txBody>
      </p:sp>
      <p:sp>
        <p:nvSpPr>
          <p:cNvPr id="5" name="Text 3"/>
          <p:cNvSpPr txBox="1"/>
          <p:nvPr/>
        </p:nvSpPr>
        <p:spPr>
          <a:xfrm>
            <a:off x="640080" y="2286000"/>
            <a:ext cx="6035040" cy="274320"/>
          </a:xfrm>
          <a:prstGeom prst="rect">
            <a:avLst/>
          </a:prstGeom>
          <a:noFill/>
          <a:ln/>
        </p:spPr>
        <p:txBody>
          <a:bodyPr wrap="square" lIns="0" tIns="0" rIns="0" bIns="0" rtlCol="0" anchor="t"/>
          <a:lstStyle/>
          <a:p>
            <a:pPr indent="0" marL="0">
              <a:buNone/>
            </a:pPr>
            <a:r>
              <a:rPr lang="en-US" sz="1200" b="1" spc="100" kern="0" dirty="0">
                <a:solidFill>
                  <a:schemeClr val="accent4"/>
                </a:solidFill>
              </a:rPr>
              <a:t>THE PROMPTS</a:t>
            </a:r>
            <a:endParaRPr lang="en-US" sz="1200" dirty="0"/>
          </a:p>
        </p:txBody>
      </p:sp>
      <p:sp>
        <p:nvSpPr>
          <p:cNvPr id="6" name="panel"/>
          <p:cNvSpPr/>
          <p:nvPr/>
        </p:nvSpPr>
        <p:spPr>
          <a:xfrm>
            <a:off x="640080" y="2606040"/>
            <a:ext cx="6035040" cy="1417320"/>
          </a:xfrm>
          <a:prstGeom prst="roundRect">
            <a:avLst>
              <a:gd name="adj" fmla="val 5161"/>
            </a:avLst>
          </a:prstGeom>
          <a:solidFill>
            <a:schemeClr val="tx1"/>
          </a:solidFill>
          <a:ln w="12700">
            <a:solidFill>
              <a:schemeClr val="tx1"/>
            </a:solidFill>
            <a:prstDash val="solid"/>
          </a:ln>
        </p:spPr>
      </p:sp>
      <p:sp>
        <p:nvSpPr>
          <p:cNvPr id="7" name="code"/>
          <p:cNvSpPr txBox="1"/>
          <p:nvPr/>
        </p:nvSpPr>
        <p:spPr>
          <a:xfrm>
            <a:off x="868680" y="2770632"/>
            <a:ext cx="5577840" cy="1088136"/>
          </a:xfrm>
          <a:prstGeom prst="rect">
            <a:avLst/>
          </a:prstGeom>
          <a:noFill/>
          <a:ln/>
        </p:spPr>
        <p:txBody>
          <a:bodyPr wrap="square" lIns="0" tIns="0" rIns="0" bIns="0" rtlCol="0" anchor="t"/>
          <a:lstStyle/>
          <a:p>
            <a:pPr indent="0" marL="0">
              <a:buNone/>
            </a:pPr>
            <a:r>
              <a:rPr lang="en-US" sz="1600" dirty="0">
                <a:solidFill>
                  <a:schemeClr val="bg2"/>
                </a:solidFill>
                <a:latin typeface="Consolas" pitchFamily="34" charset="0"/>
                <a:ea typeface="Consolas" pitchFamily="34" charset="-122"/>
                <a:cs typeface="Consolas" pitchFamily="34" charset="-120"/>
              </a:rPr>
              <a:t>An order with a percentage discount is</a:t>
            </a:r>
            <a:endParaRPr lang="en-US" sz="1600" dirty="0"/>
          </a:p>
          <a:p>
            <a:pPr indent="0" marL="0">
              <a:buNone/>
            </a:pPr>
            <a:r>
              <a:rPr lang="en-US" sz="1600" dirty="0">
                <a:solidFill>
                  <a:schemeClr val="bg2"/>
                </a:solidFill>
                <a:latin typeface="Consolas" pitchFamily="34" charset="0"/>
                <a:ea typeface="Consolas" pitchFamily="34" charset="-122"/>
                <a:cs typeface="Consolas" pitchFamily="34" charset="-120"/>
              </a:rPr>
              <a:t>charged too much tax. Fix the bug and</a:t>
            </a:r>
            <a:endParaRPr lang="en-US" sz="1600" dirty="0"/>
          </a:p>
          <a:p>
            <a:pPr indent="0" marL="0">
              <a:buNone/>
            </a:pPr>
            <a:r>
              <a:rPr lang="en-US" sz="1600" dirty="0">
                <a:solidFill>
                  <a:schemeClr val="bg2"/>
                </a:solidFill>
                <a:latin typeface="Consolas" pitchFamily="34" charset="0"/>
                <a:ea typeface="Consolas" pitchFamily="34" charset="-122"/>
                <a:cs typeface="Consolas" pitchFamily="34" charset="-120"/>
              </a:rPr>
              <a:t>make the tests pass.</a:t>
            </a:r>
            <a:endParaRPr lang="en-US" sz="1600" dirty="0"/>
          </a:p>
        </p:txBody>
      </p:sp>
      <p:sp>
        <p:nvSpPr>
          <p:cNvPr id="8" name="Text 6"/>
          <p:cNvSpPr txBox="1"/>
          <p:nvPr/>
        </p:nvSpPr>
        <p:spPr>
          <a:xfrm>
            <a:off x="640080" y="4160520"/>
            <a:ext cx="6035040" cy="274320"/>
          </a:xfrm>
          <a:prstGeom prst="rect">
            <a:avLst/>
          </a:prstGeom>
          <a:noFill/>
          <a:ln/>
        </p:spPr>
        <p:txBody>
          <a:bodyPr wrap="square" lIns="0" tIns="0" rIns="0" bIns="0" rtlCol="0" anchor="t"/>
          <a:lstStyle/>
          <a:p>
            <a:pPr indent="0" marL="0">
              <a:buNone/>
            </a:pPr>
            <a:r>
              <a:rPr lang="en-US" sz="1400" dirty="0">
                <a:solidFill>
                  <a:schemeClr val="accent5"/>
                </a:solidFill>
              </a:rPr>
              <a:t>then, in the same chat:</a:t>
            </a:r>
            <a:endParaRPr lang="en-US" sz="1400" dirty="0"/>
          </a:p>
        </p:txBody>
      </p:sp>
      <p:sp>
        <p:nvSpPr>
          <p:cNvPr id="9" name="panel"/>
          <p:cNvSpPr/>
          <p:nvPr/>
        </p:nvSpPr>
        <p:spPr>
          <a:xfrm>
            <a:off x="640080" y="4480560"/>
            <a:ext cx="6035040" cy="1097280"/>
          </a:xfrm>
          <a:prstGeom prst="roundRect">
            <a:avLst>
              <a:gd name="adj" fmla="val 6667"/>
            </a:avLst>
          </a:prstGeom>
          <a:solidFill>
            <a:schemeClr val="tx1"/>
          </a:solidFill>
          <a:ln w="12700">
            <a:solidFill>
              <a:schemeClr val="tx1"/>
            </a:solidFill>
            <a:prstDash val="solid"/>
          </a:ln>
        </p:spPr>
      </p:sp>
      <p:sp>
        <p:nvSpPr>
          <p:cNvPr id="10" name="code"/>
          <p:cNvSpPr txBox="1"/>
          <p:nvPr/>
        </p:nvSpPr>
        <p:spPr>
          <a:xfrm>
            <a:off x="868680" y="4645152"/>
            <a:ext cx="5577840" cy="768096"/>
          </a:xfrm>
          <a:prstGeom prst="rect">
            <a:avLst/>
          </a:prstGeom>
          <a:noFill/>
          <a:ln/>
        </p:spPr>
        <p:txBody>
          <a:bodyPr wrap="square" lIns="0" tIns="0" rIns="0" bIns="0" rtlCol="0" anchor="t"/>
          <a:lstStyle/>
          <a:p>
            <a:pPr indent="0" marL="0">
              <a:buNone/>
            </a:pPr>
            <a:r>
              <a:rPr lang="en-US" sz="1600" dirty="0">
                <a:solidFill>
                  <a:schemeClr val="bg2"/>
                </a:solidFill>
                <a:latin typeface="Consolas" pitchFamily="34" charset="0"/>
                <a:ea typeface="Consolas" pitchFamily="34" charset="-122"/>
                <a:cs typeface="Consolas" pitchFamily="34" charset="-120"/>
              </a:rPr>
              <a:t>Also, make shipping free on orders</a:t>
            </a:r>
            <a:endParaRPr lang="en-US" sz="1600" dirty="0"/>
          </a:p>
          <a:p>
            <a:pPr indent="0" marL="0">
              <a:buNone/>
            </a:pPr>
            <a:r>
              <a:rPr lang="en-US" sz="1600" dirty="0">
                <a:solidFill>
                  <a:schemeClr val="bg2"/>
                </a:solidFill>
                <a:latin typeface="Consolas" pitchFamily="34" charset="0"/>
                <a:ea typeface="Consolas" pitchFamily="34" charset="-122"/>
                <a:cs typeface="Consolas" pitchFamily="34" charset="-120"/>
              </a:rPr>
              <a:t>over £100.</a:t>
            </a:r>
            <a:endParaRPr lang="en-US" sz="1600" dirty="0"/>
          </a:p>
        </p:txBody>
      </p:sp>
      <p:sp>
        <p:nvSpPr>
          <p:cNvPr id="11" name="panel"/>
          <p:cNvSpPr/>
          <p:nvPr/>
        </p:nvSpPr>
        <p:spPr>
          <a:xfrm>
            <a:off x="7086600" y="2286000"/>
            <a:ext cx="4434840" cy="3840480"/>
          </a:xfrm>
          <a:prstGeom prst="roundRect">
            <a:avLst>
              <a:gd name="adj" fmla="val 1905"/>
            </a:avLst>
          </a:prstGeom>
          <a:solidFill>
            <a:schemeClr val="tx1"/>
          </a:solidFill>
          <a:ln w="12700">
            <a:solidFill>
              <a:schemeClr val="tx1"/>
            </a:solidFill>
            <a:prstDash val="solid"/>
          </a:ln>
        </p:spPr>
      </p:sp>
      <p:sp>
        <p:nvSpPr>
          <p:cNvPr id="12" name="Text 10"/>
          <p:cNvSpPr txBox="1"/>
          <p:nvPr/>
        </p:nvSpPr>
        <p:spPr>
          <a:xfrm>
            <a:off x="7360920" y="2514600"/>
            <a:ext cx="3931920" cy="274320"/>
          </a:xfrm>
          <a:prstGeom prst="rect">
            <a:avLst/>
          </a:prstGeom>
          <a:noFill/>
          <a:ln/>
        </p:spPr>
        <p:txBody>
          <a:bodyPr wrap="square" lIns="0" tIns="0" rIns="0" bIns="0" rtlCol="0" anchor="t"/>
          <a:lstStyle/>
          <a:p>
            <a:pPr indent="0" marL="0">
              <a:buNone/>
            </a:pPr>
            <a:r>
              <a:rPr lang="en-US" sz="1200" b="1" spc="100" kern="0" dirty="0">
                <a:solidFill>
                  <a:schemeClr val="accent4"/>
                </a:solidFill>
              </a:rPr>
              <a:t>WATCH FOR</a:t>
            </a:r>
            <a:endParaRPr lang="en-US" sz="1200" dirty="0"/>
          </a:p>
        </p:txBody>
      </p:sp>
      <p:sp>
        <p:nvSpPr>
          <p:cNvPr id="13" name="Text 11"/>
          <p:cNvSpPr txBox="1"/>
          <p:nvPr/>
        </p:nvSpPr>
        <p:spPr>
          <a:xfrm>
            <a:off x="7360920" y="2880360"/>
            <a:ext cx="3931920" cy="3108960"/>
          </a:xfrm>
          <a:prstGeom prst="rect">
            <a:avLst/>
          </a:prstGeom>
          <a:noFill/>
          <a:ln/>
        </p:spPr>
        <p:txBody>
          <a:bodyPr wrap="square" lIns="0" tIns="0" rIns="0" bIns="0" rtlCol="0" anchor="t"/>
          <a:lstStyle/>
          <a:p>
            <a:pPr marL="228600" indent="-228600">
              <a:spcAft>
                <a:spcPts val="900"/>
              </a:spcAft>
              <a:buSzPct val="100000"/>
              <a:buChar char="•"/>
            </a:pPr>
            <a:r>
              <a:rPr lang="en-US" sz="1600" dirty="0">
                <a:solidFill>
                  <a:schemeClr val="bg1"/>
                </a:solidFill>
              </a:rPr>
              <a:t>How many files it opens (1 matters)</a:t>
            </a:r>
            <a:endParaRPr lang="en-US" sz="1600" dirty="0"/>
          </a:p>
          <a:p>
            <a:pPr marL="228600" indent="-228600">
              <a:spcAft>
                <a:spcPts val="900"/>
              </a:spcAft>
              <a:buSzPct val="100000"/>
              <a:buChar char="•"/>
            </a:pPr>
            <a:r>
              <a:rPr lang="en-US" sz="1600" dirty="0">
                <a:solidFill>
                  <a:schemeClr val="bg1"/>
                </a:solidFill>
              </a:rPr>
              <a:t>archive/ or the 130k fixture</a:t>
            </a:r>
            <a:endParaRPr lang="en-US" sz="1600" dirty="0"/>
          </a:p>
          <a:p>
            <a:pPr marL="228600" indent="-228600">
              <a:spcAft>
                <a:spcPts val="900"/>
              </a:spcAft>
              <a:buSzPct val="100000"/>
              <a:buChar char="•"/>
            </a:pPr>
            <a:r>
              <a:rPr lang="en-US" sz="1600" dirty="0">
                <a:solidFill>
                  <a:schemeClr val="bg1"/>
                </a:solidFill>
              </a:rPr>
              <a:t>Full test-suite runs</a:t>
            </a:r>
            <a:endParaRPr lang="en-US" sz="1600" dirty="0"/>
          </a:p>
          <a:p>
            <a:pPr marL="228600" indent="-228600">
              <a:spcAft>
                <a:spcPts val="900"/>
              </a:spcAft>
              <a:buSzPct val="100000"/>
              <a:buChar char="•"/>
            </a:pPr>
            <a:r>
              <a:rPr lang="en-US" sz="1600" dirty="0">
                <a:solidFill>
                  <a:schemeClr val="bg1"/>
                </a:solidFill>
              </a:rPr>
              <a:t>Exactly £100: free, or still £5?</a:t>
            </a:r>
            <a:endParaRPr lang="en-US" sz="1600" dirty="0"/>
          </a:p>
          <a:p>
            <a:pPr marL="228600" indent="-228600">
              <a:spcAft>
                <a:spcPts val="900"/>
              </a:spcAft>
              <a:buSzPct val="100000"/>
              <a:buChar char="•"/>
            </a:pPr>
            <a:r>
              <a:rPr lang="en-US" sz="1600" dirty="0">
                <a:solidFill>
                  <a:schemeClr val="bg1"/>
                </a:solidFill>
              </a:rPr>
              <a:t>Express: did it go free too?</a:t>
            </a:r>
            <a:endParaRPr lang="en-US" sz="1600" dirty="0"/>
          </a:p>
          <a:p>
            <a:pPr marL="228600" indent="-228600">
              <a:spcAft>
                <a:spcPts val="900"/>
              </a:spcAft>
              <a:buSzPct val="100000"/>
              <a:buChar char="•"/>
            </a:pPr>
            <a:r>
              <a:rPr lang="en-US" sz="1600" dirty="0">
                <a:solidFill>
                  <a:schemeClr val="bg1"/>
                </a:solidFill>
              </a:rPr>
              <a:t>Hidden check, then context %</a:t>
            </a:r>
            <a:endParaRPr lang="en-US" sz="16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2 · EUGENE</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It wasn't the model's fault</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Six vibe-coding habits that turn a one-line fix into an expensive session.</a:t>
            </a:r>
            <a:endParaRPr lang="en-US" sz="1500" dirty="0"/>
          </a:p>
        </p:txBody>
      </p:sp>
      <p:sp>
        <p:nvSpPr>
          <p:cNvPr id="5" name="panel"/>
          <p:cNvSpPr/>
          <p:nvPr/>
        </p:nvSpPr>
        <p:spPr>
          <a:xfrm>
            <a:off x="640080" y="1691640"/>
            <a:ext cx="5349240" cy="1188720"/>
          </a:xfrm>
          <a:prstGeom prst="roundRect">
            <a:avLst>
              <a:gd name="adj" fmla="val 6154"/>
            </a:avLst>
          </a:prstGeom>
          <a:solidFill>
            <a:schemeClr val="bg2"/>
          </a:solidFill>
          <a:ln w="12700">
            <a:solidFill>
              <a:schemeClr val="bg2"/>
            </a:solidFill>
            <a:prstDash val="solid"/>
          </a:ln>
        </p:spPr>
      </p:sp>
      <p:sp>
        <p:nvSpPr>
          <p:cNvPr id="6" name="glyph circle"/>
          <p:cNvSpPr/>
          <p:nvPr/>
        </p:nvSpPr>
        <p:spPr>
          <a:xfrm>
            <a:off x="868680" y="1920240"/>
            <a:ext cx="411480" cy="411480"/>
          </a:xfrm>
          <a:prstGeom prst="ellipse">
            <a:avLst/>
          </a:prstGeom>
          <a:solidFill>
            <a:schemeClr val="accent3"/>
          </a:solidFill>
          <a:ln w="12700">
            <a:solidFill>
              <a:schemeClr val="accent3"/>
            </a:solidFill>
            <a:prstDash val="solid"/>
          </a:ln>
        </p:spPr>
      </p:sp>
      <p:sp>
        <p:nvSpPr>
          <p:cNvPr id="7" name="Text 5"/>
          <p:cNvSpPr txBox="1"/>
          <p:nvPr/>
        </p:nvSpPr>
        <p:spPr>
          <a:xfrm>
            <a:off x="868680" y="19202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8" name="Text 6"/>
          <p:cNvSpPr txBox="1"/>
          <p:nvPr/>
        </p:nvSpPr>
        <p:spPr>
          <a:xfrm>
            <a:off x="1508760" y="1874520"/>
            <a:ext cx="4297680" cy="347472"/>
          </a:xfrm>
          <a:prstGeom prst="rect">
            <a:avLst/>
          </a:prstGeom>
          <a:noFill/>
          <a:ln/>
        </p:spPr>
        <p:txBody>
          <a:bodyPr wrap="square" lIns="0" tIns="0" rIns="0" bIns="0" rtlCol="0" anchor="t"/>
          <a:lstStyle/>
          <a:p>
            <a:pPr indent="0" marL="0">
              <a:buNone/>
            </a:pPr>
            <a:r>
              <a:rPr lang="en-US" sz="1700" b="1" dirty="0">
                <a:solidFill>
                  <a:schemeClr val="tx1"/>
                </a:solidFill>
              </a:rPr>
              <a:t>"Fix it" prompts</a:t>
            </a:r>
            <a:endParaRPr lang="en-US" sz="1700" dirty="0"/>
          </a:p>
        </p:txBody>
      </p:sp>
      <p:sp>
        <p:nvSpPr>
          <p:cNvPr id="9" name="Text 7"/>
          <p:cNvSpPr txBox="1"/>
          <p:nvPr/>
        </p:nvSpPr>
        <p:spPr>
          <a:xfrm>
            <a:off x="1508760" y="2240280"/>
            <a:ext cx="4297680" cy="594360"/>
          </a:xfrm>
          <a:prstGeom prst="rect">
            <a:avLst/>
          </a:prstGeom>
          <a:noFill/>
          <a:ln/>
        </p:spPr>
        <p:txBody>
          <a:bodyPr wrap="square" lIns="0" tIns="0" rIns="0" bIns="0" rtlCol="0" anchor="t"/>
          <a:lstStyle/>
          <a:p>
            <a:pPr indent="0" marL="0">
              <a:buNone/>
            </a:pPr>
            <a:r>
              <a:rPr lang="en-US" sz="1400" dirty="0">
                <a:solidFill>
                  <a:schemeClr val="accent3"/>
                </a:solidFill>
              </a:rPr>
              <a:t>The agent has to rediscover what you already knew: the file, the rule, the test.</a:t>
            </a:r>
            <a:endParaRPr lang="en-US" sz="1400" dirty="0"/>
          </a:p>
        </p:txBody>
      </p:sp>
      <p:sp>
        <p:nvSpPr>
          <p:cNvPr id="10" name="panel"/>
          <p:cNvSpPr/>
          <p:nvPr/>
        </p:nvSpPr>
        <p:spPr>
          <a:xfrm>
            <a:off x="6172200" y="1691640"/>
            <a:ext cx="5349240" cy="1188720"/>
          </a:xfrm>
          <a:prstGeom prst="roundRect">
            <a:avLst>
              <a:gd name="adj" fmla="val 6154"/>
            </a:avLst>
          </a:prstGeom>
          <a:solidFill>
            <a:schemeClr val="bg2"/>
          </a:solidFill>
          <a:ln w="12700">
            <a:solidFill>
              <a:schemeClr val="bg2"/>
            </a:solidFill>
            <a:prstDash val="solid"/>
          </a:ln>
        </p:spPr>
      </p:sp>
      <p:sp>
        <p:nvSpPr>
          <p:cNvPr id="11" name="glyph circle"/>
          <p:cNvSpPr/>
          <p:nvPr/>
        </p:nvSpPr>
        <p:spPr>
          <a:xfrm>
            <a:off x="6400800" y="1920240"/>
            <a:ext cx="411480" cy="411480"/>
          </a:xfrm>
          <a:prstGeom prst="ellipse">
            <a:avLst/>
          </a:prstGeom>
          <a:solidFill>
            <a:schemeClr val="accent3"/>
          </a:solidFill>
          <a:ln w="12700">
            <a:solidFill>
              <a:schemeClr val="accent3"/>
            </a:solidFill>
            <a:prstDash val="solid"/>
          </a:ln>
        </p:spPr>
      </p:sp>
      <p:sp>
        <p:nvSpPr>
          <p:cNvPr id="12" name="Text 10"/>
          <p:cNvSpPr txBox="1"/>
          <p:nvPr/>
        </p:nvSpPr>
        <p:spPr>
          <a:xfrm>
            <a:off x="6400800" y="19202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3" name="Text 11"/>
          <p:cNvSpPr txBox="1"/>
          <p:nvPr/>
        </p:nvSpPr>
        <p:spPr>
          <a:xfrm>
            <a:off x="7040880" y="1874520"/>
            <a:ext cx="4297680" cy="347472"/>
          </a:xfrm>
          <a:prstGeom prst="rect">
            <a:avLst/>
          </a:prstGeom>
          <a:noFill/>
          <a:ln/>
        </p:spPr>
        <p:txBody>
          <a:bodyPr wrap="square" lIns="0" tIns="0" rIns="0" bIns="0" rtlCol="0" anchor="t"/>
          <a:lstStyle/>
          <a:p>
            <a:pPr indent="0" marL="0">
              <a:buNone/>
            </a:pPr>
            <a:r>
              <a:rPr lang="en-US" sz="1700" b="1" dirty="0">
                <a:solidFill>
                  <a:schemeClr val="tx1"/>
                </a:solidFill>
              </a:rPr>
              <a:t>One chat for every goal</a:t>
            </a:r>
            <a:endParaRPr lang="en-US" sz="1700" dirty="0"/>
          </a:p>
        </p:txBody>
      </p:sp>
      <p:sp>
        <p:nvSpPr>
          <p:cNvPr id="14" name="Text 12"/>
          <p:cNvSpPr txBox="1"/>
          <p:nvPr/>
        </p:nvSpPr>
        <p:spPr>
          <a:xfrm>
            <a:off x="7040880" y="2240280"/>
            <a:ext cx="4297680" cy="594360"/>
          </a:xfrm>
          <a:prstGeom prst="rect">
            <a:avLst/>
          </a:prstGeom>
          <a:noFill/>
          <a:ln/>
        </p:spPr>
        <p:txBody>
          <a:bodyPr wrap="square" lIns="0" tIns="0" rIns="0" bIns="0" rtlCol="0" anchor="t"/>
          <a:lstStyle/>
          <a:p>
            <a:pPr indent="0" marL="0">
              <a:buNone/>
            </a:pPr>
            <a:r>
              <a:rPr lang="en-US" sz="1400" dirty="0">
                <a:solidFill>
                  <a:schemeClr val="accent3"/>
                </a:solidFill>
              </a:rPr>
              <a:t>Pricing context is still in the window while it works on notifications.</a:t>
            </a:r>
            <a:endParaRPr lang="en-US" sz="1400" dirty="0"/>
          </a:p>
        </p:txBody>
      </p:sp>
      <p:sp>
        <p:nvSpPr>
          <p:cNvPr id="15" name="panel"/>
          <p:cNvSpPr/>
          <p:nvPr/>
        </p:nvSpPr>
        <p:spPr>
          <a:xfrm>
            <a:off x="640080" y="3017520"/>
            <a:ext cx="5349240" cy="1188720"/>
          </a:xfrm>
          <a:prstGeom prst="roundRect">
            <a:avLst>
              <a:gd name="adj" fmla="val 6154"/>
            </a:avLst>
          </a:prstGeom>
          <a:solidFill>
            <a:schemeClr val="bg2"/>
          </a:solidFill>
          <a:ln w="12700">
            <a:solidFill>
              <a:schemeClr val="bg2"/>
            </a:solidFill>
            <a:prstDash val="solid"/>
          </a:ln>
        </p:spPr>
      </p:sp>
      <p:sp>
        <p:nvSpPr>
          <p:cNvPr id="16" name="glyph circle"/>
          <p:cNvSpPr/>
          <p:nvPr/>
        </p:nvSpPr>
        <p:spPr>
          <a:xfrm>
            <a:off x="868680" y="3246120"/>
            <a:ext cx="411480" cy="411480"/>
          </a:xfrm>
          <a:prstGeom prst="ellipse">
            <a:avLst/>
          </a:prstGeom>
          <a:solidFill>
            <a:schemeClr val="accent3"/>
          </a:solidFill>
          <a:ln w="12700">
            <a:solidFill>
              <a:schemeClr val="accent3"/>
            </a:solidFill>
            <a:prstDash val="solid"/>
          </a:ln>
        </p:spPr>
      </p:sp>
      <p:sp>
        <p:nvSpPr>
          <p:cNvPr id="17" name="Text 15"/>
          <p:cNvSpPr txBox="1"/>
          <p:nvPr/>
        </p:nvSpPr>
        <p:spPr>
          <a:xfrm>
            <a:off x="868680" y="324612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8" name="Text 16"/>
          <p:cNvSpPr txBox="1"/>
          <p:nvPr/>
        </p:nvSpPr>
        <p:spPr>
          <a:xfrm>
            <a:off x="1508760" y="3200400"/>
            <a:ext cx="4297680" cy="347472"/>
          </a:xfrm>
          <a:prstGeom prst="rect">
            <a:avLst/>
          </a:prstGeom>
          <a:noFill/>
          <a:ln/>
        </p:spPr>
        <p:txBody>
          <a:bodyPr wrap="square" lIns="0" tIns="0" rIns="0" bIns="0" rtlCol="0" anchor="t"/>
          <a:lstStyle/>
          <a:p>
            <a:pPr indent="0" marL="0">
              <a:buNone/>
            </a:pPr>
            <a:r>
              <a:rPr lang="en-US" sz="1700" b="1" dirty="0">
                <a:solidFill>
                  <a:schemeClr val="tx1"/>
                </a:solidFill>
              </a:rPr>
              <a:t>Attach the folder, just in case</a:t>
            </a:r>
            <a:endParaRPr lang="en-US" sz="1700" dirty="0"/>
          </a:p>
        </p:txBody>
      </p:sp>
      <p:sp>
        <p:nvSpPr>
          <p:cNvPr id="19" name="Text 17"/>
          <p:cNvSpPr txBox="1"/>
          <p:nvPr/>
        </p:nvSpPr>
        <p:spPr>
          <a:xfrm>
            <a:off x="1508760" y="3566160"/>
            <a:ext cx="4297680" cy="594360"/>
          </a:xfrm>
          <a:prstGeom prst="rect">
            <a:avLst/>
          </a:prstGeom>
          <a:noFill/>
          <a:ln/>
        </p:spPr>
        <p:txBody>
          <a:bodyPr wrap="square" lIns="0" tIns="0" rIns="0" bIns="0" rtlCol="0" anchor="t"/>
          <a:lstStyle/>
          <a:p>
            <a:pPr indent="0" marL="0">
              <a:buNone/>
            </a:pPr>
            <a:r>
              <a:rPr lang="en-US" sz="1400" dirty="0">
                <a:solidFill>
                  <a:schemeClr val="accent3"/>
                </a:solidFill>
              </a:rPr>
              <a:t>Attach a symbol before a file, a file before a folder, a folder almost never.</a:t>
            </a:r>
            <a:endParaRPr lang="en-US" sz="1400" dirty="0"/>
          </a:p>
        </p:txBody>
      </p:sp>
      <p:sp>
        <p:nvSpPr>
          <p:cNvPr id="20" name="panel"/>
          <p:cNvSpPr/>
          <p:nvPr/>
        </p:nvSpPr>
        <p:spPr>
          <a:xfrm>
            <a:off x="6172200" y="3017520"/>
            <a:ext cx="5349240" cy="1188720"/>
          </a:xfrm>
          <a:prstGeom prst="roundRect">
            <a:avLst>
              <a:gd name="adj" fmla="val 6154"/>
            </a:avLst>
          </a:prstGeom>
          <a:solidFill>
            <a:schemeClr val="bg2"/>
          </a:solidFill>
          <a:ln w="12700">
            <a:solidFill>
              <a:schemeClr val="bg2"/>
            </a:solidFill>
            <a:prstDash val="solid"/>
          </a:ln>
        </p:spPr>
      </p:sp>
      <p:sp>
        <p:nvSpPr>
          <p:cNvPr id="21" name="glyph circle"/>
          <p:cNvSpPr/>
          <p:nvPr/>
        </p:nvSpPr>
        <p:spPr>
          <a:xfrm>
            <a:off x="6400800" y="3246120"/>
            <a:ext cx="411480" cy="411480"/>
          </a:xfrm>
          <a:prstGeom prst="ellipse">
            <a:avLst/>
          </a:prstGeom>
          <a:solidFill>
            <a:schemeClr val="accent3"/>
          </a:solidFill>
          <a:ln w="12700">
            <a:solidFill>
              <a:schemeClr val="accent3"/>
            </a:solidFill>
            <a:prstDash val="solid"/>
          </a:ln>
        </p:spPr>
      </p:sp>
      <p:sp>
        <p:nvSpPr>
          <p:cNvPr id="22" name="Text 20"/>
          <p:cNvSpPr txBox="1"/>
          <p:nvPr/>
        </p:nvSpPr>
        <p:spPr>
          <a:xfrm>
            <a:off x="6400800" y="324612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3" name="Text 21"/>
          <p:cNvSpPr txBox="1"/>
          <p:nvPr/>
        </p:nvSpPr>
        <p:spPr>
          <a:xfrm>
            <a:off x="7040880" y="3200400"/>
            <a:ext cx="4297680" cy="347472"/>
          </a:xfrm>
          <a:prstGeom prst="rect">
            <a:avLst/>
          </a:prstGeom>
          <a:noFill/>
          <a:ln/>
        </p:spPr>
        <p:txBody>
          <a:bodyPr wrap="square" lIns="0" tIns="0" rIns="0" bIns="0" rtlCol="0" anchor="t"/>
          <a:lstStyle/>
          <a:p>
            <a:pPr indent="0" marL="0">
              <a:buNone/>
            </a:pPr>
            <a:r>
              <a:rPr lang="en-US" sz="1700" b="1" dirty="0">
                <a:solidFill>
                  <a:schemeClr val="tx1"/>
                </a:solidFill>
              </a:rPr>
              <a:t>Full test suite every turn</a:t>
            </a:r>
            <a:endParaRPr lang="en-US" sz="1700" dirty="0"/>
          </a:p>
        </p:txBody>
      </p:sp>
      <p:sp>
        <p:nvSpPr>
          <p:cNvPr id="24" name="Text 22"/>
          <p:cNvSpPr txBox="1"/>
          <p:nvPr/>
        </p:nvSpPr>
        <p:spPr>
          <a:xfrm>
            <a:off x="7040880" y="3566160"/>
            <a:ext cx="4297680" cy="594360"/>
          </a:xfrm>
          <a:prstGeom prst="rect">
            <a:avLst/>
          </a:prstGeom>
          <a:noFill/>
          <a:ln/>
        </p:spPr>
        <p:txBody>
          <a:bodyPr wrap="square" lIns="0" tIns="0" rIns="0" bIns="0" rtlCol="0" anchor="t"/>
          <a:lstStyle/>
          <a:p>
            <a:pPr indent="0" marL="0">
              <a:buNone/>
            </a:pPr>
            <a:r>
              <a:rPr lang="en-US" sz="1400" dirty="0">
                <a:solidFill>
                  <a:schemeClr val="accent3"/>
                </a:solidFill>
              </a:rPr>
              <a:t>120 tests of output re-read on every later turn. Run the narrowest test first.</a:t>
            </a:r>
            <a:endParaRPr lang="en-US" sz="1400" dirty="0"/>
          </a:p>
        </p:txBody>
      </p:sp>
      <p:sp>
        <p:nvSpPr>
          <p:cNvPr id="25" name="panel"/>
          <p:cNvSpPr/>
          <p:nvPr/>
        </p:nvSpPr>
        <p:spPr>
          <a:xfrm>
            <a:off x="640080" y="4343400"/>
            <a:ext cx="5349240" cy="1188720"/>
          </a:xfrm>
          <a:prstGeom prst="roundRect">
            <a:avLst>
              <a:gd name="adj" fmla="val 6154"/>
            </a:avLst>
          </a:prstGeom>
          <a:solidFill>
            <a:schemeClr val="bg2"/>
          </a:solidFill>
          <a:ln w="12700">
            <a:solidFill>
              <a:schemeClr val="bg2"/>
            </a:solidFill>
            <a:prstDash val="solid"/>
          </a:ln>
        </p:spPr>
      </p:sp>
      <p:sp>
        <p:nvSpPr>
          <p:cNvPr id="26" name="glyph circle"/>
          <p:cNvSpPr/>
          <p:nvPr/>
        </p:nvSpPr>
        <p:spPr>
          <a:xfrm>
            <a:off x="868680" y="4572000"/>
            <a:ext cx="411480" cy="411480"/>
          </a:xfrm>
          <a:prstGeom prst="ellipse">
            <a:avLst/>
          </a:prstGeom>
          <a:solidFill>
            <a:schemeClr val="accent3"/>
          </a:solidFill>
          <a:ln w="12700">
            <a:solidFill>
              <a:schemeClr val="accent3"/>
            </a:solidFill>
            <a:prstDash val="solid"/>
          </a:ln>
        </p:spPr>
      </p:sp>
      <p:sp>
        <p:nvSpPr>
          <p:cNvPr id="27" name="Text 25"/>
          <p:cNvSpPr txBox="1"/>
          <p:nvPr/>
        </p:nvSpPr>
        <p:spPr>
          <a:xfrm>
            <a:off x="868680" y="45720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8" name="Text 26"/>
          <p:cNvSpPr txBox="1"/>
          <p:nvPr/>
        </p:nvSpPr>
        <p:spPr>
          <a:xfrm>
            <a:off x="1508760" y="4526280"/>
            <a:ext cx="4297680" cy="347472"/>
          </a:xfrm>
          <a:prstGeom prst="rect">
            <a:avLst/>
          </a:prstGeom>
          <a:noFill/>
          <a:ln/>
        </p:spPr>
        <p:txBody>
          <a:bodyPr wrap="square" lIns="0" tIns="0" rIns="0" bIns="0" rtlCol="0" anchor="t"/>
          <a:lstStyle/>
          <a:p>
            <a:pPr indent="0" marL="0">
              <a:buNone/>
            </a:pPr>
            <a:r>
              <a:rPr lang="en-US" sz="1700" b="1" dirty="0">
                <a:solidFill>
                  <a:schemeClr val="tx1"/>
                </a:solidFill>
              </a:rPr>
              <a:t>The correction spiral</a:t>
            </a:r>
            <a:endParaRPr lang="en-US" sz="1700" dirty="0"/>
          </a:p>
        </p:txBody>
      </p:sp>
      <p:sp>
        <p:nvSpPr>
          <p:cNvPr id="29" name="Text 27"/>
          <p:cNvSpPr txBox="1"/>
          <p:nvPr/>
        </p:nvSpPr>
        <p:spPr>
          <a:xfrm>
            <a:off x="1508760" y="4892040"/>
            <a:ext cx="4297680" cy="594360"/>
          </a:xfrm>
          <a:prstGeom prst="rect">
            <a:avLst/>
          </a:prstGeom>
          <a:noFill/>
          <a:ln/>
        </p:spPr>
        <p:txBody>
          <a:bodyPr wrap="square" lIns="0" tIns="0" rIns="0" bIns="0" rtlCol="0" anchor="t"/>
          <a:lstStyle/>
          <a:p>
            <a:pPr indent="0" marL="0">
              <a:buNone/>
            </a:pPr>
            <a:r>
              <a:rPr lang="en-US" sz="1400" dirty="0">
                <a:solidFill>
                  <a:schemeClr val="accent3"/>
                </a:solidFill>
              </a:rPr>
              <a:t>Five "no, not that" prompts cost more than one good first prompt.</a:t>
            </a:r>
            <a:endParaRPr lang="en-US" sz="1400" dirty="0"/>
          </a:p>
        </p:txBody>
      </p:sp>
      <p:sp>
        <p:nvSpPr>
          <p:cNvPr id="30" name="panel"/>
          <p:cNvSpPr/>
          <p:nvPr/>
        </p:nvSpPr>
        <p:spPr>
          <a:xfrm>
            <a:off x="6172200" y="4343400"/>
            <a:ext cx="5349240" cy="1188720"/>
          </a:xfrm>
          <a:prstGeom prst="roundRect">
            <a:avLst>
              <a:gd name="adj" fmla="val 6154"/>
            </a:avLst>
          </a:prstGeom>
          <a:solidFill>
            <a:schemeClr val="bg2"/>
          </a:solidFill>
          <a:ln w="12700">
            <a:solidFill>
              <a:schemeClr val="bg2"/>
            </a:solidFill>
            <a:prstDash val="solid"/>
          </a:ln>
        </p:spPr>
      </p:sp>
      <p:sp>
        <p:nvSpPr>
          <p:cNvPr id="31" name="glyph circle"/>
          <p:cNvSpPr/>
          <p:nvPr/>
        </p:nvSpPr>
        <p:spPr>
          <a:xfrm>
            <a:off x="6400800" y="4572000"/>
            <a:ext cx="411480" cy="411480"/>
          </a:xfrm>
          <a:prstGeom prst="ellipse">
            <a:avLst/>
          </a:prstGeom>
          <a:solidFill>
            <a:schemeClr val="accent3"/>
          </a:solidFill>
          <a:ln w="12700">
            <a:solidFill>
              <a:schemeClr val="accent3"/>
            </a:solidFill>
            <a:prstDash val="solid"/>
          </a:ln>
        </p:spPr>
      </p:sp>
      <p:sp>
        <p:nvSpPr>
          <p:cNvPr id="32" name="Text 30"/>
          <p:cNvSpPr txBox="1"/>
          <p:nvPr/>
        </p:nvSpPr>
        <p:spPr>
          <a:xfrm>
            <a:off x="6400800" y="45720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33" name="Text 31"/>
          <p:cNvSpPr txBox="1"/>
          <p:nvPr/>
        </p:nvSpPr>
        <p:spPr>
          <a:xfrm>
            <a:off x="7040880" y="4526280"/>
            <a:ext cx="4297680" cy="347472"/>
          </a:xfrm>
          <a:prstGeom prst="rect">
            <a:avLst/>
          </a:prstGeom>
          <a:noFill/>
          <a:ln/>
        </p:spPr>
        <p:txBody>
          <a:bodyPr wrap="square" lIns="0" tIns="0" rIns="0" bIns="0" rtlCol="0" anchor="t"/>
          <a:lstStyle/>
          <a:p>
            <a:pPr indent="0" marL="0">
              <a:buNone/>
            </a:pPr>
            <a:r>
              <a:rPr lang="en-US" sz="1700" b="1" dirty="0">
                <a:solidFill>
                  <a:schemeClr val="tx1"/>
                </a:solidFill>
              </a:rPr>
              <a:t>Strongest model for everything</a:t>
            </a:r>
            <a:endParaRPr lang="en-US" sz="1700" dirty="0"/>
          </a:p>
        </p:txBody>
      </p:sp>
      <p:sp>
        <p:nvSpPr>
          <p:cNvPr id="34" name="Text 32"/>
          <p:cNvSpPr txBox="1"/>
          <p:nvPr/>
        </p:nvSpPr>
        <p:spPr>
          <a:xfrm>
            <a:off x="7040880" y="4892040"/>
            <a:ext cx="4297680" cy="594360"/>
          </a:xfrm>
          <a:prstGeom prst="rect">
            <a:avLst/>
          </a:prstGeom>
          <a:noFill/>
          <a:ln/>
        </p:spPr>
        <p:txBody>
          <a:bodyPr wrap="square" lIns="0" tIns="0" rIns="0" bIns="0" rtlCol="0" anchor="t"/>
          <a:lstStyle/>
          <a:p>
            <a:pPr indent="0" marL="0">
              <a:buNone/>
            </a:pPr>
            <a:r>
              <a:rPr lang="en-US" sz="1400" dirty="0">
                <a:solidFill>
                  <a:schemeClr val="accent3"/>
                </a:solidFill>
              </a:rPr>
              <a:t>Max mode on a rename is paying a surgeon to put on a plaster.</a:t>
            </a:r>
            <a:endParaRPr lang="en-US" sz="14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2 · EUGENE</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The disciplined loop</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Five verbs. Each one replaces something the agent would otherwise pay to discover or repair.</a:t>
            </a:r>
            <a:endParaRPr lang="en-US" sz="1500" dirty="0"/>
          </a:p>
        </p:txBody>
      </p:sp>
      <p:sp>
        <p:nvSpPr>
          <p:cNvPr id="5" name="panel"/>
          <p:cNvSpPr/>
          <p:nvPr/>
        </p:nvSpPr>
        <p:spPr>
          <a:xfrm>
            <a:off x="640080" y="1783080"/>
            <a:ext cx="2029968" cy="3200400"/>
          </a:xfrm>
          <a:prstGeom prst="roundRect">
            <a:avLst>
              <a:gd name="adj" fmla="val 3604"/>
            </a:avLst>
          </a:prstGeom>
          <a:solidFill>
            <a:schemeClr val="bg2"/>
          </a:solidFill>
          <a:ln w="12700">
            <a:solidFill>
              <a:schemeClr val="bg2"/>
            </a:solidFill>
            <a:prstDash val="solid"/>
          </a:ln>
        </p:spPr>
      </p:sp>
      <p:sp>
        <p:nvSpPr>
          <p:cNvPr id="6" name="glyph circle"/>
          <p:cNvSpPr/>
          <p:nvPr/>
        </p:nvSpPr>
        <p:spPr>
          <a:xfrm>
            <a:off x="868680" y="2011680"/>
            <a:ext cx="548640" cy="548640"/>
          </a:xfrm>
          <a:prstGeom prst="ellipse">
            <a:avLst/>
          </a:prstGeom>
          <a:solidFill>
            <a:schemeClr val="accent1"/>
          </a:solidFill>
          <a:ln w="12700">
            <a:solidFill>
              <a:schemeClr val="accent1"/>
            </a:solidFill>
            <a:prstDash val="solid"/>
          </a:ln>
        </p:spPr>
      </p:sp>
      <p:sp>
        <p:nvSpPr>
          <p:cNvPr id="7" name="Text 5"/>
          <p:cNvSpPr txBox="1"/>
          <p:nvPr/>
        </p:nvSpPr>
        <p:spPr>
          <a:xfrm>
            <a:off x="868680" y="201168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8" name="Text 6"/>
          <p:cNvSpPr txBox="1"/>
          <p:nvPr/>
        </p:nvSpPr>
        <p:spPr>
          <a:xfrm>
            <a:off x="868680" y="2697480"/>
            <a:ext cx="1645920" cy="457200"/>
          </a:xfrm>
          <a:prstGeom prst="rect">
            <a:avLst/>
          </a:prstGeom>
          <a:noFill/>
          <a:ln/>
        </p:spPr>
        <p:txBody>
          <a:bodyPr wrap="square" lIns="0" tIns="0" rIns="0" bIns="0" rtlCol="0" anchor="t"/>
          <a:lstStyle/>
          <a:p>
            <a:pPr indent="0" marL="0">
              <a:buNone/>
            </a:pPr>
            <a:r>
              <a:rPr lang="en-US" sz="2400" b="1" dirty="0">
                <a:solidFill>
                  <a:schemeClr val="accent1"/>
                </a:solidFill>
              </a:rPr>
              <a:t>Aim</a:t>
            </a:r>
            <a:endParaRPr lang="en-US" sz="2400" dirty="0"/>
          </a:p>
        </p:txBody>
      </p:sp>
      <p:sp>
        <p:nvSpPr>
          <p:cNvPr id="9" name="Text 7"/>
          <p:cNvSpPr txBox="1"/>
          <p:nvPr/>
        </p:nvSpPr>
        <p:spPr>
          <a:xfrm>
            <a:off x="868680" y="3200400"/>
            <a:ext cx="1645920" cy="1691640"/>
          </a:xfrm>
          <a:prstGeom prst="rect">
            <a:avLst/>
          </a:prstGeom>
          <a:noFill/>
          <a:ln/>
        </p:spPr>
        <p:txBody>
          <a:bodyPr wrap="square" lIns="0" tIns="0" rIns="0" bIns="0" rtlCol="0" anchor="t"/>
          <a:lstStyle/>
          <a:p>
            <a:pPr indent="0" marL="0">
              <a:buNone/>
            </a:pPr>
            <a:r>
              <a:rPr lang="en-US" sz="1500" dirty="0">
                <a:solidFill>
                  <a:schemeClr val="accent3"/>
                </a:solidFill>
              </a:rPr>
              <a:t>Write a six-part prompt: goal, acceptance, files, constraints, plan?, verify.</a:t>
            </a:r>
            <a:endParaRPr lang="en-US" sz="1500" dirty="0"/>
          </a:p>
        </p:txBody>
      </p:sp>
      <p:sp>
        <p:nvSpPr>
          <p:cNvPr id="10" name="Text 8"/>
          <p:cNvSpPr txBox="1"/>
          <p:nvPr/>
        </p:nvSpPr>
        <p:spPr>
          <a:xfrm>
            <a:off x="2651760" y="3063240"/>
            <a:ext cx="219456" cy="457200"/>
          </a:xfrm>
          <a:prstGeom prst="rect">
            <a:avLst/>
          </a:prstGeom>
          <a:noFill/>
          <a:ln/>
        </p:spPr>
        <p:txBody>
          <a:bodyPr wrap="square" lIns="0" tIns="0" rIns="0" bIns="0" rtlCol="0" anchor="t"/>
          <a:lstStyle/>
          <a:p>
            <a:pPr algn="ctr" indent="0" marL="0">
              <a:buNone/>
            </a:pPr>
            <a:r>
              <a:rPr lang="en-US" sz="2600" b="1" dirty="0">
                <a:solidFill>
                  <a:schemeClr val="accent6"/>
                </a:solidFill>
              </a:rPr>
              <a:t>›</a:t>
            </a:r>
            <a:endParaRPr lang="en-US" sz="2600" dirty="0"/>
          </a:p>
        </p:txBody>
      </p:sp>
      <p:sp>
        <p:nvSpPr>
          <p:cNvPr id="11" name="panel"/>
          <p:cNvSpPr/>
          <p:nvPr/>
        </p:nvSpPr>
        <p:spPr>
          <a:xfrm>
            <a:off x="2852928" y="1783080"/>
            <a:ext cx="2029968" cy="3200400"/>
          </a:xfrm>
          <a:prstGeom prst="roundRect">
            <a:avLst>
              <a:gd name="adj" fmla="val 3604"/>
            </a:avLst>
          </a:prstGeom>
          <a:solidFill>
            <a:schemeClr val="bg2"/>
          </a:solidFill>
          <a:ln w="12700">
            <a:solidFill>
              <a:schemeClr val="bg2"/>
            </a:solidFill>
            <a:prstDash val="solid"/>
          </a:ln>
        </p:spPr>
      </p:sp>
      <p:sp>
        <p:nvSpPr>
          <p:cNvPr id="12" name="glyph circle"/>
          <p:cNvSpPr/>
          <p:nvPr/>
        </p:nvSpPr>
        <p:spPr>
          <a:xfrm>
            <a:off x="3081528" y="2011680"/>
            <a:ext cx="548640" cy="548640"/>
          </a:xfrm>
          <a:prstGeom prst="ellipse">
            <a:avLst/>
          </a:prstGeom>
          <a:solidFill>
            <a:schemeClr val="tx2"/>
          </a:solidFill>
          <a:ln w="12700">
            <a:solidFill>
              <a:schemeClr val="tx2"/>
            </a:solidFill>
            <a:prstDash val="solid"/>
          </a:ln>
        </p:spPr>
      </p:sp>
      <p:sp>
        <p:nvSpPr>
          <p:cNvPr id="13" name="Text 11"/>
          <p:cNvSpPr txBox="1"/>
          <p:nvPr/>
        </p:nvSpPr>
        <p:spPr>
          <a:xfrm>
            <a:off x="3081528" y="201168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4" name="Text 12"/>
          <p:cNvSpPr txBox="1"/>
          <p:nvPr/>
        </p:nvSpPr>
        <p:spPr>
          <a:xfrm>
            <a:off x="3081528" y="2697480"/>
            <a:ext cx="1645920" cy="457200"/>
          </a:xfrm>
          <a:prstGeom prst="rect">
            <a:avLst/>
          </a:prstGeom>
          <a:noFill/>
          <a:ln/>
        </p:spPr>
        <p:txBody>
          <a:bodyPr wrap="square" lIns="0" tIns="0" rIns="0" bIns="0" rtlCol="0" anchor="t"/>
          <a:lstStyle/>
          <a:p>
            <a:pPr indent="0" marL="0">
              <a:buNone/>
            </a:pPr>
            <a:r>
              <a:rPr lang="en-US" sz="2400" b="1" dirty="0">
                <a:solidFill>
                  <a:schemeClr val="tx2"/>
                </a:solidFill>
              </a:rPr>
              <a:t>Plan</a:t>
            </a:r>
            <a:endParaRPr lang="en-US" sz="2400" dirty="0"/>
          </a:p>
        </p:txBody>
      </p:sp>
      <p:sp>
        <p:nvSpPr>
          <p:cNvPr id="15" name="Text 13"/>
          <p:cNvSpPr txBox="1"/>
          <p:nvPr/>
        </p:nvSpPr>
        <p:spPr>
          <a:xfrm>
            <a:off x="3081528" y="3200400"/>
            <a:ext cx="1645920" cy="1691640"/>
          </a:xfrm>
          <a:prstGeom prst="rect">
            <a:avLst/>
          </a:prstGeom>
          <a:noFill/>
          <a:ln/>
        </p:spPr>
        <p:txBody>
          <a:bodyPr wrap="square" lIns="0" tIns="0" rIns="0" bIns="0" rtlCol="0" anchor="t"/>
          <a:lstStyle/>
          <a:p>
            <a:pPr indent="0" marL="0">
              <a:buNone/>
            </a:pPr>
            <a:r>
              <a:rPr lang="en-US" sz="1500" dirty="0">
                <a:solidFill>
                  <a:schemeClr val="accent3"/>
                </a:solidFill>
              </a:rPr>
              <a:t>Make its thinking visible. Review it; then it's the contract.</a:t>
            </a:r>
            <a:endParaRPr lang="en-US" sz="1500" dirty="0"/>
          </a:p>
        </p:txBody>
      </p:sp>
      <p:sp>
        <p:nvSpPr>
          <p:cNvPr id="16" name="Text 14"/>
          <p:cNvSpPr txBox="1"/>
          <p:nvPr/>
        </p:nvSpPr>
        <p:spPr>
          <a:xfrm>
            <a:off x="4864608" y="3063240"/>
            <a:ext cx="219456" cy="457200"/>
          </a:xfrm>
          <a:prstGeom prst="rect">
            <a:avLst/>
          </a:prstGeom>
          <a:noFill/>
          <a:ln/>
        </p:spPr>
        <p:txBody>
          <a:bodyPr wrap="square" lIns="0" tIns="0" rIns="0" bIns="0" rtlCol="0" anchor="t"/>
          <a:lstStyle/>
          <a:p>
            <a:pPr algn="ctr" indent="0" marL="0">
              <a:buNone/>
            </a:pPr>
            <a:r>
              <a:rPr lang="en-US" sz="2600" b="1" dirty="0">
                <a:solidFill>
                  <a:schemeClr val="accent6"/>
                </a:solidFill>
              </a:rPr>
              <a:t>›</a:t>
            </a:r>
            <a:endParaRPr lang="en-US" sz="2600" dirty="0"/>
          </a:p>
        </p:txBody>
      </p:sp>
      <p:sp>
        <p:nvSpPr>
          <p:cNvPr id="17" name="panel"/>
          <p:cNvSpPr/>
          <p:nvPr/>
        </p:nvSpPr>
        <p:spPr>
          <a:xfrm>
            <a:off x="5065776" y="1783080"/>
            <a:ext cx="2029968" cy="3200400"/>
          </a:xfrm>
          <a:prstGeom prst="roundRect">
            <a:avLst>
              <a:gd name="adj" fmla="val 3604"/>
            </a:avLst>
          </a:prstGeom>
          <a:solidFill>
            <a:schemeClr val="bg2"/>
          </a:solidFill>
          <a:ln w="12700">
            <a:solidFill>
              <a:schemeClr val="bg2"/>
            </a:solidFill>
            <a:prstDash val="solid"/>
          </a:ln>
        </p:spPr>
      </p:sp>
      <p:sp>
        <p:nvSpPr>
          <p:cNvPr id="18" name="glyph circle"/>
          <p:cNvSpPr/>
          <p:nvPr/>
        </p:nvSpPr>
        <p:spPr>
          <a:xfrm>
            <a:off x="5294376" y="2011680"/>
            <a:ext cx="548640" cy="548640"/>
          </a:xfrm>
          <a:prstGeom prst="ellipse">
            <a:avLst/>
          </a:prstGeom>
          <a:solidFill>
            <a:schemeClr val="accent2"/>
          </a:solidFill>
          <a:ln w="12700">
            <a:solidFill>
              <a:schemeClr val="accent2"/>
            </a:solidFill>
            <a:prstDash val="solid"/>
          </a:ln>
        </p:spPr>
      </p:sp>
      <p:sp>
        <p:nvSpPr>
          <p:cNvPr id="19" name="Text 17"/>
          <p:cNvSpPr txBox="1"/>
          <p:nvPr/>
        </p:nvSpPr>
        <p:spPr>
          <a:xfrm>
            <a:off x="5294376" y="201168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20" name="Text 18"/>
          <p:cNvSpPr txBox="1"/>
          <p:nvPr/>
        </p:nvSpPr>
        <p:spPr>
          <a:xfrm>
            <a:off x="5294376" y="2697480"/>
            <a:ext cx="1645920" cy="457200"/>
          </a:xfrm>
          <a:prstGeom prst="rect">
            <a:avLst/>
          </a:prstGeom>
          <a:noFill/>
          <a:ln/>
        </p:spPr>
        <p:txBody>
          <a:bodyPr wrap="square" lIns="0" tIns="0" rIns="0" bIns="0" rtlCol="0" anchor="t"/>
          <a:lstStyle/>
          <a:p>
            <a:pPr indent="0" marL="0">
              <a:buNone/>
            </a:pPr>
            <a:r>
              <a:rPr lang="en-US" sz="2400" b="1" dirty="0">
                <a:solidFill>
                  <a:schemeClr val="accent2"/>
                </a:solidFill>
              </a:rPr>
              <a:t>Build</a:t>
            </a:r>
            <a:endParaRPr lang="en-US" sz="2400" dirty="0"/>
          </a:p>
        </p:txBody>
      </p:sp>
      <p:sp>
        <p:nvSpPr>
          <p:cNvPr id="21" name="Text 19"/>
          <p:cNvSpPr txBox="1"/>
          <p:nvPr/>
        </p:nvSpPr>
        <p:spPr>
          <a:xfrm>
            <a:off x="5294376" y="3200400"/>
            <a:ext cx="1645920" cy="1691640"/>
          </a:xfrm>
          <a:prstGeom prst="rect">
            <a:avLst/>
          </a:prstGeom>
          <a:noFill/>
          <a:ln/>
        </p:spPr>
        <p:txBody>
          <a:bodyPr wrap="square" lIns="0" tIns="0" rIns="0" bIns="0" rtlCol="0" anchor="t"/>
          <a:lstStyle/>
          <a:p>
            <a:pPr indent="0" marL="0">
              <a:buNone/>
            </a:pPr>
            <a:r>
              <a:rPr lang="en-US" sz="1500" dirty="0">
                <a:solidFill>
                  <a:schemeClr val="accent3"/>
                </a:solidFill>
              </a:rPr>
              <a:t>Agent mode with the plan approved. No drive-by refactors.</a:t>
            </a:r>
            <a:endParaRPr lang="en-US" sz="1500" dirty="0"/>
          </a:p>
        </p:txBody>
      </p:sp>
      <p:sp>
        <p:nvSpPr>
          <p:cNvPr id="22" name="Text 20"/>
          <p:cNvSpPr txBox="1"/>
          <p:nvPr/>
        </p:nvSpPr>
        <p:spPr>
          <a:xfrm>
            <a:off x="7077456" y="3063240"/>
            <a:ext cx="219456" cy="457200"/>
          </a:xfrm>
          <a:prstGeom prst="rect">
            <a:avLst/>
          </a:prstGeom>
          <a:noFill/>
          <a:ln/>
        </p:spPr>
        <p:txBody>
          <a:bodyPr wrap="square" lIns="0" tIns="0" rIns="0" bIns="0" rtlCol="0" anchor="t"/>
          <a:lstStyle/>
          <a:p>
            <a:pPr algn="ctr" indent="0" marL="0">
              <a:buNone/>
            </a:pPr>
            <a:r>
              <a:rPr lang="en-US" sz="2600" b="1" dirty="0">
                <a:solidFill>
                  <a:schemeClr val="accent6"/>
                </a:solidFill>
              </a:rPr>
              <a:t>›</a:t>
            </a:r>
            <a:endParaRPr lang="en-US" sz="2600" dirty="0"/>
          </a:p>
        </p:txBody>
      </p:sp>
      <p:sp>
        <p:nvSpPr>
          <p:cNvPr id="23" name="panel"/>
          <p:cNvSpPr/>
          <p:nvPr/>
        </p:nvSpPr>
        <p:spPr>
          <a:xfrm>
            <a:off x="7278624" y="1783080"/>
            <a:ext cx="2029968" cy="3200400"/>
          </a:xfrm>
          <a:prstGeom prst="roundRect">
            <a:avLst>
              <a:gd name="adj" fmla="val 3604"/>
            </a:avLst>
          </a:prstGeom>
          <a:solidFill>
            <a:schemeClr val="bg2"/>
          </a:solidFill>
          <a:ln w="12700">
            <a:solidFill>
              <a:schemeClr val="bg2"/>
            </a:solidFill>
            <a:prstDash val="solid"/>
          </a:ln>
        </p:spPr>
      </p:sp>
      <p:sp>
        <p:nvSpPr>
          <p:cNvPr id="24" name="glyph circle"/>
          <p:cNvSpPr/>
          <p:nvPr/>
        </p:nvSpPr>
        <p:spPr>
          <a:xfrm>
            <a:off x="7507224" y="2011680"/>
            <a:ext cx="548640" cy="548640"/>
          </a:xfrm>
          <a:prstGeom prst="ellipse">
            <a:avLst/>
          </a:prstGeom>
          <a:solidFill>
            <a:schemeClr val="accent3"/>
          </a:solidFill>
          <a:ln w="12700">
            <a:solidFill>
              <a:schemeClr val="accent3"/>
            </a:solidFill>
            <a:prstDash val="solid"/>
          </a:ln>
        </p:spPr>
      </p:sp>
      <p:sp>
        <p:nvSpPr>
          <p:cNvPr id="25" name="Text 23"/>
          <p:cNvSpPr txBox="1"/>
          <p:nvPr/>
        </p:nvSpPr>
        <p:spPr>
          <a:xfrm>
            <a:off x="7507224" y="201168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26" name="Text 24"/>
          <p:cNvSpPr txBox="1"/>
          <p:nvPr/>
        </p:nvSpPr>
        <p:spPr>
          <a:xfrm>
            <a:off x="7507224" y="2697480"/>
            <a:ext cx="1645920" cy="457200"/>
          </a:xfrm>
          <a:prstGeom prst="rect">
            <a:avLst/>
          </a:prstGeom>
          <a:noFill/>
          <a:ln/>
        </p:spPr>
        <p:txBody>
          <a:bodyPr wrap="square" lIns="0" tIns="0" rIns="0" bIns="0" rtlCol="0" anchor="t"/>
          <a:lstStyle/>
          <a:p>
            <a:pPr indent="0" marL="0">
              <a:buNone/>
            </a:pPr>
            <a:r>
              <a:rPr lang="en-US" sz="2400" b="1" dirty="0">
                <a:solidFill>
                  <a:schemeClr val="accent3"/>
                </a:solidFill>
              </a:rPr>
              <a:t>Prove</a:t>
            </a:r>
            <a:endParaRPr lang="en-US" sz="2400" dirty="0"/>
          </a:p>
        </p:txBody>
      </p:sp>
      <p:sp>
        <p:nvSpPr>
          <p:cNvPr id="27" name="Text 25"/>
          <p:cNvSpPr txBox="1"/>
          <p:nvPr/>
        </p:nvSpPr>
        <p:spPr>
          <a:xfrm>
            <a:off x="7507224" y="3200400"/>
            <a:ext cx="1645920" cy="1691640"/>
          </a:xfrm>
          <a:prstGeom prst="rect">
            <a:avLst/>
          </a:prstGeom>
          <a:noFill/>
          <a:ln/>
        </p:spPr>
        <p:txBody>
          <a:bodyPr wrap="square" lIns="0" tIns="0" rIns="0" bIns="0" rtlCol="0" anchor="t"/>
          <a:lstStyle/>
          <a:p>
            <a:pPr indent="0" marL="0">
              <a:buNone/>
            </a:pPr>
            <a:r>
              <a:rPr lang="en-US" sz="1500" dirty="0">
                <a:solidFill>
                  <a:schemeClr val="accent3"/>
                </a:solidFill>
              </a:rPr>
              <a:t>Narrowest test first, then typecheck, then the full suite once.</a:t>
            </a:r>
            <a:endParaRPr lang="en-US" sz="1500" dirty="0"/>
          </a:p>
        </p:txBody>
      </p:sp>
      <p:sp>
        <p:nvSpPr>
          <p:cNvPr id="28" name="Text 26"/>
          <p:cNvSpPr txBox="1"/>
          <p:nvPr/>
        </p:nvSpPr>
        <p:spPr>
          <a:xfrm>
            <a:off x="9290304" y="3063240"/>
            <a:ext cx="219456" cy="457200"/>
          </a:xfrm>
          <a:prstGeom prst="rect">
            <a:avLst/>
          </a:prstGeom>
          <a:noFill/>
          <a:ln/>
        </p:spPr>
        <p:txBody>
          <a:bodyPr wrap="square" lIns="0" tIns="0" rIns="0" bIns="0" rtlCol="0" anchor="t"/>
          <a:lstStyle/>
          <a:p>
            <a:pPr algn="ctr" indent="0" marL="0">
              <a:buNone/>
            </a:pPr>
            <a:r>
              <a:rPr lang="en-US" sz="2600" b="1" dirty="0">
                <a:solidFill>
                  <a:schemeClr val="accent6"/>
                </a:solidFill>
              </a:rPr>
              <a:t>›</a:t>
            </a:r>
            <a:endParaRPr lang="en-US" sz="2600" dirty="0"/>
          </a:p>
        </p:txBody>
      </p:sp>
      <p:sp>
        <p:nvSpPr>
          <p:cNvPr id="29" name="panel"/>
          <p:cNvSpPr/>
          <p:nvPr/>
        </p:nvSpPr>
        <p:spPr>
          <a:xfrm>
            <a:off x="9491472" y="1783080"/>
            <a:ext cx="2029968" cy="3200400"/>
          </a:xfrm>
          <a:prstGeom prst="roundRect">
            <a:avLst>
              <a:gd name="adj" fmla="val 3604"/>
            </a:avLst>
          </a:prstGeom>
          <a:solidFill>
            <a:schemeClr val="bg2"/>
          </a:solidFill>
          <a:ln w="12700">
            <a:solidFill>
              <a:schemeClr val="bg2"/>
            </a:solidFill>
            <a:prstDash val="solid"/>
          </a:ln>
        </p:spPr>
      </p:sp>
      <p:sp>
        <p:nvSpPr>
          <p:cNvPr id="30" name="glyph circle"/>
          <p:cNvSpPr/>
          <p:nvPr/>
        </p:nvSpPr>
        <p:spPr>
          <a:xfrm>
            <a:off x="9720072" y="2011680"/>
            <a:ext cx="548640" cy="548640"/>
          </a:xfrm>
          <a:prstGeom prst="ellipse">
            <a:avLst/>
          </a:prstGeom>
          <a:solidFill>
            <a:schemeClr val="tx1"/>
          </a:solidFill>
          <a:ln w="12700">
            <a:solidFill>
              <a:schemeClr val="tx1"/>
            </a:solidFill>
            <a:prstDash val="solid"/>
          </a:ln>
        </p:spPr>
      </p:sp>
      <p:sp>
        <p:nvSpPr>
          <p:cNvPr id="31" name="Text 29"/>
          <p:cNvSpPr txBox="1"/>
          <p:nvPr/>
        </p:nvSpPr>
        <p:spPr>
          <a:xfrm>
            <a:off x="9720072" y="201168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32" name="Text 30"/>
          <p:cNvSpPr txBox="1"/>
          <p:nvPr/>
        </p:nvSpPr>
        <p:spPr>
          <a:xfrm>
            <a:off x="9720072" y="2697480"/>
            <a:ext cx="1645920" cy="457200"/>
          </a:xfrm>
          <a:prstGeom prst="rect">
            <a:avLst/>
          </a:prstGeom>
          <a:noFill/>
          <a:ln/>
        </p:spPr>
        <p:txBody>
          <a:bodyPr wrap="square" lIns="0" tIns="0" rIns="0" bIns="0" rtlCol="0" anchor="t"/>
          <a:lstStyle/>
          <a:p>
            <a:pPr indent="0" marL="0">
              <a:buNone/>
            </a:pPr>
            <a:r>
              <a:rPr lang="en-US" sz="2400" b="1" dirty="0">
                <a:solidFill>
                  <a:schemeClr val="tx1"/>
                </a:solidFill>
              </a:rPr>
              <a:t>Reset</a:t>
            </a:r>
            <a:endParaRPr lang="en-US" sz="2400" dirty="0"/>
          </a:p>
        </p:txBody>
      </p:sp>
      <p:sp>
        <p:nvSpPr>
          <p:cNvPr id="33" name="Text 31"/>
          <p:cNvSpPr txBox="1"/>
          <p:nvPr/>
        </p:nvSpPr>
        <p:spPr>
          <a:xfrm>
            <a:off x="9720072" y="3200400"/>
            <a:ext cx="1645920" cy="1691640"/>
          </a:xfrm>
          <a:prstGeom prst="rect">
            <a:avLst/>
          </a:prstGeom>
          <a:noFill/>
          <a:ln/>
        </p:spPr>
        <p:txBody>
          <a:bodyPr wrap="square" lIns="0" tIns="0" rIns="0" bIns="0" rtlCol="0" anchor="t"/>
          <a:lstStyle/>
          <a:p>
            <a:pPr indent="0" marL="0">
              <a:buNone/>
            </a:pPr>
            <a:r>
              <a:rPr lang="en-US" sz="1500" dirty="0">
                <a:solidFill>
                  <a:schemeClr val="accent3"/>
                </a:solidFill>
              </a:rPr>
              <a:t>New goal → /clear. Same goal, long chat → compact.</a:t>
            </a:r>
            <a:endParaRPr lang="en-US" sz="1500" dirty="0"/>
          </a:p>
        </p:txBody>
      </p:sp>
      <p:sp>
        <p:nvSpPr>
          <p:cNvPr id="34" name="panel"/>
          <p:cNvSpPr/>
          <p:nvPr/>
        </p:nvSpPr>
        <p:spPr>
          <a:xfrm>
            <a:off x="640080" y="5349240"/>
            <a:ext cx="10881360" cy="594360"/>
          </a:xfrm>
          <a:prstGeom prst="roundRect">
            <a:avLst>
              <a:gd name="adj" fmla="val 12308"/>
            </a:avLst>
          </a:prstGeom>
          <a:solidFill>
            <a:schemeClr val="bg2"/>
          </a:solidFill>
          <a:ln w="12700">
            <a:solidFill>
              <a:schemeClr val="bg2"/>
            </a:solidFill>
            <a:prstDash val="solid"/>
          </a:ln>
        </p:spPr>
      </p:sp>
      <p:sp>
        <p:nvSpPr>
          <p:cNvPr id="35" name="Text 33"/>
          <p:cNvSpPr txBox="1"/>
          <p:nvPr/>
        </p:nvSpPr>
        <p:spPr>
          <a:xfrm>
            <a:off x="868680" y="5349240"/>
            <a:ext cx="10424160" cy="594360"/>
          </a:xfrm>
          <a:prstGeom prst="rect">
            <a:avLst/>
          </a:prstGeom>
          <a:noFill/>
          <a:ln/>
        </p:spPr>
        <p:txBody>
          <a:bodyPr wrap="square" lIns="0" tIns="0" rIns="0" bIns="0" rtlCol="0" anchor="ctr"/>
          <a:lstStyle/>
          <a:p>
            <a:pPr indent="0" marL="0">
              <a:buNone/>
            </a:pPr>
            <a:r>
              <a:rPr lang="en-US" sz="1500" b="1" dirty="0">
                <a:solidFill>
                  <a:schemeClr val="tx2"/>
                </a:solidFill>
              </a:rPr>
              <a:t>Optimise for a short search, not a short prompt.</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2 · EUGENE</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Aim: the six-part prompt</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Six lines, not six paragraphs. Example: the free-shipping ticket Demo 1 got wrong.</a:t>
            </a:r>
            <a:endParaRPr lang="en-US" sz="1500" dirty="0"/>
          </a:p>
        </p:txBody>
      </p:sp>
      <p:graphicFrame>
        <p:nvGraphicFramePr>
          <p:cNvPr id="12" name="six-part table"/>
          <p:cNvGraphicFramePr>
            <a:graphicFrameLocks noGrp="1"/>
          </p:cNvGraphicFramePr>
          <p:nvPr>
            <p:extLst>
              <p:ext uri="{D42A27DB-BD31-4B8C-83A1-F6EECF244321}">
                <p14:modId xmlns:p14="http://schemas.microsoft.com/office/powerpoint/2010/main" val="1579011935"/>
              </p:ext>
            </p:extLst>
          </p:nvPr>
        </p:nvGraphicFramePr>
        <p:xfrm>
          <a:off x="640080" y="1691640"/>
          <a:ext cx="10881360" cy="914400"/>
        </p:xfrm>
        <a:graphic>
          <a:graphicData uri="http://schemas.openxmlformats.org/drawingml/2006/table">
            <a:tbl>
              <a:tblPr/>
              <a:tblGrid>
                <a:gridCol w="1737360"/>
                <a:gridCol w="4206240"/>
                <a:gridCol w="4937760"/>
              </a:tblGrid>
              <a:tr h="548640">
                <a:tc>
                  <a:txBody>
                    <a:bodyPr/>
                    <a:lstStyle/>
                    <a:p>
                      <a:pPr indent="0" marL="0">
                        <a:buNone/>
                      </a:pPr>
                      <a:r>
                        <a:rPr lang="en-US" sz="1500" b="1" dirty="0">
                          <a:solidFill>
                            <a:schemeClr val="bg1"/>
                          </a:solidFill>
                        </a:rPr>
                        <a:t>Part</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Answers</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Example</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solidFill>
                      <a:schemeClr val="tx2"/>
                    </a:solidFill>
                  </a:tcPr>
                </a:tc>
              </a:tr>
              <a:tr h="548640">
                <a:tc>
                  <a:txBody>
                    <a:bodyPr/>
                    <a:lstStyle/>
                    <a:p>
                      <a:pPr indent="0" marL="0">
                        <a:buNone/>
                      </a:pPr>
                      <a:r>
                        <a:rPr lang="en-US" sz="1500" b="1" dirty="0">
                          <a:solidFill>
                            <a:schemeClr val="tx1"/>
                          </a:solidFill>
                        </a:rPr>
                        <a:t>Goal</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What observable result exists afterwards?</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Free standard shipping from £100, after discount</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48640">
                <a:tc>
                  <a:txBody>
                    <a:bodyPr/>
                    <a:lstStyle/>
                    <a:p>
                      <a:pPr indent="0" marL="0">
                        <a:buNone/>
                      </a:pPr>
                      <a:r>
                        <a:rPr lang="en-US" sz="1500" b="1" dirty="0">
                          <a:solidFill>
                            <a:schemeClr val="tx1"/>
                          </a:solidFill>
                        </a:rPr>
                        <a:t>Acceptance</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How do we know it's right, edge cases included?</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Exactly £100 → free; express → never free</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48640">
                <a:tc>
                  <a:txBody>
                    <a:bodyPr/>
                    <a:lstStyle/>
                    <a:p>
                      <a:pPr indent="0" marL="0">
                        <a:buNone/>
                      </a:pPr>
                      <a:r>
                        <a:rPr lang="en-US" sz="1500" b="1" dirty="0">
                          <a:solidFill>
                            <a:schemeClr val="tx1"/>
                          </a:solidFill>
                        </a:rPr>
                        <a:t>Context</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Which files, symbols, tests, docs?</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shipping-price.ts, pricing-policy.ts; not src/shipping/</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48640">
                <a:tc>
                  <a:txBody>
                    <a:bodyPr/>
                    <a:lstStyle/>
                    <a:p>
                      <a:pPr indent="0" marL="0">
                        <a:buNone/>
                      </a:pPr>
                      <a:r>
                        <a:rPr lang="en-US" sz="1500" b="1" dirty="0">
                          <a:solidFill>
                            <a:schemeClr val="tx1"/>
                          </a:solidFill>
                        </a:rPr>
                        <a:t>Constraints</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What must not change?</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Method selection; no floats, no new literals</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48640">
                <a:tc>
                  <a:txBody>
                    <a:bodyPr/>
                    <a:lstStyle/>
                    <a:p>
                      <a:pPr indent="0" marL="0">
                        <a:buNone/>
                      </a:pPr>
                      <a:r>
                        <a:rPr lang="en-US" sz="1500" b="1" dirty="0">
                          <a:solidFill>
                            <a:schemeClr val="tx1"/>
                          </a:solidFill>
                        </a:rPr>
                        <a:t>Plan?</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Plan first, or straight to the edit?</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Plan in ≤ 8 lines, then wait for me</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48640">
                <a:tc>
                  <a:txBody>
                    <a:bodyPr/>
                    <a:lstStyle/>
                    <a:p>
                      <a:pPr indent="0" marL="0">
                        <a:buNone/>
                      </a:pPr>
                      <a:r>
                        <a:rPr lang="en-US" sz="1500" b="1" dirty="0">
                          <a:solidFill>
                            <a:schemeClr val="tx1"/>
                          </a:solidFill>
                        </a:rPr>
                        <a:t>Verify</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The exact command that proves it</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npm test -- tests/pricing &amp;&amp; npm run typecheck</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bl>
          </a:graphicData>
        </a:graphic>
      </p:graphicFrame>
      <p:sp>
        <p:nvSpPr>
          <p:cNvPr id="6" name="panel"/>
          <p:cNvSpPr/>
          <p:nvPr/>
        </p:nvSpPr>
        <p:spPr>
          <a:xfrm>
            <a:off x="640080" y="5715000"/>
            <a:ext cx="10881360" cy="548640"/>
          </a:xfrm>
          <a:prstGeom prst="roundRect">
            <a:avLst>
              <a:gd name="adj" fmla="val 13333"/>
            </a:avLst>
          </a:prstGeom>
          <a:solidFill>
            <a:schemeClr val="bg2"/>
          </a:solidFill>
          <a:ln w="12700">
            <a:solidFill>
              <a:schemeClr val="bg2"/>
            </a:solidFill>
            <a:prstDash val="solid"/>
          </a:ln>
        </p:spPr>
      </p:sp>
      <p:sp>
        <p:nvSpPr>
          <p:cNvPr id="7" name="Text 4"/>
          <p:cNvSpPr txBox="1"/>
          <p:nvPr/>
        </p:nvSpPr>
        <p:spPr>
          <a:xfrm>
            <a:off x="868680" y="5715000"/>
            <a:ext cx="10424160" cy="548640"/>
          </a:xfrm>
          <a:prstGeom prst="rect">
            <a:avLst/>
          </a:prstGeom>
          <a:noFill/>
          <a:ln/>
        </p:spPr>
        <p:txBody>
          <a:bodyPr wrap="square" lIns="0" tIns="0" rIns="0" bIns="0" rtlCol="0" anchor="ctr"/>
          <a:lstStyle/>
          <a:p>
            <a:pPr indent="0" marL="0">
              <a:buNone/>
            </a:pPr>
            <a:r>
              <a:rPr lang="en-US" sz="1500" b="1" dirty="0">
                <a:solidFill>
                  <a:schemeClr val="tx2"/>
                </a:solidFill>
              </a:rPr>
              <a:t>The acceptance row is the one that matters: both edge cases Demo 1 got wrong are in it.</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2 · EUGENE</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Longer prompt, shorter session</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The second prompt costs about 150 more tokens and saves the agent from reading the repository.</a:t>
            </a:r>
            <a:endParaRPr lang="en-US" sz="1500" dirty="0"/>
          </a:p>
        </p:txBody>
      </p:sp>
      <p:sp>
        <p:nvSpPr>
          <p:cNvPr id="5" name="Text 3"/>
          <p:cNvSpPr txBox="1"/>
          <p:nvPr/>
        </p:nvSpPr>
        <p:spPr>
          <a:xfrm>
            <a:off x="640080" y="1691640"/>
            <a:ext cx="3931920" cy="274320"/>
          </a:xfrm>
          <a:prstGeom prst="rect">
            <a:avLst/>
          </a:prstGeom>
          <a:noFill/>
          <a:ln/>
        </p:spPr>
        <p:txBody>
          <a:bodyPr wrap="square" lIns="0" tIns="0" rIns="0" bIns="0" rtlCol="0" anchor="t"/>
          <a:lstStyle/>
          <a:p>
            <a:pPr indent="0" marL="0">
              <a:buNone/>
            </a:pPr>
            <a:r>
              <a:rPr lang="en-US" sz="1200" b="1" spc="100" kern="0" dirty="0">
                <a:solidFill>
                  <a:schemeClr val="accent3"/>
                </a:solidFill>
              </a:rPr>
              <a:t>VIBE</a:t>
            </a:r>
            <a:endParaRPr lang="en-US" sz="1200" dirty="0"/>
          </a:p>
        </p:txBody>
      </p:sp>
      <p:sp>
        <p:nvSpPr>
          <p:cNvPr id="6" name="panel"/>
          <p:cNvSpPr/>
          <p:nvPr/>
        </p:nvSpPr>
        <p:spPr>
          <a:xfrm>
            <a:off x="640080" y="2011680"/>
            <a:ext cx="3931920" cy="1920240"/>
          </a:xfrm>
          <a:prstGeom prst="roundRect">
            <a:avLst>
              <a:gd name="adj" fmla="val 3810"/>
            </a:avLst>
          </a:prstGeom>
          <a:solidFill>
            <a:schemeClr val="tx1"/>
          </a:solidFill>
          <a:ln w="12700">
            <a:solidFill>
              <a:schemeClr val="tx1"/>
            </a:solidFill>
            <a:prstDash val="solid"/>
          </a:ln>
        </p:spPr>
      </p:sp>
      <p:sp>
        <p:nvSpPr>
          <p:cNvPr id="7" name="code"/>
          <p:cNvSpPr txBox="1"/>
          <p:nvPr/>
        </p:nvSpPr>
        <p:spPr>
          <a:xfrm>
            <a:off x="868680" y="2176272"/>
            <a:ext cx="3474720" cy="1591056"/>
          </a:xfrm>
          <a:prstGeom prst="rect">
            <a:avLst/>
          </a:prstGeom>
          <a:noFill/>
          <a:ln/>
        </p:spPr>
        <p:txBody>
          <a:bodyPr wrap="square" lIns="0" tIns="0" rIns="0" bIns="0" rtlCol="0" anchor="t"/>
          <a:lstStyle/>
          <a:p>
            <a:pPr indent="0" marL="0">
              <a:buNone/>
            </a:pPr>
            <a:r>
              <a:rPr lang="en-US" sz="1500" dirty="0">
                <a:solidFill>
                  <a:schemeClr val="bg2"/>
                </a:solidFill>
                <a:latin typeface="Consolas" pitchFamily="34" charset="0"/>
                <a:ea typeface="Consolas" pitchFamily="34" charset="-122"/>
                <a:cs typeface="Consolas" pitchFamily="34" charset="-120"/>
              </a:rPr>
              <a:t>An order with a percentage</a:t>
            </a:r>
            <a:endParaRPr lang="en-US" sz="1500" dirty="0"/>
          </a:p>
          <a:p>
            <a:pPr indent="0" marL="0">
              <a:buNone/>
            </a:pPr>
            <a:r>
              <a:rPr lang="en-US" sz="1500" dirty="0">
                <a:solidFill>
                  <a:schemeClr val="bg2"/>
                </a:solidFill>
                <a:latin typeface="Consolas" pitchFamily="34" charset="0"/>
                <a:ea typeface="Consolas" pitchFamily="34" charset="-122"/>
                <a:cs typeface="Consolas" pitchFamily="34" charset="-120"/>
              </a:rPr>
              <a:t>discount is charged too much</a:t>
            </a:r>
            <a:endParaRPr lang="en-US" sz="1500" dirty="0"/>
          </a:p>
          <a:p>
            <a:pPr indent="0" marL="0">
              <a:buNone/>
            </a:pPr>
            <a:r>
              <a:rPr lang="en-US" sz="1500" dirty="0">
                <a:solidFill>
                  <a:schemeClr val="bg2"/>
                </a:solidFill>
                <a:latin typeface="Consolas" pitchFamily="34" charset="0"/>
                <a:ea typeface="Consolas" pitchFamily="34" charset="-122"/>
                <a:cs typeface="Consolas" pitchFamily="34" charset="-120"/>
              </a:rPr>
              <a:t>tax. Fix the bug and make</a:t>
            </a:r>
            <a:endParaRPr lang="en-US" sz="1500" dirty="0"/>
          </a:p>
          <a:p>
            <a:pPr indent="0" marL="0">
              <a:buNone/>
            </a:pPr>
            <a:r>
              <a:rPr lang="en-US" sz="1500" dirty="0">
                <a:solidFill>
                  <a:schemeClr val="bg2"/>
                </a:solidFill>
                <a:latin typeface="Consolas" pitchFamily="34" charset="0"/>
                <a:ea typeface="Consolas" pitchFamily="34" charset="-122"/>
                <a:cs typeface="Consolas" pitchFamily="34" charset="-120"/>
              </a:rPr>
              <a:t>the tests pass.</a:t>
            </a:r>
            <a:endParaRPr lang="en-US" sz="1500" dirty="0"/>
          </a:p>
        </p:txBody>
      </p:sp>
      <p:sp>
        <p:nvSpPr>
          <p:cNvPr id="8" name="Text 6"/>
          <p:cNvSpPr txBox="1"/>
          <p:nvPr/>
        </p:nvSpPr>
        <p:spPr>
          <a:xfrm>
            <a:off x="640080" y="4114800"/>
            <a:ext cx="3931920" cy="914400"/>
          </a:xfrm>
          <a:prstGeom prst="rect">
            <a:avLst/>
          </a:prstGeom>
          <a:noFill/>
          <a:ln/>
        </p:spPr>
        <p:txBody>
          <a:bodyPr wrap="square" lIns="0" tIns="0" rIns="0" bIns="0" rtlCol="0" anchor="t"/>
          <a:lstStyle/>
          <a:p>
            <a:pPr indent="0" marL="0">
              <a:buNone/>
            </a:pPr>
            <a:r>
              <a:rPr lang="en-US" sz="1500" dirty="0">
                <a:solidFill>
                  <a:schemeClr val="accent3"/>
                </a:solidFill>
              </a:rPr>
              <a:t>Agent must discover: which file, which rule, what not to touch, how to check.</a:t>
            </a:r>
            <a:endParaRPr lang="en-US" sz="1500" dirty="0"/>
          </a:p>
        </p:txBody>
      </p:sp>
      <p:sp>
        <p:nvSpPr>
          <p:cNvPr id="9" name="Text 7"/>
          <p:cNvSpPr txBox="1"/>
          <p:nvPr/>
        </p:nvSpPr>
        <p:spPr>
          <a:xfrm>
            <a:off x="4937760" y="1691640"/>
            <a:ext cx="658368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DISCIPLINED</a:t>
            </a:r>
            <a:endParaRPr lang="en-US" sz="1200" dirty="0"/>
          </a:p>
        </p:txBody>
      </p:sp>
      <p:sp>
        <p:nvSpPr>
          <p:cNvPr id="10" name="panel"/>
          <p:cNvSpPr/>
          <p:nvPr/>
        </p:nvSpPr>
        <p:spPr>
          <a:xfrm>
            <a:off x="4937760" y="2011680"/>
            <a:ext cx="6583680" cy="3017520"/>
          </a:xfrm>
          <a:prstGeom prst="roundRect">
            <a:avLst>
              <a:gd name="adj" fmla="val 2424"/>
            </a:avLst>
          </a:prstGeom>
          <a:solidFill>
            <a:schemeClr val="tx1"/>
          </a:solidFill>
          <a:ln w="12700">
            <a:solidFill>
              <a:schemeClr val="tx1"/>
            </a:solidFill>
            <a:prstDash val="solid"/>
          </a:ln>
        </p:spPr>
      </p:sp>
      <p:sp>
        <p:nvSpPr>
          <p:cNvPr id="11" name="code"/>
          <p:cNvSpPr txBox="1"/>
          <p:nvPr/>
        </p:nvSpPr>
        <p:spPr>
          <a:xfrm>
            <a:off x="5166360" y="2176272"/>
            <a:ext cx="6126480" cy="2688336"/>
          </a:xfrm>
          <a:prstGeom prst="rect">
            <a:avLst/>
          </a:prstGeom>
          <a:noFill/>
          <a:ln/>
        </p:spPr>
        <p:txBody>
          <a:bodyPr wrap="square" lIns="0" tIns="0" rIns="0" bIns="0" rtlCol="0" anchor="t"/>
          <a:lstStyle/>
          <a:p>
            <a:pPr indent="0" marL="0">
              <a:buNone/>
            </a:pPr>
            <a:r>
              <a:rPr lang="en-US" sz="1400" dirty="0">
                <a:solidFill>
                  <a:schemeClr val="bg2"/>
                </a:solidFill>
                <a:latin typeface="Consolas" pitchFamily="34" charset="0"/>
                <a:ea typeface="Consolas" pitchFamily="34" charset="-122"/>
                <a:cs typeface="Consolas" pitchFamily="34" charset="-120"/>
              </a:rPr>
              <a:t>Fix the discounted-order tax calculation.</a:t>
            </a:r>
            <a:endParaRPr lang="en-US" sz="1400" dirty="0"/>
          </a:p>
          <a:p>
            <a:pPr indent="0" marL="0">
              <a:buNone/>
            </a:pP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Start with: src/pricing/calculate-order-total.ts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 its test, and docs/decisions/002-*.md</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Order: subtotal → discount → shipping → tax.</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Don't touch tax rates or public API types.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Don't read archive/ or fixtures/.</a:t>
            </a:r>
            <a:endParaRPr lang="en-US" sz="1400" dirty="0"/>
          </a:p>
          <a:p>
            <a:pPr indent="0" marL="0">
              <a:buNone/>
            </a:pP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Verify: npm test -- tests/pricing/calculate-</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order-total.test.ts &amp;&amp; npm run typecheck</a:t>
            </a:r>
            <a:endParaRPr lang="en-US" sz="1400" dirty="0"/>
          </a:p>
        </p:txBody>
      </p:sp>
      <p:sp>
        <p:nvSpPr>
          <p:cNvPr id="12" name="panel"/>
          <p:cNvSpPr/>
          <p:nvPr/>
        </p:nvSpPr>
        <p:spPr>
          <a:xfrm>
            <a:off x="640080" y="5806440"/>
            <a:ext cx="10881360" cy="502920"/>
          </a:xfrm>
          <a:prstGeom prst="roundRect">
            <a:avLst>
              <a:gd name="adj" fmla="val 14545"/>
            </a:avLst>
          </a:prstGeom>
          <a:solidFill>
            <a:schemeClr val="bg2"/>
          </a:solidFill>
          <a:ln w="12700">
            <a:solidFill>
              <a:schemeClr val="bg2"/>
            </a:solidFill>
            <a:prstDash val="solid"/>
          </a:ln>
        </p:spPr>
      </p:sp>
      <p:sp>
        <p:nvSpPr>
          <p:cNvPr id="13" name="Text 11"/>
          <p:cNvSpPr txBox="1"/>
          <p:nvPr/>
        </p:nvSpPr>
        <p:spPr>
          <a:xfrm>
            <a:off x="868680" y="5806440"/>
            <a:ext cx="10424160" cy="502920"/>
          </a:xfrm>
          <a:prstGeom prst="rect">
            <a:avLst/>
          </a:prstGeom>
          <a:noFill/>
          <a:ln/>
        </p:spPr>
        <p:txBody>
          <a:bodyPr wrap="square" lIns="0" tIns="0" rIns="0" bIns="0" rtlCol="0" anchor="ctr"/>
          <a:lstStyle/>
          <a:p>
            <a:pPr indent="0" marL="0">
              <a:buNone/>
            </a:pPr>
            <a:r>
              <a:rPr lang="en-US" sz="1500" b="1" dirty="0">
                <a:solidFill>
                  <a:schemeClr val="tx2"/>
                </a:solidFill>
              </a:rPr>
              <a:t>Counter-intuitive rule: don't optimise for a short prompt. Optimise for a short search.</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2 · EUGENE</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The plan is the cheapest place to be wrong</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Every agent plans. The only question is whether it does it where you can see it.</a:t>
            </a:r>
            <a:endParaRPr lang="en-US" sz="1500" dirty="0"/>
          </a:p>
        </p:txBody>
      </p:sp>
      <p:sp>
        <p:nvSpPr>
          <p:cNvPr id="5" name="panel"/>
          <p:cNvSpPr/>
          <p:nvPr/>
        </p:nvSpPr>
        <p:spPr>
          <a:xfrm>
            <a:off x="640080" y="1691640"/>
            <a:ext cx="3502152" cy="3657600"/>
          </a:xfrm>
          <a:prstGeom prst="roundRect">
            <a:avLst>
              <a:gd name="adj" fmla="val 2089"/>
            </a:avLst>
          </a:prstGeom>
          <a:solidFill>
            <a:schemeClr val="bg2"/>
          </a:solidFill>
          <a:ln w="12700">
            <a:solidFill>
              <a:schemeClr val="bg2"/>
            </a:solidFill>
            <a:prstDash val="solid"/>
          </a:ln>
        </p:spPr>
      </p:sp>
      <p:sp>
        <p:nvSpPr>
          <p:cNvPr id="6" name="cost bar"/>
          <p:cNvSpPr/>
          <p:nvPr/>
        </p:nvSpPr>
        <p:spPr>
          <a:xfrm>
            <a:off x="914400" y="2971800"/>
            <a:ext cx="502920" cy="502920"/>
          </a:xfrm>
          <a:prstGeom prst="rect">
            <a:avLst/>
          </a:prstGeom>
          <a:solidFill>
            <a:schemeClr val="accent2"/>
          </a:solidFill>
          <a:ln w="12700">
            <a:solidFill>
              <a:schemeClr val="accent2"/>
            </a:solidFill>
            <a:prstDash val="solid"/>
          </a:ln>
        </p:spPr>
      </p:sp>
      <p:sp>
        <p:nvSpPr>
          <p:cNvPr id="7" name="Text 5"/>
          <p:cNvSpPr txBox="1"/>
          <p:nvPr/>
        </p:nvSpPr>
        <p:spPr>
          <a:xfrm>
            <a:off x="1600200" y="3200400"/>
            <a:ext cx="22860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COST</a:t>
            </a:r>
            <a:endParaRPr lang="en-US" sz="1200" dirty="0"/>
          </a:p>
        </p:txBody>
      </p:sp>
      <p:sp>
        <p:nvSpPr>
          <p:cNvPr id="8" name="Text 6"/>
          <p:cNvSpPr txBox="1"/>
          <p:nvPr/>
        </p:nvSpPr>
        <p:spPr>
          <a:xfrm>
            <a:off x="1600200" y="2788920"/>
            <a:ext cx="2286000" cy="411480"/>
          </a:xfrm>
          <a:prstGeom prst="rect">
            <a:avLst/>
          </a:prstGeom>
          <a:noFill/>
          <a:ln/>
        </p:spPr>
        <p:txBody>
          <a:bodyPr wrap="square" lIns="0" tIns="0" rIns="0" bIns="0" rtlCol="0" anchor="t"/>
          <a:lstStyle/>
          <a:p>
            <a:pPr indent="0" marL="0">
              <a:buNone/>
            </a:pPr>
            <a:r>
              <a:rPr lang="en-US" sz="2200" b="1" dirty="0">
                <a:solidFill>
                  <a:schemeClr val="accent2"/>
                </a:solidFill>
              </a:rPr>
              <a:t>low</a:t>
            </a:r>
            <a:endParaRPr lang="en-US" sz="2200" dirty="0"/>
          </a:p>
        </p:txBody>
      </p:sp>
      <p:sp>
        <p:nvSpPr>
          <p:cNvPr id="9" name="Text 7"/>
          <p:cNvSpPr txBox="1"/>
          <p:nvPr/>
        </p:nvSpPr>
        <p:spPr>
          <a:xfrm>
            <a:off x="914400" y="3657600"/>
            <a:ext cx="3017520" cy="411480"/>
          </a:xfrm>
          <a:prstGeom prst="rect">
            <a:avLst/>
          </a:prstGeom>
          <a:noFill/>
          <a:ln/>
        </p:spPr>
        <p:txBody>
          <a:bodyPr wrap="square" lIns="0" tIns="0" rIns="0" bIns="0" rtlCol="0" anchor="t"/>
          <a:lstStyle/>
          <a:p>
            <a:pPr indent="0" marL="0">
              <a:buNone/>
            </a:pPr>
            <a:r>
              <a:rPr lang="en-US" sz="1800" b="1" dirty="0">
                <a:solidFill>
                  <a:schemeClr val="tx1"/>
                </a:solidFill>
              </a:rPr>
              <a:t>Caught in the plan</a:t>
            </a:r>
            <a:endParaRPr lang="en-US" sz="1800" dirty="0"/>
          </a:p>
        </p:txBody>
      </p:sp>
      <p:sp>
        <p:nvSpPr>
          <p:cNvPr id="10" name="Text 8"/>
          <p:cNvSpPr txBox="1"/>
          <p:nvPr/>
        </p:nvSpPr>
        <p:spPr>
          <a:xfrm>
            <a:off x="914400" y="4114800"/>
            <a:ext cx="3017520" cy="1097280"/>
          </a:xfrm>
          <a:prstGeom prst="rect">
            <a:avLst/>
          </a:prstGeom>
          <a:noFill/>
          <a:ln/>
        </p:spPr>
        <p:txBody>
          <a:bodyPr wrap="square" lIns="0" tIns="0" rIns="0" bIns="0" rtlCol="0" anchor="t"/>
          <a:lstStyle/>
          <a:p>
            <a:pPr indent="0" marL="0">
              <a:buNone/>
            </a:pPr>
            <a:r>
              <a:rPr lang="en-US" sz="1500" dirty="0">
                <a:solidFill>
                  <a:schemeClr val="accent3"/>
                </a:solidFill>
              </a:rPr>
              <a:t>You read 8 lines and fix one. Nothing to undo; the window is still small.</a:t>
            </a:r>
            <a:endParaRPr lang="en-US" sz="1500" dirty="0"/>
          </a:p>
        </p:txBody>
      </p:sp>
      <p:sp>
        <p:nvSpPr>
          <p:cNvPr id="11" name="panel"/>
          <p:cNvSpPr/>
          <p:nvPr/>
        </p:nvSpPr>
        <p:spPr>
          <a:xfrm>
            <a:off x="4325112" y="1691640"/>
            <a:ext cx="3502152" cy="3657600"/>
          </a:xfrm>
          <a:prstGeom prst="roundRect">
            <a:avLst>
              <a:gd name="adj" fmla="val 2089"/>
            </a:avLst>
          </a:prstGeom>
          <a:solidFill>
            <a:schemeClr val="bg2"/>
          </a:solidFill>
          <a:ln w="12700">
            <a:solidFill>
              <a:schemeClr val="bg2"/>
            </a:solidFill>
            <a:prstDash val="solid"/>
          </a:ln>
        </p:spPr>
      </p:sp>
      <p:sp>
        <p:nvSpPr>
          <p:cNvPr id="12" name="cost bar"/>
          <p:cNvSpPr/>
          <p:nvPr/>
        </p:nvSpPr>
        <p:spPr>
          <a:xfrm>
            <a:off x="4599432" y="2468880"/>
            <a:ext cx="502920" cy="1005840"/>
          </a:xfrm>
          <a:prstGeom prst="rect">
            <a:avLst/>
          </a:prstGeom>
          <a:solidFill>
            <a:schemeClr val="accent1"/>
          </a:solidFill>
          <a:ln w="12700">
            <a:solidFill>
              <a:schemeClr val="accent1"/>
            </a:solidFill>
            <a:prstDash val="solid"/>
          </a:ln>
        </p:spPr>
      </p:sp>
      <p:sp>
        <p:nvSpPr>
          <p:cNvPr id="13" name="Text 11"/>
          <p:cNvSpPr txBox="1"/>
          <p:nvPr/>
        </p:nvSpPr>
        <p:spPr>
          <a:xfrm>
            <a:off x="5285232" y="3200400"/>
            <a:ext cx="22860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COST</a:t>
            </a:r>
            <a:endParaRPr lang="en-US" sz="1200" dirty="0"/>
          </a:p>
        </p:txBody>
      </p:sp>
      <p:sp>
        <p:nvSpPr>
          <p:cNvPr id="14" name="Text 12"/>
          <p:cNvSpPr txBox="1"/>
          <p:nvPr/>
        </p:nvSpPr>
        <p:spPr>
          <a:xfrm>
            <a:off x="5285232" y="2788920"/>
            <a:ext cx="2286000" cy="411480"/>
          </a:xfrm>
          <a:prstGeom prst="rect">
            <a:avLst/>
          </a:prstGeom>
          <a:noFill/>
          <a:ln/>
        </p:spPr>
        <p:txBody>
          <a:bodyPr wrap="square" lIns="0" tIns="0" rIns="0" bIns="0" rtlCol="0" anchor="t"/>
          <a:lstStyle/>
          <a:p>
            <a:pPr indent="0" marL="0">
              <a:buNone/>
            </a:pPr>
            <a:r>
              <a:rPr lang="en-US" sz="2200" b="1" dirty="0">
                <a:solidFill>
                  <a:schemeClr val="accent1"/>
                </a:solidFill>
              </a:rPr>
              <a:t>higher</a:t>
            </a:r>
            <a:endParaRPr lang="en-US" sz="2200" dirty="0"/>
          </a:p>
        </p:txBody>
      </p:sp>
      <p:sp>
        <p:nvSpPr>
          <p:cNvPr id="15" name="Text 13"/>
          <p:cNvSpPr txBox="1"/>
          <p:nvPr/>
        </p:nvSpPr>
        <p:spPr>
          <a:xfrm>
            <a:off x="4599432" y="3657600"/>
            <a:ext cx="3017520" cy="411480"/>
          </a:xfrm>
          <a:prstGeom prst="rect">
            <a:avLst/>
          </a:prstGeom>
          <a:noFill/>
          <a:ln/>
        </p:spPr>
        <p:txBody>
          <a:bodyPr wrap="square" lIns="0" tIns="0" rIns="0" bIns="0" rtlCol="0" anchor="t"/>
          <a:lstStyle/>
          <a:p>
            <a:pPr indent="0" marL="0">
              <a:buNone/>
            </a:pPr>
            <a:r>
              <a:rPr lang="en-US" sz="1800" b="1" dirty="0">
                <a:solidFill>
                  <a:schemeClr val="tx1"/>
                </a:solidFill>
              </a:rPr>
              <a:t>Caught during the build</a:t>
            </a:r>
            <a:endParaRPr lang="en-US" sz="1800" dirty="0"/>
          </a:p>
        </p:txBody>
      </p:sp>
      <p:sp>
        <p:nvSpPr>
          <p:cNvPr id="16" name="Text 14"/>
          <p:cNvSpPr txBox="1"/>
          <p:nvPr/>
        </p:nvSpPr>
        <p:spPr>
          <a:xfrm>
            <a:off x="4599432" y="4114800"/>
            <a:ext cx="3017520" cy="1097280"/>
          </a:xfrm>
          <a:prstGeom prst="rect">
            <a:avLst/>
          </a:prstGeom>
          <a:noFill/>
          <a:ln/>
        </p:spPr>
        <p:txBody>
          <a:bodyPr wrap="square" lIns="0" tIns="0" rIns="0" bIns="0" rtlCol="0" anchor="t"/>
          <a:lstStyle/>
          <a:p>
            <a:pPr indent="0" marL="0">
              <a:buNone/>
            </a:pPr>
            <a:r>
              <a:rPr lang="en-US" sz="1500" dirty="0">
                <a:solidFill>
                  <a:schemeClr val="accent3"/>
                </a:solidFill>
              </a:rPr>
              <a:t>Corrections, re-reads, reverted edits. Every failed attempt stays in the context.</a:t>
            </a:r>
            <a:endParaRPr lang="en-US" sz="1500" dirty="0"/>
          </a:p>
        </p:txBody>
      </p:sp>
      <p:sp>
        <p:nvSpPr>
          <p:cNvPr id="17" name="panel"/>
          <p:cNvSpPr/>
          <p:nvPr/>
        </p:nvSpPr>
        <p:spPr>
          <a:xfrm>
            <a:off x="8010144" y="1691640"/>
            <a:ext cx="3502152" cy="3657600"/>
          </a:xfrm>
          <a:prstGeom prst="roundRect">
            <a:avLst>
              <a:gd name="adj" fmla="val 2089"/>
            </a:avLst>
          </a:prstGeom>
          <a:solidFill>
            <a:schemeClr val="bg2"/>
          </a:solidFill>
          <a:ln w="12700">
            <a:solidFill>
              <a:schemeClr val="bg2"/>
            </a:solidFill>
            <a:prstDash val="solid"/>
          </a:ln>
        </p:spPr>
      </p:sp>
      <p:sp>
        <p:nvSpPr>
          <p:cNvPr id="18" name="cost bar"/>
          <p:cNvSpPr/>
          <p:nvPr/>
        </p:nvSpPr>
        <p:spPr>
          <a:xfrm>
            <a:off x="8284464" y="1965960"/>
            <a:ext cx="502920" cy="1508760"/>
          </a:xfrm>
          <a:prstGeom prst="rect">
            <a:avLst/>
          </a:prstGeom>
          <a:solidFill>
            <a:schemeClr val="tx2"/>
          </a:solidFill>
          <a:ln w="12700">
            <a:solidFill>
              <a:schemeClr val="tx2"/>
            </a:solidFill>
            <a:prstDash val="solid"/>
          </a:ln>
        </p:spPr>
      </p:sp>
      <p:sp>
        <p:nvSpPr>
          <p:cNvPr id="19" name="Text 17"/>
          <p:cNvSpPr txBox="1"/>
          <p:nvPr/>
        </p:nvSpPr>
        <p:spPr>
          <a:xfrm>
            <a:off x="8970264" y="3200400"/>
            <a:ext cx="22860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COST</a:t>
            </a:r>
            <a:endParaRPr lang="en-US" sz="1200" dirty="0"/>
          </a:p>
        </p:txBody>
      </p:sp>
      <p:sp>
        <p:nvSpPr>
          <p:cNvPr id="20" name="Text 18"/>
          <p:cNvSpPr txBox="1"/>
          <p:nvPr/>
        </p:nvSpPr>
        <p:spPr>
          <a:xfrm>
            <a:off x="8970264" y="2788920"/>
            <a:ext cx="2286000" cy="411480"/>
          </a:xfrm>
          <a:prstGeom prst="rect">
            <a:avLst/>
          </a:prstGeom>
          <a:noFill/>
          <a:ln/>
        </p:spPr>
        <p:txBody>
          <a:bodyPr wrap="square" lIns="0" tIns="0" rIns="0" bIns="0" rtlCol="0" anchor="t"/>
          <a:lstStyle/>
          <a:p>
            <a:pPr indent="0" marL="0">
              <a:buNone/>
            </a:pPr>
            <a:r>
              <a:rPr lang="en-US" sz="2200" b="1" dirty="0">
                <a:solidFill>
                  <a:schemeClr val="tx2"/>
                </a:solidFill>
              </a:rPr>
              <a:t>highest</a:t>
            </a:r>
            <a:endParaRPr lang="en-US" sz="2200" dirty="0"/>
          </a:p>
        </p:txBody>
      </p:sp>
      <p:sp>
        <p:nvSpPr>
          <p:cNvPr id="21" name="Text 19"/>
          <p:cNvSpPr txBox="1"/>
          <p:nvPr/>
        </p:nvSpPr>
        <p:spPr>
          <a:xfrm>
            <a:off x="8284464" y="3657600"/>
            <a:ext cx="3017520" cy="411480"/>
          </a:xfrm>
          <a:prstGeom prst="rect">
            <a:avLst/>
          </a:prstGeom>
          <a:noFill/>
          <a:ln/>
        </p:spPr>
        <p:txBody>
          <a:bodyPr wrap="square" lIns="0" tIns="0" rIns="0" bIns="0" rtlCol="0" anchor="t"/>
          <a:lstStyle/>
          <a:p>
            <a:pPr indent="0" marL="0">
              <a:buNone/>
            </a:pPr>
            <a:r>
              <a:rPr lang="en-US" sz="1800" b="1" dirty="0">
                <a:solidFill>
                  <a:schemeClr val="tx1"/>
                </a:solidFill>
              </a:rPr>
              <a:t>Caught in review or prod</a:t>
            </a:r>
            <a:endParaRPr lang="en-US" sz="1800" dirty="0"/>
          </a:p>
        </p:txBody>
      </p:sp>
      <p:sp>
        <p:nvSpPr>
          <p:cNvPr id="22" name="Text 20"/>
          <p:cNvSpPr txBox="1"/>
          <p:nvPr/>
        </p:nvSpPr>
        <p:spPr>
          <a:xfrm>
            <a:off x="8284464" y="4114800"/>
            <a:ext cx="3017520" cy="1097280"/>
          </a:xfrm>
          <a:prstGeom prst="rect">
            <a:avLst/>
          </a:prstGeom>
          <a:noFill/>
          <a:ln/>
        </p:spPr>
        <p:txBody>
          <a:bodyPr wrap="square" lIns="0" tIns="0" rIns="0" bIns="0" rtlCol="0" anchor="t"/>
          <a:lstStyle/>
          <a:p>
            <a:pPr indent="0" marL="0">
              <a:buNone/>
            </a:pPr>
            <a:r>
              <a:rPr lang="en-US" sz="1500" dirty="0">
                <a:solidFill>
                  <a:schemeClr val="accent3"/>
                </a:solidFill>
              </a:rPr>
              <a:t>PR churn, a new session to rediscover it all, maybe an incident.</a:t>
            </a:r>
            <a:endParaRPr lang="en-US" sz="1500" dirty="0"/>
          </a:p>
        </p:txBody>
      </p:sp>
      <p:sp>
        <p:nvSpPr>
          <p:cNvPr id="23" name="panel"/>
          <p:cNvSpPr/>
          <p:nvPr/>
        </p:nvSpPr>
        <p:spPr>
          <a:xfrm>
            <a:off x="640080" y="5532120"/>
            <a:ext cx="10881360" cy="685800"/>
          </a:xfrm>
          <a:prstGeom prst="roundRect">
            <a:avLst>
              <a:gd name="adj" fmla="val 10667"/>
            </a:avLst>
          </a:prstGeom>
          <a:solidFill>
            <a:schemeClr val="bg2"/>
          </a:solidFill>
          <a:ln w="12700">
            <a:solidFill>
              <a:schemeClr val="bg2"/>
            </a:solidFill>
            <a:prstDash val="solid"/>
          </a:ln>
        </p:spPr>
      </p:sp>
      <p:sp>
        <p:nvSpPr>
          <p:cNvPr id="24" name="Text 22"/>
          <p:cNvSpPr txBox="1"/>
          <p:nvPr/>
        </p:nvSpPr>
        <p:spPr>
          <a:xfrm>
            <a:off x="868680" y="5532120"/>
            <a:ext cx="10424160" cy="685800"/>
          </a:xfrm>
          <a:prstGeom prst="rect">
            <a:avLst/>
          </a:prstGeom>
          <a:noFill/>
          <a:ln/>
        </p:spPr>
        <p:txBody>
          <a:bodyPr wrap="square" lIns="0" tIns="0" rIns="0" bIns="0" rtlCol="0" anchor="ctr"/>
          <a:lstStyle/>
          <a:p>
            <a:pPr indent="0" marL="0">
              <a:buNone/>
            </a:pPr>
            <a:r>
              <a:rPr lang="en-US" sz="1500" b="1" dirty="0">
                <a:solidFill>
                  <a:schemeClr val="tx2"/>
                </a:solidFill>
              </a:rPr>
              <a:t>In Demo 1 the agent planned silently, inside its own head, where nobody could ask "does exactly £100 count?" before it was written.</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2 · EUGENE</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A plan that keeps the agent on target</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Ask for these sections, read them, then treat the approved plan as the contract.</a:t>
            </a:r>
            <a:endParaRPr lang="en-US" sz="1500" dirty="0"/>
          </a:p>
        </p:txBody>
      </p:sp>
      <p:sp>
        <p:nvSpPr>
          <p:cNvPr id="5" name="Text 3"/>
          <p:cNvSpPr txBox="1"/>
          <p:nvPr/>
        </p:nvSpPr>
        <p:spPr>
          <a:xfrm>
            <a:off x="640080" y="1691640"/>
            <a:ext cx="603504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ASK THE PLAN FOR</a:t>
            </a:r>
            <a:endParaRPr lang="en-US" sz="1200" dirty="0"/>
          </a:p>
        </p:txBody>
      </p:sp>
      <p:sp>
        <p:nvSpPr>
          <p:cNvPr id="6" name="panel"/>
          <p:cNvSpPr/>
          <p:nvPr/>
        </p:nvSpPr>
        <p:spPr>
          <a:xfrm>
            <a:off x="640080" y="2011680"/>
            <a:ext cx="6035040" cy="2926080"/>
          </a:xfrm>
          <a:prstGeom prst="roundRect">
            <a:avLst>
              <a:gd name="adj" fmla="val 2500"/>
            </a:avLst>
          </a:prstGeom>
          <a:solidFill>
            <a:schemeClr val="tx1"/>
          </a:solidFill>
          <a:ln w="12700">
            <a:solidFill>
              <a:schemeClr val="tx1"/>
            </a:solidFill>
            <a:prstDash val="solid"/>
          </a:ln>
        </p:spPr>
      </p:sp>
      <p:sp>
        <p:nvSpPr>
          <p:cNvPr id="7" name="code"/>
          <p:cNvSpPr txBox="1"/>
          <p:nvPr/>
        </p:nvSpPr>
        <p:spPr>
          <a:xfrm>
            <a:off x="868680" y="2176272"/>
            <a:ext cx="5577840" cy="2596896"/>
          </a:xfrm>
          <a:prstGeom prst="rect">
            <a:avLst/>
          </a:prstGeom>
          <a:noFill/>
          <a:ln/>
        </p:spPr>
        <p:txBody>
          <a:bodyPr wrap="square" lIns="0" tIns="0" rIns="0" bIns="0" rtlCol="0" anchor="t"/>
          <a:lstStyle/>
          <a:p>
            <a:pPr indent="0" marL="0">
              <a:buNone/>
            </a:pPr>
            <a:r>
              <a:rPr lang="en-US" sz="1400" dirty="0">
                <a:solidFill>
                  <a:schemeClr val="bg2"/>
                </a:solidFill>
                <a:latin typeface="Consolas" pitchFamily="34" charset="0"/>
                <a:ea typeface="Consolas" pitchFamily="34" charset="-122"/>
                <a:cs typeface="Consolas" pitchFamily="34" charset="-120"/>
              </a:rPr>
              <a:t>Goal         one line, in your words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Change       shipping-price.ts,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pricing-policy.ts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Don't touch  src/shipping/, price-breakdown</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Approach     &gt;= threshold, after discount,</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standard method only</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Tests        £99.99 / £100 / £150; express;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£120 - 20% = £96 still pays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Verify       npm test -- tests/pricing</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Open Qs      anything it had to guess</a:t>
            </a:r>
            <a:endParaRPr lang="en-US" sz="1400" dirty="0"/>
          </a:p>
        </p:txBody>
      </p:sp>
      <p:sp>
        <p:nvSpPr>
          <p:cNvPr id="8" name="panel"/>
          <p:cNvSpPr/>
          <p:nvPr/>
        </p:nvSpPr>
        <p:spPr>
          <a:xfrm>
            <a:off x="6995160" y="1691640"/>
            <a:ext cx="4526280" cy="3246120"/>
          </a:xfrm>
          <a:prstGeom prst="roundRect">
            <a:avLst>
              <a:gd name="adj" fmla="val 2254"/>
            </a:avLst>
          </a:prstGeom>
          <a:solidFill>
            <a:schemeClr val="bg2"/>
          </a:solidFill>
          <a:ln w="12700">
            <a:solidFill>
              <a:schemeClr val="bg2"/>
            </a:solidFill>
            <a:prstDash val="solid"/>
          </a:ln>
        </p:spPr>
      </p:sp>
      <p:sp>
        <p:nvSpPr>
          <p:cNvPr id="9" name="glyph circle"/>
          <p:cNvSpPr/>
          <p:nvPr/>
        </p:nvSpPr>
        <p:spPr>
          <a:xfrm>
            <a:off x="7269480" y="1920240"/>
            <a:ext cx="457200" cy="457200"/>
          </a:xfrm>
          <a:prstGeom prst="ellipse">
            <a:avLst/>
          </a:prstGeom>
          <a:solidFill>
            <a:schemeClr val="accent2"/>
          </a:solidFill>
          <a:ln w="12700">
            <a:solidFill>
              <a:schemeClr val="accent2"/>
            </a:solidFill>
            <a:prstDash val="solid"/>
          </a:ln>
        </p:spPr>
      </p:sp>
      <p:sp>
        <p:nvSpPr>
          <p:cNvPr id="10" name="Text 8"/>
          <p:cNvSpPr txBox="1"/>
          <p:nvPr/>
        </p:nvSpPr>
        <p:spPr>
          <a:xfrm>
            <a:off x="7269480" y="19202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1" name="Text 9"/>
          <p:cNvSpPr txBox="1"/>
          <p:nvPr/>
        </p:nvSpPr>
        <p:spPr>
          <a:xfrm>
            <a:off x="7863840" y="1938528"/>
            <a:ext cx="3474720" cy="411480"/>
          </a:xfrm>
          <a:prstGeom prst="rect">
            <a:avLst/>
          </a:prstGeom>
          <a:noFill/>
          <a:ln/>
        </p:spPr>
        <p:txBody>
          <a:bodyPr wrap="square" lIns="0" tIns="0" rIns="0" bIns="0" rtlCol="0" anchor="t"/>
          <a:lstStyle/>
          <a:p>
            <a:pPr indent="0" marL="0">
              <a:buNone/>
            </a:pPr>
            <a:r>
              <a:rPr lang="en-US" sz="1800" b="1" dirty="0">
                <a:solidFill>
                  <a:schemeClr val="tx2"/>
                </a:solidFill>
              </a:rPr>
              <a:t>Then it's the contract</a:t>
            </a:r>
            <a:endParaRPr lang="en-US" sz="1800" dirty="0"/>
          </a:p>
        </p:txBody>
      </p:sp>
      <p:sp>
        <p:nvSpPr>
          <p:cNvPr id="12" name="Text 10"/>
          <p:cNvSpPr txBox="1"/>
          <p:nvPr/>
        </p:nvSpPr>
        <p:spPr>
          <a:xfrm>
            <a:off x="7269480" y="2514600"/>
            <a:ext cx="4069080" cy="237744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Approve only what you've read</a:t>
            </a:r>
            <a:endParaRPr lang="en-US" sz="1500" dirty="0"/>
          </a:p>
          <a:p>
            <a:pPr marL="228600" indent="-228600">
              <a:spcAft>
                <a:spcPts val="800"/>
              </a:spcAft>
              <a:buSzPct val="100000"/>
              <a:buChar char="•"/>
            </a:pPr>
            <a:r>
              <a:rPr lang="en-US" sz="1500" dirty="0">
                <a:solidFill>
                  <a:schemeClr val="tx1"/>
                </a:solidFill>
              </a:rPr>
              <a:t>Build only what's in the plan</a:t>
            </a:r>
            <a:endParaRPr lang="en-US" sz="1500" dirty="0"/>
          </a:p>
          <a:p>
            <a:pPr marL="228600" indent="-228600">
              <a:spcAft>
                <a:spcPts val="800"/>
              </a:spcAft>
              <a:buSzPct val="100000"/>
              <a:buChar char="•"/>
            </a:pPr>
            <a:r>
              <a:rPr lang="en-US" sz="1500" dirty="0">
                <a:solidFill>
                  <a:schemeClr val="tx1"/>
                </a:solidFill>
              </a:rPr>
              <a:t>New evidence? Stop and re-plan; don't patch around it</a:t>
            </a:r>
            <a:endParaRPr lang="en-US" sz="1500" dirty="0"/>
          </a:p>
          <a:p>
            <a:pPr marL="228600" indent="-228600">
              <a:spcAft>
                <a:spcPts val="800"/>
              </a:spcAft>
              <a:buSzPct val="100000"/>
              <a:buChar char="•"/>
            </a:pPr>
            <a:r>
              <a:rPr lang="en-US" sz="1500" dirty="0">
                <a:solidFill>
                  <a:schemeClr val="tx1"/>
                </a:solidFill>
              </a:rPr>
              <a:t>"Don't touch" is what stops the drive-by refactor</a:t>
            </a:r>
            <a:endParaRPr lang="en-US" sz="1500" dirty="0"/>
          </a:p>
          <a:p>
            <a:pPr marL="228600" indent="-228600">
              <a:spcAft>
                <a:spcPts val="800"/>
              </a:spcAft>
              <a:buSzPct val="100000"/>
              <a:buChar char="•"/>
            </a:pPr>
            <a:r>
              <a:rPr lang="en-US" sz="1500" dirty="0">
                <a:solidFill>
                  <a:schemeClr val="tx1"/>
                </a:solidFill>
              </a:rPr>
              <a:t>Skip planning when the fix is one obvious line</a:t>
            </a:r>
            <a:endParaRPr lang="en-US" sz="1500" dirty="0"/>
          </a:p>
        </p:txBody>
      </p:sp>
      <p:sp>
        <p:nvSpPr>
          <p:cNvPr id="13" name="panel"/>
          <p:cNvSpPr/>
          <p:nvPr/>
        </p:nvSpPr>
        <p:spPr>
          <a:xfrm>
            <a:off x="640080" y="5212080"/>
            <a:ext cx="10881360" cy="548640"/>
          </a:xfrm>
          <a:prstGeom prst="roundRect">
            <a:avLst>
              <a:gd name="adj" fmla="val 13333"/>
            </a:avLst>
          </a:prstGeom>
          <a:solidFill>
            <a:schemeClr val="bg2"/>
          </a:solidFill>
          <a:ln w="12700">
            <a:solidFill>
              <a:schemeClr val="bg2"/>
            </a:solidFill>
            <a:prstDash val="solid"/>
          </a:ln>
        </p:spPr>
      </p:sp>
      <p:sp>
        <p:nvSpPr>
          <p:cNvPr id="14" name="Text 12"/>
          <p:cNvSpPr txBox="1"/>
          <p:nvPr/>
        </p:nvSpPr>
        <p:spPr>
          <a:xfrm>
            <a:off x="868680" y="5212080"/>
            <a:ext cx="10424160" cy="548640"/>
          </a:xfrm>
          <a:prstGeom prst="rect">
            <a:avLst/>
          </a:prstGeom>
          <a:noFill/>
          <a:ln/>
        </p:spPr>
        <p:txBody>
          <a:bodyPr wrap="square" lIns="0" tIns="0" rIns="0" bIns="0" rtlCol="0" anchor="ctr"/>
          <a:lstStyle/>
          <a:p>
            <a:pPr indent="0" marL="0">
              <a:buNone/>
            </a:pPr>
            <a:r>
              <a:rPr lang="en-US" sz="1500" b="1" dirty="0">
                <a:solidFill>
                  <a:schemeClr val="tx2"/>
                </a:solidFill>
              </a:rPr>
              <a:t>A plan that just restates your prompt cost tokens and bought nothing. A good plan says something you didn't.</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2 · EUGENE</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Plan, save, clear, build</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Exploring is expensive and noisy. Keep the conclusion, throw away the search.</a:t>
            </a:r>
            <a:endParaRPr lang="en-US" sz="1500" dirty="0"/>
          </a:p>
        </p:txBody>
      </p:sp>
      <p:sp>
        <p:nvSpPr>
          <p:cNvPr id="5" name="panel"/>
          <p:cNvSpPr/>
          <p:nvPr/>
        </p:nvSpPr>
        <p:spPr>
          <a:xfrm>
            <a:off x="640080" y="1691640"/>
            <a:ext cx="2578608" cy="3703320"/>
          </a:xfrm>
          <a:prstGeom prst="roundRect">
            <a:avLst>
              <a:gd name="adj" fmla="val 2837"/>
            </a:avLst>
          </a:prstGeom>
          <a:solidFill>
            <a:schemeClr val="bg2"/>
          </a:solidFill>
          <a:ln w="12700">
            <a:solidFill>
              <a:schemeClr val="bg2"/>
            </a:solidFill>
            <a:prstDash val="solid"/>
          </a:ln>
        </p:spPr>
      </p:sp>
      <p:sp>
        <p:nvSpPr>
          <p:cNvPr id="6" name="glyph circle"/>
          <p:cNvSpPr/>
          <p:nvPr/>
        </p:nvSpPr>
        <p:spPr>
          <a:xfrm>
            <a:off x="868680" y="1920240"/>
            <a:ext cx="502920" cy="502920"/>
          </a:xfrm>
          <a:prstGeom prst="ellipse">
            <a:avLst/>
          </a:prstGeom>
          <a:solidFill>
            <a:schemeClr val="accent1"/>
          </a:solidFill>
          <a:ln w="12700">
            <a:solidFill>
              <a:schemeClr val="accent1"/>
            </a:solidFill>
            <a:prstDash val="solid"/>
          </a:ln>
        </p:spPr>
      </p:sp>
      <p:sp>
        <p:nvSpPr>
          <p:cNvPr id="7" name="Text 5"/>
          <p:cNvSpPr txBox="1"/>
          <p:nvPr/>
        </p:nvSpPr>
        <p:spPr>
          <a:xfrm>
            <a:off x="868680" y="1920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6"/>
          <p:cNvSpPr txBox="1"/>
          <p:nvPr/>
        </p:nvSpPr>
        <p:spPr>
          <a:xfrm>
            <a:off x="1508760" y="1965960"/>
            <a:ext cx="1554480" cy="411480"/>
          </a:xfrm>
          <a:prstGeom prst="rect">
            <a:avLst/>
          </a:prstGeom>
          <a:noFill/>
          <a:ln/>
        </p:spPr>
        <p:txBody>
          <a:bodyPr wrap="square" lIns="0" tIns="0" rIns="0" bIns="0" rtlCol="0" anchor="t"/>
          <a:lstStyle/>
          <a:p>
            <a:pPr indent="0" marL="0">
              <a:buNone/>
            </a:pPr>
            <a:r>
              <a:rPr lang="en-US" sz="2200" b="1" dirty="0">
                <a:solidFill>
                  <a:schemeClr val="accent1"/>
                </a:solidFill>
              </a:rPr>
              <a:t>Plan</a:t>
            </a:r>
            <a:endParaRPr lang="en-US" sz="2200" dirty="0"/>
          </a:p>
        </p:txBody>
      </p:sp>
      <p:sp>
        <p:nvSpPr>
          <p:cNvPr id="9" name="Text 7"/>
          <p:cNvSpPr txBox="1"/>
          <p:nvPr/>
        </p:nvSpPr>
        <p:spPr>
          <a:xfrm>
            <a:off x="868680" y="2606040"/>
            <a:ext cx="2148840" cy="1463040"/>
          </a:xfrm>
          <a:prstGeom prst="rect">
            <a:avLst/>
          </a:prstGeom>
          <a:noFill/>
          <a:ln/>
        </p:spPr>
        <p:txBody>
          <a:bodyPr wrap="square" lIns="0" tIns="0" rIns="0" bIns="0" rtlCol="0" anchor="t"/>
          <a:lstStyle/>
          <a:p>
            <a:pPr indent="0" marL="0">
              <a:buNone/>
            </a:pPr>
            <a:r>
              <a:rPr lang="en-US" sz="1500" dirty="0">
                <a:solidFill>
                  <a:schemeClr val="accent3"/>
                </a:solidFill>
              </a:rPr>
              <a:t>Plan mode. The agent reads and explores; the window fills with search results.</a:t>
            </a:r>
            <a:endParaRPr lang="en-US" sz="1500" dirty="0"/>
          </a:p>
        </p:txBody>
      </p:sp>
      <p:sp>
        <p:nvSpPr>
          <p:cNvPr id="10" name="Text 8"/>
          <p:cNvSpPr txBox="1"/>
          <p:nvPr/>
        </p:nvSpPr>
        <p:spPr>
          <a:xfrm>
            <a:off x="868680" y="4343400"/>
            <a:ext cx="2103120"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CONTEXT USED</a:t>
            </a:r>
            <a:endParaRPr lang="en-US" sz="1000" dirty="0"/>
          </a:p>
        </p:txBody>
      </p:sp>
      <p:sp>
        <p:nvSpPr>
          <p:cNvPr id="11" name="context bar frame"/>
          <p:cNvSpPr/>
          <p:nvPr/>
        </p:nvSpPr>
        <p:spPr>
          <a:xfrm>
            <a:off x="868680" y="4617720"/>
            <a:ext cx="2103120" cy="320040"/>
          </a:xfrm>
          <a:prstGeom prst="rect">
            <a:avLst/>
          </a:prstGeom>
          <a:solidFill>
            <a:schemeClr val="bg1"/>
          </a:solidFill>
          <a:ln w="12700">
            <a:solidFill>
              <a:schemeClr val="accent5"/>
            </a:solidFill>
            <a:prstDash val="solid"/>
          </a:ln>
        </p:spPr>
      </p:sp>
      <p:sp>
        <p:nvSpPr>
          <p:cNvPr id="12" name="context bar fill"/>
          <p:cNvSpPr/>
          <p:nvPr/>
        </p:nvSpPr>
        <p:spPr>
          <a:xfrm>
            <a:off x="868680" y="4617720"/>
            <a:ext cx="1156716" cy="320040"/>
          </a:xfrm>
          <a:prstGeom prst="rect">
            <a:avLst/>
          </a:prstGeom>
          <a:solidFill>
            <a:schemeClr val="accent1"/>
          </a:solidFill>
          <a:ln w="12700">
            <a:solidFill>
              <a:schemeClr val="accent1"/>
            </a:solidFill>
            <a:prstDash val="solid"/>
          </a:ln>
        </p:spPr>
      </p:sp>
      <p:sp>
        <p:nvSpPr>
          <p:cNvPr id="13" name="Text 11"/>
          <p:cNvSpPr txBox="1"/>
          <p:nvPr/>
        </p:nvSpPr>
        <p:spPr>
          <a:xfrm>
            <a:off x="3200400" y="3108960"/>
            <a:ext cx="219456" cy="457200"/>
          </a:xfrm>
          <a:prstGeom prst="rect">
            <a:avLst/>
          </a:prstGeom>
          <a:noFill/>
          <a:ln/>
        </p:spPr>
        <p:txBody>
          <a:bodyPr wrap="square" lIns="0" tIns="0" rIns="0" bIns="0" rtlCol="0" anchor="t"/>
          <a:lstStyle/>
          <a:p>
            <a:pPr algn="ctr" indent="0" marL="0">
              <a:buNone/>
            </a:pPr>
            <a:r>
              <a:rPr lang="en-US" sz="2600" b="1" dirty="0">
                <a:solidFill>
                  <a:schemeClr val="accent6"/>
                </a:solidFill>
              </a:rPr>
              <a:t>›</a:t>
            </a:r>
            <a:endParaRPr lang="en-US" sz="2600" dirty="0"/>
          </a:p>
        </p:txBody>
      </p:sp>
      <p:sp>
        <p:nvSpPr>
          <p:cNvPr id="14" name="panel"/>
          <p:cNvSpPr/>
          <p:nvPr/>
        </p:nvSpPr>
        <p:spPr>
          <a:xfrm>
            <a:off x="3401568" y="1691640"/>
            <a:ext cx="2578608" cy="3703320"/>
          </a:xfrm>
          <a:prstGeom prst="roundRect">
            <a:avLst>
              <a:gd name="adj" fmla="val 2837"/>
            </a:avLst>
          </a:prstGeom>
          <a:solidFill>
            <a:schemeClr val="bg2"/>
          </a:solidFill>
          <a:ln w="12700">
            <a:solidFill>
              <a:schemeClr val="bg2"/>
            </a:solidFill>
            <a:prstDash val="solid"/>
          </a:ln>
        </p:spPr>
      </p:sp>
      <p:sp>
        <p:nvSpPr>
          <p:cNvPr id="15" name="glyph circle"/>
          <p:cNvSpPr/>
          <p:nvPr/>
        </p:nvSpPr>
        <p:spPr>
          <a:xfrm>
            <a:off x="3630168" y="1920240"/>
            <a:ext cx="502920" cy="502920"/>
          </a:xfrm>
          <a:prstGeom prst="ellipse">
            <a:avLst/>
          </a:prstGeom>
          <a:solidFill>
            <a:schemeClr val="tx2"/>
          </a:solidFill>
          <a:ln w="12700">
            <a:solidFill>
              <a:schemeClr val="tx2"/>
            </a:solidFill>
            <a:prstDash val="solid"/>
          </a:ln>
        </p:spPr>
      </p:sp>
      <p:sp>
        <p:nvSpPr>
          <p:cNvPr id="16" name="Text 14"/>
          <p:cNvSpPr txBox="1"/>
          <p:nvPr/>
        </p:nvSpPr>
        <p:spPr>
          <a:xfrm>
            <a:off x="3630168" y="1920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7" name="Text 15"/>
          <p:cNvSpPr txBox="1"/>
          <p:nvPr/>
        </p:nvSpPr>
        <p:spPr>
          <a:xfrm>
            <a:off x="4270248" y="1965960"/>
            <a:ext cx="1554480" cy="411480"/>
          </a:xfrm>
          <a:prstGeom prst="rect">
            <a:avLst/>
          </a:prstGeom>
          <a:noFill/>
          <a:ln/>
        </p:spPr>
        <p:txBody>
          <a:bodyPr wrap="square" lIns="0" tIns="0" rIns="0" bIns="0" rtlCol="0" anchor="t"/>
          <a:lstStyle/>
          <a:p>
            <a:pPr indent="0" marL="0">
              <a:buNone/>
            </a:pPr>
            <a:r>
              <a:rPr lang="en-US" sz="2200" b="1" dirty="0">
                <a:solidFill>
                  <a:schemeClr val="tx2"/>
                </a:solidFill>
              </a:rPr>
              <a:t>Save</a:t>
            </a:r>
            <a:endParaRPr lang="en-US" sz="2200" dirty="0"/>
          </a:p>
        </p:txBody>
      </p:sp>
      <p:sp>
        <p:nvSpPr>
          <p:cNvPr id="18" name="Text 16"/>
          <p:cNvSpPr txBox="1"/>
          <p:nvPr/>
        </p:nvSpPr>
        <p:spPr>
          <a:xfrm>
            <a:off x="3630168" y="2606040"/>
            <a:ext cx="2148840" cy="1463040"/>
          </a:xfrm>
          <a:prstGeom prst="rect">
            <a:avLst/>
          </a:prstGeom>
          <a:noFill/>
          <a:ln/>
        </p:spPr>
        <p:txBody>
          <a:bodyPr wrap="square" lIns="0" tIns="0" rIns="0" bIns="0" rtlCol="0" anchor="t"/>
          <a:lstStyle/>
          <a:p>
            <a:pPr indent="0" marL="0">
              <a:buNone/>
            </a:pPr>
            <a:r>
              <a:rPr lang="en-US" sz="1500" dirty="0">
                <a:solidFill>
                  <a:schemeClr val="accent3"/>
                </a:solidFill>
              </a:rPr>
              <a:t>Write the approved plan to plans/&lt;task&gt;.md. It's the compressed knowledge.</a:t>
            </a:r>
            <a:endParaRPr lang="en-US" sz="1500" dirty="0"/>
          </a:p>
        </p:txBody>
      </p:sp>
      <p:sp>
        <p:nvSpPr>
          <p:cNvPr id="19" name="Text 17"/>
          <p:cNvSpPr txBox="1"/>
          <p:nvPr/>
        </p:nvSpPr>
        <p:spPr>
          <a:xfrm>
            <a:off x="3630168" y="4343400"/>
            <a:ext cx="2103120"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CONTEXT USED</a:t>
            </a:r>
            <a:endParaRPr lang="en-US" sz="1000" dirty="0"/>
          </a:p>
        </p:txBody>
      </p:sp>
      <p:sp>
        <p:nvSpPr>
          <p:cNvPr id="20" name="context bar frame"/>
          <p:cNvSpPr/>
          <p:nvPr/>
        </p:nvSpPr>
        <p:spPr>
          <a:xfrm>
            <a:off x="3630168" y="4617720"/>
            <a:ext cx="2103120" cy="320040"/>
          </a:xfrm>
          <a:prstGeom prst="rect">
            <a:avLst/>
          </a:prstGeom>
          <a:solidFill>
            <a:schemeClr val="bg1"/>
          </a:solidFill>
          <a:ln w="12700">
            <a:solidFill>
              <a:schemeClr val="accent5"/>
            </a:solidFill>
            <a:prstDash val="solid"/>
          </a:ln>
        </p:spPr>
      </p:sp>
      <p:sp>
        <p:nvSpPr>
          <p:cNvPr id="21" name="context bar fill"/>
          <p:cNvSpPr/>
          <p:nvPr/>
        </p:nvSpPr>
        <p:spPr>
          <a:xfrm>
            <a:off x="3630168" y="4617720"/>
            <a:ext cx="1261872" cy="320040"/>
          </a:xfrm>
          <a:prstGeom prst="rect">
            <a:avLst/>
          </a:prstGeom>
          <a:solidFill>
            <a:schemeClr val="tx2"/>
          </a:solidFill>
          <a:ln w="12700">
            <a:solidFill>
              <a:schemeClr val="tx2"/>
            </a:solidFill>
            <a:prstDash val="solid"/>
          </a:ln>
        </p:spPr>
      </p:sp>
      <p:sp>
        <p:nvSpPr>
          <p:cNvPr id="22" name="Text 20"/>
          <p:cNvSpPr txBox="1"/>
          <p:nvPr/>
        </p:nvSpPr>
        <p:spPr>
          <a:xfrm>
            <a:off x="5961888" y="3108960"/>
            <a:ext cx="219456" cy="457200"/>
          </a:xfrm>
          <a:prstGeom prst="rect">
            <a:avLst/>
          </a:prstGeom>
          <a:noFill/>
          <a:ln/>
        </p:spPr>
        <p:txBody>
          <a:bodyPr wrap="square" lIns="0" tIns="0" rIns="0" bIns="0" rtlCol="0" anchor="t"/>
          <a:lstStyle/>
          <a:p>
            <a:pPr algn="ctr" indent="0" marL="0">
              <a:buNone/>
            </a:pPr>
            <a:r>
              <a:rPr lang="en-US" sz="2600" b="1" dirty="0">
                <a:solidFill>
                  <a:schemeClr val="accent6"/>
                </a:solidFill>
              </a:rPr>
              <a:t>›</a:t>
            </a:r>
            <a:endParaRPr lang="en-US" sz="2600" dirty="0"/>
          </a:p>
        </p:txBody>
      </p:sp>
      <p:sp>
        <p:nvSpPr>
          <p:cNvPr id="23" name="panel"/>
          <p:cNvSpPr/>
          <p:nvPr/>
        </p:nvSpPr>
        <p:spPr>
          <a:xfrm>
            <a:off x="6163056" y="1691640"/>
            <a:ext cx="2578608" cy="3703320"/>
          </a:xfrm>
          <a:prstGeom prst="roundRect">
            <a:avLst>
              <a:gd name="adj" fmla="val 2837"/>
            </a:avLst>
          </a:prstGeom>
          <a:solidFill>
            <a:schemeClr val="bg2"/>
          </a:solidFill>
          <a:ln w="12700">
            <a:solidFill>
              <a:schemeClr val="bg2"/>
            </a:solidFill>
            <a:prstDash val="solid"/>
          </a:ln>
        </p:spPr>
      </p:sp>
      <p:sp>
        <p:nvSpPr>
          <p:cNvPr id="24" name="glyph circle"/>
          <p:cNvSpPr/>
          <p:nvPr/>
        </p:nvSpPr>
        <p:spPr>
          <a:xfrm>
            <a:off x="6391656" y="1920240"/>
            <a:ext cx="502920" cy="502920"/>
          </a:xfrm>
          <a:prstGeom prst="ellipse">
            <a:avLst/>
          </a:prstGeom>
          <a:solidFill>
            <a:schemeClr val="accent2"/>
          </a:solidFill>
          <a:ln w="12700">
            <a:solidFill>
              <a:schemeClr val="accent2"/>
            </a:solidFill>
            <a:prstDash val="solid"/>
          </a:ln>
        </p:spPr>
      </p:sp>
      <p:sp>
        <p:nvSpPr>
          <p:cNvPr id="25" name="Text 23"/>
          <p:cNvSpPr txBox="1"/>
          <p:nvPr/>
        </p:nvSpPr>
        <p:spPr>
          <a:xfrm>
            <a:off x="6391656" y="1920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6" name="Text 24"/>
          <p:cNvSpPr txBox="1"/>
          <p:nvPr/>
        </p:nvSpPr>
        <p:spPr>
          <a:xfrm>
            <a:off x="7031736" y="1965960"/>
            <a:ext cx="1554480" cy="411480"/>
          </a:xfrm>
          <a:prstGeom prst="rect">
            <a:avLst/>
          </a:prstGeom>
          <a:noFill/>
          <a:ln/>
        </p:spPr>
        <p:txBody>
          <a:bodyPr wrap="square" lIns="0" tIns="0" rIns="0" bIns="0" rtlCol="0" anchor="t"/>
          <a:lstStyle/>
          <a:p>
            <a:pPr indent="0" marL="0">
              <a:buNone/>
            </a:pPr>
            <a:r>
              <a:rPr lang="en-US" sz="2200" b="1" dirty="0">
                <a:solidFill>
                  <a:schemeClr val="accent2"/>
                </a:solidFill>
              </a:rPr>
              <a:t>Clear</a:t>
            </a:r>
            <a:endParaRPr lang="en-US" sz="2200" dirty="0"/>
          </a:p>
        </p:txBody>
      </p:sp>
      <p:sp>
        <p:nvSpPr>
          <p:cNvPr id="27" name="Text 25"/>
          <p:cNvSpPr txBox="1"/>
          <p:nvPr/>
        </p:nvSpPr>
        <p:spPr>
          <a:xfrm>
            <a:off x="6391656" y="2606040"/>
            <a:ext cx="2148840" cy="1463040"/>
          </a:xfrm>
          <a:prstGeom prst="rect">
            <a:avLst/>
          </a:prstGeom>
          <a:noFill/>
          <a:ln/>
        </p:spPr>
        <p:txBody>
          <a:bodyPr wrap="square" lIns="0" tIns="0" rIns="0" bIns="0" rtlCol="0" anchor="t"/>
          <a:lstStyle/>
          <a:p>
            <a:pPr indent="0" marL="0">
              <a:buNone/>
            </a:pPr>
            <a:r>
              <a:rPr lang="en-US" sz="1500" dirty="0">
                <a:solidFill>
                  <a:schemeClr val="accent3"/>
                </a:solidFill>
              </a:rPr>
              <a:t>/clear. The exploration noise is gone; the plan file and the repo remain.</a:t>
            </a:r>
            <a:endParaRPr lang="en-US" sz="1500" dirty="0"/>
          </a:p>
        </p:txBody>
      </p:sp>
      <p:sp>
        <p:nvSpPr>
          <p:cNvPr id="28" name="Text 26"/>
          <p:cNvSpPr txBox="1"/>
          <p:nvPr/>
        </p:nvSpPr>
        <p:spPr>
          <a:xfrm>
            <a:off x="6391656" y="4343400"/>
            <a:ext cx="2103120"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CONTEXT USED</a:t>
            </a:r>
            <a:endParaRPr lang="en-US" sz="1000" dirty="0"/>
          </a:p>
        </p:txBody>
      </p:sp>
      <p:sp>
        <p:nvSpPr>
          <p:cNvPr id="29" name="context bar frame"/>
          <p:cNvSpPr/>
          <p:nvPr/>
        </p:nvSpPr>
        <p:spPr>
          <a:xfrm>
            <a:off x="6391656" y="4617720"/>
            <a:ext cx="2103120" cy="320040"/>
          </a:xfrm>
          <a:prstGeom prst="rect">
            <a:avLst/>
          </a:prstGeom>
          <a:solidFill>
            <a:schemeClr val="bg1"/>
          </a:solidFill>
          <a:ln w="12700">
            <a:solidFill>
              <a:schemeClr val="accent5"/>
            </a:solidFill>
            <a:prstDash val="solid"/>
          </a:ln>
        </p:spPr>
      </p:sp>
      <p:sp>
        <p:nvSpPr>
          <p:cNvPr id="30" name="context bar fill"/>
          <p:cNvSpPr/>
          <p:nvPr/>
        </p:nvSpPr>
        <p:spPr>
          <a:xfrm>
            <a:off x="6391656" y="4617720"/>
            <a:ext cx="168250" cy="320040"/>
          </a:xfrm>
          <a:prstGeom prst="rect">
            <a:avLst/>
          </a:prstGeom>
          <a:solidFill>
            <a:schemeClr val="accent2"/>
          </a:solidFill>
          <a:ln w="12700">
            <a:solidFill>
              <a:schemeClr val="accent2"/>
            </a:solidFill>
            <a:prstDash val="solid"/>
          </a:ln>
        </p:spPr>
      </p:sp>
      <p:sp>
        <p:nvSpPr>
          <p:cNvPr id="31" name="Text 29"/>
          <p:cNvSpPr txBox="1"/>
          <p:nvPr/>
        </p:nvSpPr>
        <p:spPr>
          <a:xfrm>
            <a:off x="8723376" y="3108960"/>
            <a:ext cx="219456" cy="457200"/>
          </a:xfrm>
          <a:prstGeom prst="rect">
            <a:avLst/>
          </a:prstGeom>
          <a:noFill/>
          <a:ln/>
        </p:spPr>
        <p:txBody>
          <a:bodyPr wrap="square" lIns="0" tIns="0" rIns="0" bIns="0" rtlCol="0" anchor="t"/>
          <a:lstStyle/>
          <a:p>
            <a:pPr algn="ctr" indent="0" marL="0">
              <a:buNone/>
            </a:pPr>
            <a:r>
              <a:rPr lang="en-US" sz="2600" b="1" dirty="0">
                <a:solidFill>
                  <a:schemeClr val="accent6"/>
                </a:solidFill>
              </a:rPr>
              <a:t>›</a:t>
            </a:r>
            <a:endParaRPr lang="en-US" sz="2600" dirty="0"/>
          </a:p>
        </p:txBody>
      </p:sp>
      <p:sp>
        <p:nvSpPr>
          <p:cNvPr id="32" name="panel"/>
          <p:cNvSpPr/>
          <p:nvPr/>
        </p:nvSpPr>
        <p:spPr>
          <a:xfrm>
            <a:off x="8924544" y="1691640"/>
            <a:ext cx="2578608" cy="3703320"/>
          </a:xfrm>
          <a:prstGeom prst="roundRect">
            <a:avLst>
              <a:gd name="adj" fmla="val 2837"/>
            </a:avLst>
          </a:prstGeom>
          <a:solidFill>
            <a:schemeClr val="bg2"/>
          </a:solidFill>
          <a:ln w="12700">
            <a:solidFill>
              <a:schemeClr val="bg2"/>
            </a:solidFill>
            <a:prstDash val="solid"/>
          </a:ln>
        </p:spPr>
      </p:sp>
      <p:sp>
        <p:nvSpPr>
          <p:cNvPr id="33" name="glyph circle"/>
          <p:cNvSpPr/>
          <p:nvPr/>
        </p:nvSpPr>
        <p:spPr>
          <a:xfrm>
            <a:off x="9153144" y="1920240"/>
            <a:ext cx="502920" cy="502920"/>
          </a:xfrm>
          <a:prstGeom prst="ellipse">
            <a:avLst/>
          </a:prstGeom>
          <a:solidFill>
            <a:schemeClr val="accent3"/>
          </a:solidFill>
          <a:ln w="12700">
            <a:solidFill>
              <a:schemeClr val="accent3"/>
            </a:solidFill>
            <a:prstDash val="solid"/>
          </a:ln>
        </p:spPr>
      </p:sp>
      <p:sp>
        <p:nvSpPr>
          <p:cNvPr id="34" name="Text 32"/>
          <p:cNvSpPr txBox="1"/>
          <p:nvPr/>
        </p:nvSpPr>
        <p:spPr>
          <a:xfrm>
            <a:off x="9153144" y="1920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35" name="Text 33"/>
          <p:cNvSpPr txBox="1"/>
          <p:nvPr/>
        </p:nvSpPr>
        <p:spPr>
          <a:xfrm>
            <a:off x="9793224" y="1965960"/>
            <a:ext cx="1554480" cy="411480"/>
          </a:xfrm>
          <a:prstGeom prst="rect">
            <a:avLst/>
          </a:prstGeom>
          <a:noFill/>
          <a:ln/>
        </p:spPr>
        <p:txBody>
          <a:bodyPr wrap="square" lIns="0" tIns="0" rIns="0" bIns="0" rtlCol="0" anchor="t"/>
          <a:lstStyle/>
          <a:p>
            <a:pPr indent="0" marL="0">
              <a:buNone/>
            </a:pPr>
            <a:r>
              <a:rPr lang="en-US" sz="2200" b="1" dirty="0">
                <a:solidFill>
                  <a:schemeClr val="accent3"/>
                </a:solidFill>
              </a:rPr>
              <a:t>Build</a:t>
            </a:r>
            <a:endParaRPr lang="en-US" sz="2200" dirty="0"/>
          </a:p>
        </p:txBody>
      </p:sp>
      <p:sp>
        <p:nvSpPr>
          <p:cNvPr id="36" name="Text 34"/>
          <p:cNvSpPr txBox="1"/>
          <p:nvPr/>
        </p:nvSpPr>
        <p:spPr>
          <a:xfrm>
            <a:off x="9153144" y="2606040"/>
            <a:ext cx="2148840" cy="1463040"/>
          </a:xfrm>
          <a:prstGeom prst="rect">
            <a:avLst/>
          </a:prstGeom>
          <a:noFill/>
          <a:ln/>
        </p:spPr>
        <p:txBody>
          <a:bodyPr wrap="square" lIns="0" tIns="0" rIns="0" bIns="0" rtlCol="0" anchor="t"/>
          <a:lstStyle/>
          <a:p>
            <a:pPr indent="0" marL="0">
              <a:buNone/>
            </a:pPr>
            <a:r>
              <a:rPr lang="en-US" sz="1500" dirty="0">
                <a:solidFill>
                  <a:schemeClr val="accent3"/>
                </a:solidFill>
              </a:rPr>
              <a:t>"Implement plans/&lt;task&gt;.md." A fresh window holding only what matters.</a:t>
            </a:r>
            <a:endParaRPr lang="en-US" sz="1500" dirty="0"/>
          </a:p>
        </p:txBody>
      </p:sp>
      <p:sp>
        <p:nvSpPr>
          <p:cNvPr id="37" name="Text 35"/>
          <p:cNvSpPr txBox="1"/>
          <p:nvPr/>
        </p:nvSpPr>
        <p:spPr>
          <a:xfrm>
            <a:off x="9153144" y="4343400"/>
            <a:ext cx="2103120"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CONTEXT USED</a:t>
            </a:r>
            <a:endParaRPr lang="en-US" sz="1000" dirty="0"/>
          </a:p>
        </p:txBody>
      </p:sp>
      <p:sp>
        <p:nvSpPr>
          <p:cNvPr id="38" name="context bar frame"/>
          <p:cNvSpPr/>
          <p:nvPr/>
        </p:nvSpPr>
        <p:spPr>
          <a:xfrm>
            <a:off x="9153144" y="4617720"/>
            <a:ext cx="2103120" cy="320040"/>
          </a:xfrm>
          <a:prstGeom prst="rect">
            <a:avLst/>
          </a:prstGeom>
          <a:solidFill>
            <a:schemeClr val="bg1"/>
          </a:solidFill>
          <a:ln w="12700">
            <a:solidFill>
              <a:schemeClr val="accent5"/>
            </a:solidFill>
            <a:prstDash val="solid"/>
          </a:ln>
        </p:spPr>
      </p:sp>
      <p:sp>
        <p:nvSpPr>
          <p:cNvPr id="39" name="context bar fill"/>
          <p:cNvSpPr/>
          <p:nvPr/>
        </p:nvSpPr>
        <p:spPr>
          <a:xfrm>
            <a:off x="9153144" y="4617720"/>
            <a:ext cx="420624" cy="320040"/>
          </a:xfrm>
          <a:prstGeom prst="rect">
            <a:avLst/>
          </a:prstGeom>
          <a:solidFill>
            <a:schemeClr val="accent3"/>
          </a:solidFill>
          <a:ln w="12700">
            <a:solidFill>
              <a:schemeClr val="accent3"/>
            </a:solidFill>
            <a:prstDash val="solid"/>
          </a:ln>
        </p:spPr>
      </p:sp>
      <p:sp>
        <p:nvSpPr>
          <p:cNvPr id="40" name="Text 38"/>
          <p:cNvSpPr txBox="1"/>
          <p:nvPr/>
        </p:nvSpPr>
        <p:spPr>
          <a:xfrm>
            <a:off x="640080" y="5440680"/>
            <a:ext cx="3657600" cy="228600"/>
          </a:xfrm>
          <a:prstGeom prst="rect">
            <a:avLst/>
          </a:prstGeom>
          <a:noFill/>
          <a:ln/>
        </p:spPr>
        <p:txBody>
          <a:bodyPr wrap="square" lIns="0" tIns="0" rIns="0" bIns="0" rtlCol="0" anchor="t"/>
          <a:lstStyle/>
          <a:p>
            <a:pPr indent="0" marL="0">
              <a:buNone/>
            </a:pPr>
            <a:r>
              <a:rPr lang="en-US" sz="1000" dirty="0">
                <a:solidFill>
                  <a:schemeClr val="accent6"/>
                </a:solidFill>
              </a:rPr>
              <a:t>Bars are illustrative.</a:t>
            </a:r>
            <a:endParaRPr lang="en-US" sz="1000" dirty="0"/>
          </a:p>
        </p:txBody>
      </p:sp>
      <p:sp>
        <p:nvSpPr>
          <p:cNvPr id="41" name="panel"/>
          <p:cNvSpPr/>
          <p:nvPr/>
        </p:nvSpPr>
        <p:spPr>
          <a:xfrm>
            <a:off x="640080" y="5715000"/>
            <a:ext cx="10881360" cy="548640"/>
          </a:xfrm>
          <a:prstGeom prst="roundRect">
            <a:avLst>
              <a:gd name="adj" fmla="val 13333"/>
            </a:avLst>
          </a:prstGeom>
          <a:solidFill>
            <a:schemeClr val="bg2"/>
          </a:solidFill>
          <a:ln w="12700">
            <a:solidFill>
              <a:schemeClr val="bg2"/>
            </a:solidFill>
            <a:prstDash val="solid"/>
          </a:ln>
        </p:spPr>
      </p:sp>
      <p:sp>
        <p:nvSpPr>
          <p:cNvPr id="42" name="Text 40"/>
          <p:cNvSpPr txBox="1"/>
          <p:nvPr/>
        </p:nvSpPr>
        <p:spPr>
          <a:xfrm>
            <a:off x="868680" y="5715000"/>
            <a:ext cx="10424160" cy="548640"/>
          </a:xfrm>
          <a:prstGeom prst="rect">
            <a:avLst/>
          </a:prstGeom>
          <a:noFill/>
          <a:ln/>
        </p:spPr>
        <p:txBody>
          <a:bodyPr wrap="square" lIns="0" tIns="0" rIns="0" bIns="0" rtlCol="0" anchor="ctr"/>
          <a:lstStyle/>
          <a:p>
            <a:pPr indent="0" marL="0">
              <a:buNone/>
            </a:pPr>
            <a:r>
              <a:rPr lang="en-US" sz="1500" b="1" dirty="0">
                <a:solidFill>
                  <a:schemeClr val="tx2"/>
                </a:solidFill>
              </a:rPr>
              <a:t>The plan file doubles as your handoff: a teammate, a fresh session or tomorrow-you can start from it.</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4"/>
                </a:solidFill>
              </a:rPr>
              <a:t>LIVE DEMO 2 · ADAM</a:t>
            </a:r>
            <a:endParaRPr lang="en-US" sz="1100" dirty="0"/>
          </a:p>
        </p:txBody>
      </p:sp>
      <p:sp>
        <p:nvSpPr>
          <p:cNvPr id="3" name="Text 1"/>
          <p:cNvSpPr/>
          <p:nvPr>
            <p:ph idx="101" type="title" hasCustomPrompt="1"/>
          </p:nvPr>
        </p:nvSpPr>
        <p:spPr>
          <a:xfrm>
            <a:off x="640080" y="868680"/>
            <a:ext cx="7315200" cy="731520"/>
          </a:xfrm>
          <a:prstGeom prst="rect">
            <a:avLst/>
          </a:prstGeom>
          <a:noFill/>
          <a:ln/>
        </p:spPr>
        <p:txBody>
          <a:bodyPr wrap="square" lIns="0" tIns="0" rIns="0" bIns="0" rtlCol="0" anchor="t"/>
          <a:lstStyle/>
          <a:p>
            <a:pPr indent="0" marL="0">
              <a:buNone/>
            </a:pPr>
            <a:r>
              <a:rPr lang="en-US" sz="3600" b="1" dirty="0">
                <a:solidFill>
                  <a:schemeClr val="bg1"/>
                </a:solidFill>
              </a:rPr>
              <a:t>Demo 2 · Plan, save, clear, build</a:t>
            </a:r>
            <a:endParaRPr lang="en-US" sz="3600" dirty="0"/>
          </a:p>
        </p:txBody>
      </p:sp>
      <p:sp>
        <p:nvSpPr>
          <p:cNvPr id="4" name="Text 1"/>
          <p:cNvSpPr/>
          <p:nvPr>
            <p:ph idx="102" type="body" hasCustomPrompt="1"/>
          </p:nvPr>
        </p:nvSpPr>
        <p:spPr>
          <a:xfrm>
            <a:off x="640080" y="1600200"/>
            <a:ext cx="7315200" cy="411480"/>
          </a:xfrm>
          <a:prstGeom prst="rect">
            <a:avLst/>
          </a:prstGeom>
          <a:noFill/>
          <a:ln/>
        </p:spPr>
        <p:txBody>
          <a:bodyPr wrap="square" lIns="0" tIns="0" rIns="0" bIns="0" rtlCol="0" anchor="t"/>
          <a:lstStyle/>
          <a:p>
            <a:pPr indent="0" marL="0">
              <a:buNone/>
            </a:pPr>
            <a:r>
              <a:rPr lang="en-US" sz="1600" dirty="0">
                <a:solidFill>
                  <a:schemeClr val="accent5"/>
                </a:solidFill>
              </a:rPr>
              <a:t>Claude Code CLI · the same tickets as Demo 1, done with a plan</a:t>
            </a:r>
            <a:endParaRPr lang="en-US" sz="1600" dirty="0"/>
          </a:p>
        </p:txBody>
      </p:sp>
      <p:sp>
        <p:nvSpPr>
          <p:cNvPr id="5" name="glyph circle"/>
          <p:cNvSpPr/>
          <p:nvPr/>
        </p:nvSpPr>
        <p:spPr>
          <a:xfrm>
            <a:off x="640080" y="2286000"/>
            <a:ext cx="457200" cy="457200"/>
          </a:xfrm>
          <a:prstGeom prst="ellipse">
            <a:avLst/>
          </a:prstGeom>
          <a:solidFill>
            <a:schemeClr val="accent2"/>
          </a:solidFill>
          <a:ln w="12700">
            <a:solidFill>
              <a:schemeClr val="accent2"/>
            </a:solidFill>
            <a:prstDash val="solid"/>
          </a:ln>
        </p:spPr>
      </p:sp>
      <p:sp>
        <p:nvSpPr>
          <p:cNvPr id="6" name="Text 4"/>
          <p:cNvSpPr txBox="1"/>
          <p:nvPr/>
        </p:nvSpPr>
        <p:spPr>
          <a:xfrm>
            <a:off x="640080" y="22860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1280160" y="2304288"/>
            <a:ext cx="5486400" cy="685800"/>
          </a:xfrm>
          <a:prstGeom prst="rect">
            <a:avLst/>
          </a:prstGeom>
          <a:noFill/>
          <a:ln/>
        </p:spPr>
        <p:txBody>
          <a:bodyPr wrap="square" lIns="0" tIns="0" rIns="0" bIns="0" rtlCol="0" anchor="t"/>
          <a:lstStyle/>
          <a:p>
            <a:pPr indent="0" marL="0">
              <a:buNone/>
            </a:pPr>
            <a:r>
              <a:rPr lang="en-US" sz="1600" dirty="0">
                <a:solidFill>
                  <a:schemeClr val="bg1"/>
                </a:solidFill>
              </a:rPr>
              <a:t>Tax bug: six-part prompt, no plan (it's one line). Then /context.</a:t>
            </a:r>
            <a:endParaRPr lang="en-US" sz="1600" dirty="0"/>
          </a:p>
        </p:txBody>
      </p:sp>
      <p:sp>
        <p:nvSpPr>
          <p:cNvPr id="8" name="glyph circle"/>
          <p:cNvSpPr/>
          <p:nvPr/>
        </p:nvSpPr>
        <p:spPr>
          <a:xfrm>
            <a:off x="640080" y="3072384"/>
            <a:ext cx="457200" cy="457200"/>
          </a:xfrm>
          <a:prstGeom prst="ellipse">
            <a:avLst/>
          </a:prstGeom>
          <a:solidFill>
            <a:schemeClr val="accent2"/>
          </a:solidFill>
          <a:ln w="12700">
            <a:solidFill>
              <a:schemeClr val="accent2"/>
            </a:solidFill>
            <a:prstDash val="solid"/>
          </a:ln>
        </p:spPr>
      </p:sp>
      <p:sp>
        <p:nvSpPr>
          <p:cNvPr id="9" name="Text 7"/>
          <p:cNvSpPr txBox="1"/>
          <p:nvPr/>
        </p:nvSpPr>
        <p:spPr>
          <a:xfrm>
            <a:off x="640080" y="3072384"/>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8"/>
          <p:cNvSpPr txBox="1"/>
          <p:nvPr/>
        </p:nvSpPr>
        <p:spPr>
          <a:xfrm>
            <a:off x="1280160" y="3090672"/>
            <a:ext cx="5486400" cy="685800"/>
          </a:xfrm>
          <a:prstGeom prst="rect">
            <a:avLst/>
          </a:prstGeom>
          <a:noFill/>
          <a:ln/>
        </p:spPr>
        <p:txBody>
          <a:bodyPr wrap="square" lIns="0" tIns="0" rIns="0" bIns="0" rtlCol="0" anchor="t"/>
          <a:lstStyle/>
          <a:p>
            <a:pPr indent="0" marL="0">
              <a:buNone/>
            </a:pPr>
            <a:r>
              <a:rPr lang="en-US" sz="1600" dirty="0">
                <a:solidFill>
                  <a:schemeClr val="bg1"/>
                </a:solidFill>
              </a:rPr>
              <a:t>/clear. Shift+Tab into plan mode. Six-part prompt for free shipping.</a:t>
            </a:r>
            <a:endParaRPr lang="en-US" sz="1600" dirty="0"/>
          </a:p>
        </p:txBody>
      </p:sp>
      <p:sp>
        <p:nvSpPr>
          <p:cNvPr id="11" name="glyph circle"/>
          <p:cNvSpPr/>
          <p:nvPr/>
        </p:nvSpPr>
        <p:spPr>
          <a:xfrm>
            <a:off x="640080" y="3858768"/>
            <a:ext cx="457200" cy="457200"/>
          </a:xfrm>
          <a:prstGeom prst="ellipse">
            <a:avLst/>
          </a:prstGeom>
          <a:solidFill>
            <a:schemeClr val="accent2"/>
          </a:solidFill>
          <a:ln w="12700">
            <a:solidFill>
              <a:schemeClr val="accent2"/>
            </a:solidFill>
            <a:prstDash val="solid"/>
          </a:ln>
        </p:spPr>
      </p:sp>
      <p:sp>
        <p:nvSpPr>
          <p:cNvPr id="12" name="Text 10"/>
          <p:cNvSpPr txBox="1"/>
          <p:nvPr/>
        </p:nvSpPr>
        <p:spPr>
          <a:xfrm>
            <a:off x="640080" y="385876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Text 11"/>
          <p:cNvSpPr txBox="1"/>
          <p:nvPr/>
        </p:nvSpPr>
        <p:spPr>
          <a:xfrm>
            <a:off x="1280160" y="3877056"/>
            <a:ext cx="5486400" cy="685800"/>
          </a:xfrm>
          <a:prstGeom prst="rect">
            <a:avLst/>
          </a:prstGeom>
          <a:noFill/>
          <a:ln/>
        </p:spPr>
        <p:txBody>
          <a:bodyPr wrap="square" lIns="0" tIns="0" rIns="0" bIns="0" rtlCol="0" anchor="t"/>
          <a:lstStyle/>
          <a:p>
            <a:pPr indent="0" marL="0">
              <a:buNone/>
            </a:pPr>
            <a:r>
              <a:rPr lang="en-US" sz="1600" dirty="0">
                <a:solidFill>
                  <a:schemeClr val="bg1"/>
                </a:solidFill>
              </a:rPr>
              <a:t>Review the plan out loud: at least £100? after discount? express excluded?</a:t>
            </a:r>
            <a:endParaRPr lang="en-US" sz="1600" dirty="0"/>
          </a:p>
        </p:txBody>
      </p:sp>
      <p:sp>
        <p:nvSpPr>
          <p:cNvPr id="14" name="glyph circle"/>
          <p:cNvSpPr/>
          <p:nvPr/>
        </p:nvSpPr>
        <p:spPr>
          <a:xfrm>
            <a:off x="640080" y="4645152"/>
            <a:ext cx="457200" cy="457200"/>
          </a:xfrm>
          <a:prstGeom prst="ellipse">
            <a:avLst/>
          </a:prstGeom>
          <a:solidFill>
            <a:schemeClr val="accent2"/>
          </a:solidFill>
          <a:ln w="12700">
            <a:solidFill>
              <a:schemeClr val="accent2"/>
            </a:solidFill>
            <a:prstDash val="solid"/>
          </a:ln>
        </p:spPr>
      </p:sp>
      <p:sp>
        <p:nvSpPr>
          <p:cNvPr id="15" name="Text 13"/>
          <p:cNvSpPr txBox="1"/>
          <p:nvPr/>
        </p:nvSpPr>
        <p:spPr>
          <a:xfrm>
            <a:off x="640080" y="464515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6" name="Text 14"/>
          <p:cNvSpPr txBox="1"/>
          <p:nvPr/>
        </p:nvSpPr>
        <p:spPr>
          <a:xfrm>
            <a:off x="1280160" y="4663440"/>
            <a:ext cx="5486400" cy="685800"/>
          </a:xfrm>
          <a:prstGeom prst="rect">
            <a:avLst/>
          </a:prstGeom>
          <a:noFill/>
          <a:ln/>
        </p:spPr>
        <p:txBody>
          <a:bodyPr wrap="square" lIns="0" tIns="0" rIns="0" bIns="0" rtlCol="0" anchor="t"/>
          <a:lstStyle/>
          <a:p>
            <a:pPr indent="0" marL="0">
              <a:buNone/>
            </a:pPr>
            <a:r>
              <a:rPr lang="en-US" sz="1600" dirty="0">
                <a:solidFill>
                  <a:schemeClr val="bg1"/>
                </a:solidFill>
              </a:rPr>
              <a:t>Save it to plans/free-shipping.md. /context, then /clear.</a:t>
            </a:r>
            <a:endParaRPr lang="en-US" sz="1600" dirty="0"/>
          </a:p>
        </p:txBody>
      </p:sp>
      <p:sp>
        <p:nvSpPr>
          <p:cNvPr id="17" name="glyph circle"/>
          <p:cNvSpPr/>
          <p:nvPr/>
        </p:nvSpPr>
        <p:spPr>
          <a:xfrm>
            <a:off x="640080" y="5431536"/>
            <a:ext cx="457200" cy="457200"/>
          </a:xfrm>
          <a:prstGeom prst="ellipse">
            <a:avLst/>
          </a:prstGeom>
          <a:solidFill>
            <a:schemeClr val="accent2"/>
          </a:solidFill>
          <a:ln w="12700">
            <a:solidFill>
              <a:schemeClr val="accent2"/>
            </a:solidFill>
            <a:prstDash val="solid"/>
          </a:ln>
        </p:spPr>
      </p:sp>
      <p:sp>
        <p:nvSpPr>
          <p:cNvPr id="18" name="Text 16"/>
          <p:cNvSpPr txBox="1"/>
          <p:nvPr/>
        </p:nvSpPr>
        <p:spPr>
          <a:xfrm>
            <a:off x="640080" y="5431536"/>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9" name="Text 17"/>
          <p:cNvSpPr txBox="1"/>
          <p:nvPr/>
        </p:nvSpPr>
        <p:spPr>
          <a:xfrm>
            <a:off x="1280160" y="5449824"/>
            <a:ext cx="5486400" cy="685800"/>
          </a:xfrm>
          <a:prstGeom prst="rect">
            <a:avLst/>
          </a:prstGeom>
          <a:noFill/>
          <a:ln/>
        </p:spPr>
        <p:txBody>
          <a:bodyPr wrap="square" lIns="0" tIns="0" rIns="0" bIns="0" rtlCol="0" anchor="t"/>
          <a:lstStyle/>
          <a:p>
            <a:pPr indent="0" marL="0">
              <a:buNone/>
            </a:pPr>
            <a:r>
              <a:rPr lang="en-US" sz="1600" dirty="0">
                <a:solidFill>
                  <a:schemeClr val="bg1"/>
                </a:solidFill>
              </a:rPr>
              <a:t>"Implement plans/free-shipping.md." Narrow test, hidden check, /context.</a:t>
            </a:r>
            <a:endParaRPr lang="en-US" sz="1600" dirty="0"/>
          </a:p>
        </p:txBody>
      </p:sp>
      <p:sp>
        <p:nvSpPr>
          <p:cNvPr id="20" name="panel"/>
          <p:cNvSpPr/>
          <p:nvPr/>
        </p:nvSpPr>
        <p:spPr>
          <a:xfrm>
            <a:off x="7086600" y="2286000"/>
            <a:ext cx="4434840" cy="3840480"/>
          </a:xfrm>
          <a:prstGeom prst="roundRect">
            <a:avLst>
              <a:gd name="adj" fmla="val 1905"/>
            </a:avLst>
          </a:prstGeom>
          <a:solidFill>
            <a:schemeClr val="tx1"/>
          </a:solidFill>
          <a:ln w="12700">
            <a:solidFill>
              <a:schemeClr val="tx1"/>
            </a:solidFill>
            <a:prstDash val="solid"/>
          </a:ln>
        </p:spPr>
      </p:sp>
      <p:sp>
        <p:nvSpPr>
          <p:cNvPr id="21" name="Text 19"/>
          <p:cNvSpPr txBox="1"/>
          <p:nvPr/>
        </p:nvSpPr>
        <p:spPr>
          <a:xfrm>
            <a:off x="7360920" y="2514600"/>
            <a:ext cx="3931920" cy="274320"/>
          </a:xfrm>
          <a:prstGeom prst="rect">
            <a:avLst/>
          </a:prstGeom>
          <a:noFill/>
          <a:ln/>
        </p:spPr>
        <p:txBody>
          <a:bodyPr wrap="square" lIns="0" tIns="0" rIns="0" bIns="0" rtlCol="0" anchor="t"/>
          <a:lstStyle/>
          <a:p>
            <a:pPr indent="0" marL="0">
              <a:buNone/>
            </a:pPr>
            <a:r>
              <a:rPr lang="en-US" sz="1200" b="1" spc="100" kern="0" dirty="0">
                <a:solidFill>
                  <a:schemeClr val="accent4"/>
                </a:solidFill>
              </a:rPr>
              <a:t>WATCH FOR</a:t>
            </a:r>
            <a:endParaRPr lang="en-US" sz="1200" dirty="0"/>
          </a:p>
        </p:txBody>
      </p:sp>
      <p:sp>
        <p:nvSpPr>
          <p:cNvPr id="22" name="Text 20"/>
          <p:cNvSpPr txBox="1"/>
          <p:nvPr/>
        </p:nvSpPr>
        <p:spPr>
          <a:xfrm>
            <a:off x="7360920" y="2880360"/>
            <a:ext cx="3931920" cy="3108960"/>
          </a:xfrm>
          <a:prstGeom prst="rect">
            <a:avLst/>
          </a:prstGeom>
          <a:noFill/>
          <a:ln/>
        </p:spPr>
        <p:txBody>
          <a:bodyPr wrap="square" lIns="0" tIns="0" rIns="0" bIns="0" rtlCol="0" anchor="t"/>
          <a:lstStyle/>
          <a:p>
            <a:pPr marL="228600" indent="-228600">
              <a:spcAft>
                <a:spcPts val="900"/>
              </a:spcAft>
              <a:buSzPct val="100000"/>
              <a:buChar char="•"/>
            </a:pPr>
            <a:r>
              <a:rPr lang="en-US" sz="1600" dirty="0">
                <a:solidFill>
                  <a:schemeClr val="bg1"/>
                </a:solidFill>
              </a:rPr>
              <a:t>Files read ≈ files named</a:t>
            </a:r>
            <a:endParaRPr lang="en-US" sz="1600" dirty="0"/>
          </a:p>
          <a:p>
            <a:pPr marL="228600" indent="-228600">
              <a:spcAft>
                <a:spcPts val="900"/>
              </a:spcAft>
              <a:buSzPct val="100000"/>
              <a:buChar char="•"/>
            </a:pPr>
            <a:r>
              <a:rPr lang="en-US" sz="1600" dirty="0">
                <a:solidFill>
                  <a:schemeClr val="bg1"/>
                </a:solidFill>
              </a:rPr>
              <a:t>Edge cases in the plan, before any edit</a:t>
            </a:r>
            <a:endParaRPr lang="en-US" sz="1600" dirty="0"/>
          </a:p>
          <a:p>
            <a:pPr marL="228600" indent="-228600">
              <a:spcAft>
                <a:spcPts val="900"/>
              </a:spcAft>
              <a:buSzPct val="100000"/>
              <a:buChar char="•"/>
            </a:pPr>
            <a:r>
              <a:rPr lang="en-US" sz="1600" dirty="0">
                <a:solidFill>
                  <a:schemeClr val="bg1"/>
                </a:solidFill>
              </a:rPr>
              <a:t>Context drop after /clear</a:t>
            </a:r>
            <a:endParaRPr lang="en-US" sz="1600" dirty="0"/>
          </a:p>
          <a:p>
            <a:pPr marL="228600" indent="-228600">
              <a:spcAft>
                <a:spcPts val="900"/>
              </a:spcAft>
              <a:buSzPct val="100000"/>
              <a:buChar char="•"/>
            </a:pPr>
            <a:r>
              <a:rPr lang="en-US" sz="1600" dirty="0">
                <a:solidFill>
                  <a:schemeClr val="bg1"/>
                </a:solidFill>
              </a:rPr>
              <a:t>Build reads the plan + named files</a:t>
            </a:r>
            <a:endParaRPr lang="en-US" sz="1600" dirty="0"/>
          </a:p>
          <a:p>
            <a:pPr marL="228600" indent="-228600">
              <a:spcAft>
                <a:spcPts val="900"/>
              </a:spcAft>
              <a:buSzPct val="100000"/>
              <a:buChar char="•"/>
            </a:pPr>
            <a:r>
              <a:rPr lang="en-US" sz="1600" dirty="0">
                <a:solidFill>
                  <a:schemeClr val="bg1"/>
                </a:solidFill>
              </a:rPr>
              <a:t>One focused test run</a:t>
            </a:r>
            <a:endParaRPr lang="en-US" sz="1600" dirty="0"/>
          </a:p>
          <a:p>
            <a:pPr marL="228600" indent="-228600">
              <a:spcAft>
                <a:spcPts val="900"/>
              </a:spcAft>
              <a:buSzPct val="100000"/>
              <a:buChar char="•"/>
            </a:pPr>
            <a:r>
              <a:rPr lang="en-US" sz="1600" dirty="0">
                <a:solidFill>
                  <a:schemeClr val="bg1"/>
                </a:solidFill>
              </a:rPr>
              <a:t>Task 3: PASS here, FAIL in Demo 1</a:t>
            </a:r>
            <a:endParaRPr lang="en-US" sz="16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3 · ADAM</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Continue, compact or clear?</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Decide before you type the next prompt. Each option keeps a different amount of the past.</a:t>
            </a:r>
            <a:endParaRPr lang="en-US" sz="1500" dirty="0"/>
          </a:p>
        </p:txBody>
      </p:sp>
      <p:sp>
        <p:nvSpPr>
          <p:cNvPr id="5" name="panel"/>
          <p:cNvSpPr/>
          <p:nvPr/>
        </p:nvSpPr>
        <p:spPr>
          <a:xfrm>
            <a:off x="640080" y="1691640"/>
            <a:ext cx="3502152" cy="2880360"/>
          </a:xfrm>
          <a:prstGeom prst="roundRect">
            <a:avLst>
              <a:gd name="adj" fmla="val 2540"/>
            </a:avLst>
          </a:prstGeom>
          <a:solidFill>
            <a:schemeClr val="bg2"/>
          </a:solidFill>
          <a:ln w="12700">
            <a:solidFill>
              <a:schemeClr val="bg2"/>
            </a:solidFill>
            <a:prstDash val="solid"/>
          </a:ln>
        </p:spPr>
      </p:sp>
      <p:sp>
        <p:nvSpPr>
          <p:cNvPr id="6" name="glyph circle"/>
          <p:cNvSpPr/>
          <p:nvPr/>
        </p:nvSpPr>
        <p:spPr>
          <a:xfrm>
            <a:off x="914400" y="1920240"/>
            <a:ext cx="548640" cy="548640"/>
          </a:xfrm>
          <a:prstGeom prst="ellipse">
            <a:avLst/>
          </a:prstGeom>
          <a:solidFill>
            <a:schemeClr val="accent2"/>
          </a:solidFill>
          <a:ln w="12700">
            <a:solidFill>
              <a:schemeClr val="accent2"/>
            </a:solidFill>
            <a:prstDash val="solid"/>
          </a:ln>
        </p:spPr>
      </p:sp>
      <p:sp>
        <p:nvSpPr>
          <p:cNvPr id="7" name="Text 5"/>
          <p:cNvSpPr txBox="1"/>
          <p:nvPr/>
        </p:nvSpPr>
        <p:spPr>
          <a:xfrm>
            <a:off x="914400" y="19202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8" name="Text 6"/>
          <p:cNvSpPr txBox="1"/>
          <p:nvPr/>
        </p:nvSpPr>
        <p:spPr>
          <a:xfrm>
            <a:off x="914400" y="2606040"/>
            <a:ext cx="3017520" cy="457200"/>
          </a:xfrm>
          <a:prstGeom prst="rect">
            <a:avLst/>
          </a:prstGeom>
          <a:noFill/>
          <a:ln/>
        </p:spPr>
        <p:txBody>
          <a:bodyPr wrap="square" lIns="0" tIns="0" rIns="0" bIns="0" rtlCol="0" anchor="t"/>
          <a:lstStyle/>
          <a:p>
            <a:pPr indent="0" marL="0">
              <a:buNone/>
            </a:pPr>
            <a:r>
              <a:rPr lang="en-US" sz="2200" b="1" dirty="0">
                <a:solidFill>
                  <a:schemeClr val="accent2"/>
                </a:solidFill>
              </a:rPr>
              <a:t>Continue</a:t>
            </a:r>
            <a:endParaRPr lang="en-US" sz="2200" dirty="0"/>
          </a:p>
        </p:txBody>
      </p:sp>
      <p:sp>
        <p:nvSpPr>
          <p:cNvPr id="9" name="Text 7"/>
          <p:cNvSpPr txBox="1"/>
          <p:nvPr/>
        </p:nvSpPr>
        <p:spPr>
          <a:xfrm>
            <a:off x="914400" y="3090672"/>
            <a:ext cx="3017520" cy="365760"/>
          </a:xfrm>
          <a:prstGeom prst="rect">
            <a:avLst/>
          </a:prstGeom>
          <a:noFill/>
          <a:ln/>
        </p:spPr>
        <p:txBody>
          <a:bodyPr wrap="square" lIns="0" tIns="0" rIns="0" bIns="0" rtlCol="0" anchor="t"/>
          <a:lstStyle/>
          <a:p>
            <a:pPr indent="0" marL="0">
              <a:buNone/>
            </a:pPr>
            <a:r>
              <a:rPr lang="en-US" sz="1600" b="1" dirty="0">
                <a:solidFill>
                  <a:schemeClr val="tx1"/>
                </a:solidFill>
              </a:rPr>
              <a:t>Same goal, context still small.</a:t>
            </a:r>
            <a:endParaRPr lang="en-US" sz="1600" dirty="0"/>
          </a:p>
        </p:txBody>
      </p:sp>
      <p:sp>
        <p:nvSpPr>
          <p:cNvPr id="10" name="Text 8"/>
          <p:cNvSpPr txBox="1"/>
          <p:nvPr/>
        </p:nvSpPr>
        <p:spPr>
          <a:xfrm>
            <a:off x="914400" y="3520440"/>
            <a:ext cx="301752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KEEPS: everything</a:t>
            </a:r>
            <a:endParaRPr lang="en-US" sz="1200" dirty="0"/>
          </a:p>
        </p:txBody>
      </p:sp>
      <p:sp>
        <p:nvSpPr>
          <p:cNvPr id="11" name="Text 9"/>
          <p:cNvSpPr txBox="1"/>
          <p:nvPr/>
        </p:nvSpPr>
        <p:spPr>
          <a:xfrm>
            <a:off x="914400" y="3886200"/>
            <a:ext cx="3017520" cy="548640"/>
          </a:xfrm>
          <a:prstGeom prst="rect">
            <a:avLst/>
          </a:prstGeom>
          <a:noFill/>
          <a:ln/>
        </p:spPr>
        <p:txBody>
          <a:bodyPr wrap="square" lIns="0" tIns="0" rIns="0" bIns="0" rtlCol="0" anchor="t"/>
          <a:lstStyle/>
          <a:p>
            <a:pPr indent="0" marL="0">
              <a:buNone/>
            </a:pPr>
            <a:r>
              <a:rPr lang="en-US" sz="1400" dirty="0">
                <a:solidFill>
                  <a:schemeClr val="accent3"/>
                </a:solidFill>
              </a:rPr>
              <a:t>Just keep going.</a:t>
            </a:r>
            <a:endParaRPr lang="en-US" sz="1400" dirty="0"/>
          </a:p>
        </p:txBody>
      </p:sp>
      <p:sp>
        <p:nvSpPr>
          <p:cNvPr id="12" name="panel"/>
          <p:cNvSpPr/>
          <p:nvPr/>
        </p:nvSpPr>
        <p:spPr>
          <a:xfrm>
            <a:off x="4325112" y="1691640"/>
            <a:ext cx="3502152" cy="2880360"/>
          </a:xfrm>
          <a:prstGeom prst="roundRect">
            <a:avLst>
              <a:gd name="adj" fmla="val 2540"/>
            </a:avLst>
          </a:prstGeom>
          <a:solidFill>
            <a:schemeClr val="bg2"/>
          </a:solidFill>
          <a:ln w="12700">
            <a:solidFill>
              <a:schemeClr val="bg2"/>
            </a:solidFill>
            <a:prstDash val="solid"/>
          </a:ln>
        </p:spPr>
      </p:sp>
      <p:sp>
        <p:nvSpPr>
          <p:cNvPr id="13" name="glyph circle"/>
          <p:cNvSpPr/>
          <p:nvPr/>
        </p:nvSpPr>
        <p:spPr>
          <a:xfrm>
            <a:off x="4599432" y="1920240"/>
            <a:ext cx="548640" cy="548640"/>
          </a:xfrm>
          <a:prstGeom prst="ellipse">
            <a:avLst/>
          </a:prstGeom>
          <a:solidFill>
            <a:schemeClr val="accent1"/>
          </a:solidFill>
          <a:ln w="12700">
            <a:solidFill>
              <a:schemeClr val="accent1"/>
            </a:solidFill>
            <a:prstDash val="solid"/>
          </a:ln>
        </p:spPr>
      </p:sp>
      <p:sp>
        <p:nvSpPr>
          <p:cNvPr id="14" name="Text 12"/>
          <p:cNvSpPr txBox="1"/>
          <p:nvPr/>
        </p:nvSpPr>
        <p:spPr>
          <a:xfrm>
            <a:off x="4599432" y="19202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5" name="Text 13"/>
          <p:cNvSpPr txBox="1"/>
          <p:nvPr/>
        </p:nvSpPr>
        <p:spPr>
          <a:xfrm>
            <a:off x="4599432" y="2606040"/>
            <a:ext cx="3017520" cy="457200"/>
          </a:xfrm>
          <a:prstGeom prst="rect">
            <a:avLst/>
          </a:prstGeom>
          <a:noFill/>
          <a:ln/>
        </p:spPr>
        <p:txBody>
          <a:bodyPr wrap="square" lIns="0" tIns="0" rIns="0" bIns="0" rtlCol="0" anchor="t"/>
          <a:lstStyle/>
          <a:p>
            <a:pPr indent="0" marL="0">
              <a:buNone/>
            </a:pPr>
            <a:r>
              <a:rPr lang="en-US" sz="2200" b="1" dirty="0">
                <a:solidFill>
                  <a:schemeClr val="accent1"/>
                </a:solidFill>
              </a:rPr>
              <a:t>Compact / summarize</a:t>
            </a:r>
            <a:endParaRPr lang="en-US" sz="2200" dirty="0"/>
          </a:p>
        </p:txBody>
      </p:sp>
      <p:sp>
        <p:nvSpPr>
          <p:cNvPr id="16" name="Text 14"/>
          <p:cNvSpPr txBox="1"/>
          <p:nvPr/>
        </p:nvSpPr>
        <p:spPr>
          <a:xfrm>
            <a:off x="4599432" y="3090672"/>
            <a:ext cx="3017520" cy="365760"/>
          </a:xfrm>
          <a:prstGeom prst="rect">
            <a:avLst/>
          </a:prstGeom>
          <a:noFill/>
          <a:ln/>
        </p:spPr>
        <p:txBody>
          <a:bodyPr wrap="square" lIns="0" tIns="0" rIns="0" bIns="0" rtlCol="0" anchor="t"/>
          <a:lstStyle/>
          <a:p>
            <a:pPr indent="0" marL="0">
              <a:buNone/>
            </a:pPr>
            <a:r>
              <a:rPr lang="en-US" sz="1600" b="1" dirty="0">
                <a:solidFill>
                  <a:schemeClr val="tx1"/>
                </a:solidFill>
              </a:rPr>
              <a:t>Same goal, chat getting long.</a:t>
            </a:r>
            <a:endParaRPr lang="en-US" sz="1600" dirty="0"/>
          </a:p>
        </p:txBody>
      </p:sp>
      <p:sp>
        <p:nvSpPr>
          <p:cNvPr id="17" name="Text 15"/>
          <p:cNvSpPr txBox="1"/>
          <p:nvPr/>
        </p:nvSpPr>
        <p:spPr>
          <a:xfrm>
            <a:off x="4599432" y="3520440"/>
            <a:ext cx="301752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KEEPS: a summary you steer</a:t>
            </a:r>
            <a:endParaRPr lang="en-US" sz="1200" dirty="0"/>
          </a:p>
        </p:txBody>
      </p:sp>
      <p:sp>
        <p:nvSpPr>
          <p:cNvPr id="18" name="Text 16"/>
          <p:cNvSpPr txBox="1"/>
          <p:nvPr/>
        </p:nvSpPr>
        <p:spPr>
          <a:xfrm>
            <a:off x="4599432" y="3886200"/>
            <a:ext cx="3017520" cy="548640"/>
          </a:xfrm>
          <a:prstGeom prst="rect">
            <a:avLst/>
          </a:prstGeom>
          <a:noFill/>
          <a:ln/>
        </p:spPr>
        <p:txBody>
          <a:bodyPr wrap="square" lIns="0" tIns="0" rIns="0" bIns="0" rtlCol="0" anchor="t"/>
          <a:lstStyle/>
          <a:p>
            <a:pPr indent="0" marL="0">
              <a:buNone/>
            </a:pPr>
            <a:r>
              <a:rPr lang="en-US" sz="1400" dirty="0">
                <a:solidFill>
                  <a:schemeClr val="accent3"/>
                </a:solidFill>
              </a:rPr>
              <a:t>/compact &lt;what to keep&gt; · /summarize</a:t>
            </a:r>
            <a:endParaRPr lang="en-US" sz="1400" dirty="0"/>
          </a:p>
        </p:txBody>
      </p:sp>
      <p:sp>
        <p:nvSpPr>
          <p:cNvPr id="19" name="panel"/>
          <p:cNvSpPr/>
          <p:nvPr/>
        </p:nvSpPr>
        <p:spPr>
          <a:xfrm>
            <a:off x="8010144" y="1691640"/>
            <a:ext cx="3502152" cy="2880360"/>
          </a:xfrm>
          <a:prstGeom prst="roundRect">
            <a:avLst>
              <a:gd name="adj" fmla="val 2540"/>
            </a:avLst>
          </a:prstGeom>
          <a:solidFill>
            <a:schemeClr val="bg2"/>
          </a:solidFill>
          <a:ln w="12700">
            <a:solidFill>
              <a:schemeClr val="bg2"/>
            </a:solidFill>
            <a:prstDash val="solid"/>
          </a:ln>
        </p:spPr>
      </p:sp>
      <p:sp>
        <p:nvSpPr>
          <p:cNvPr id="20" name="glyph circle"/>
          <p:cNvSpPr/>
          <p:nvPr/>
        </p:nvSpPr>
        <p:spPr>
          <a:xfrm>
            <a:off x="8284464" y="1920240"/>
            <a:ext cx="548640" cy="548640"/>
          </a:xfrm>
          <a:prstGeom prst="ellipse">
            <a:avLst/>
          </a:prstGeom>
          <a:solidFill>
            <a:schemeClr val="tx2"/>
          </a:solidFill>
          <a:ln w="12700">
            <a:solidFill>
              <a:schemeClr val="tx2"/>
            </a:solidFill>
            <a:prstDash val="solid"/>
          </a:ln>
        </p:spPr>
      </p:sp>
      <p:sp>
        <p:nvSpPr>
          <p:cNvPr id="21" name="Text 19"/>
          <p:cNvSpPr txBox="1"/>
          <p:nvPr/>
        </p:nvSpPr>
        <p:spPr>
          <a:xfrm>
            <a:off x="8284464" y="19202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22" name="Text 20"/>
          <p:cNvSpPr txBox="1"/>
          <p:nvPr/>
        </p:nvSpPr>
        <p:spPr>
          <a:xfrm>
            <a:off x="8284464" y="2606040"/>
            <a:ext cx="3017520" cy="457200"/>
          </a:xfrm>
          <a:prstGeom prst="rect">
            <a:avLst/>
          </a:prstGeom>
          <a:noFill/>
          <a:ln/>
        </p:spPr>
        <p:txBody>
          <a:bodyPr wrap="square" lIns="0" tIns="0" rIns="0" bIns="0" rtlCol="0" anchor="t"/>
          <a:lstStyle/>
          <a:p>
            <a:pPr indent="0" marL="0">
              <a:buNone/>
            </a:pPr>
            <a:r>
              <a:rPr lang="en-US" sz="2200" b="1" dirty="0">
                <a:solidFill>
                  <a:schemeClr val="tx2"/>
                </a:solidFill>
              </a:rPr>
              <a:t>Clear</a:t>
            </a:r>
            <a:endParaRPr lang="en-US" sz="2200" dirty="0"/>
          </a:p>
        </p:txBody>
      </p:sp>
      <p:sp>
        <p:nvSpPr>
          <p:cNvPr id="23" name="Text 21"/>
          <p:cNvSpPr txBox="1"/>
          <p:nvPr/>
        </p:nvSpPr>
        <p:spPr>
          <a:xfrm>
            <a:off x="8284464" y="3090672"/>
            <a:ext cx="3017520" cy="365760"/>
          </a:xfrm>
          <a:prstGeom prst="rect">
            <a:avLst/>
          </a:prstGeom>
          <a:noFill/>
          <a:ln/>
        </p:spPr>
        <p:txBody>
          <a:bodyPr wrap="square" lIns="0" tIns="0" rIns="0" bIns="0" rtlCol="0" anchor="t"/>
          <a:lstStyle/>
          <a:p>
            <a:pPr indent="0" marL="0">
              <a:buNone/>
            </a:pPr>
            <a:r>
              <a:rPr lang="en-US" sz="1600" b="1" dirty="0">
                <a:solidFill>
                  <a:schemeClr val="tx1"/>
                </a:solidFill>
              </a:rPr>
              <a:t>New goal, or the chat went wrong.</a:t>
            </a:r>
            <a:endParaRPr lang="en-US" sz="1600" dirty="0"/>
          </a:p>
        </p:txBody>
      </p:sp>
      <p:sp>
        <p:nvSpPr>
          <p:cNvPr id="24" name="Text 22"/>
          <p:cNvSpPr txBox="1"/>
          <p:nvPr/>
        </p:nvSpPr>
        <p:spPr>
          <a:xfrm>
            <a:off x="8284464" y="3520440"/>
            <a:ext cx="301752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KEEPS: the repo + your plan file</a:t>
            </a:r>
            <a:endParaRPr lang="en-US" sz="1200" dirty="0"/>
          </a:p>
        </p:txBody>
      </p:sp>
      <p:sp>
        <p:nvSpPr>
          <p:cNvPr id="25" name="Text 23"/>
          <p:cNvSpPr txBox="1"/>
          <p:nvPr/>
        </p:nvSpPr>
        <p:spPr>
          <a:xfrm>
            <a:off x="8284464" y="3886200"/>
            <a:ext cx="3017520" cy="548640"/>
          </a:xfrm>
          <a:prstGeom prst="rect">
            <a:avLst/>
          </a:prstGeom>
          <a:noFill/>
          <a:ln/>
        </p:spPr>
        <p:txBody>
          <a:bodyPr wrap="square" lIns="0" tIns="0" rIns="0" bIns="0" rtlCol="0" anchor="t"/>
          <a:lstStyle/>
          <a:p>
            <a:pPr indent="0" marL="0">
              <a:buNone/>
            </a:pPr>
            <a:r>
              <a:rPr lang="en-US" sz="1400" dirty="0">
                <a:solidFill>
                  <a:schemeClr val="accent3"/>
                </a:solidFill>
              </a:rPr>
              <a:t>/clear in both CLIs</a:t>
            </a:r>
            <a:endParaRPr lang="en-US" sz="1400" dirty="0"/>
          </a:p>
        </p:txBody>
      </p:sp>
      <p:sp>
        <p:nvSpPr>
          <p:cNvPr id="26" name="panel"/>
          <p:cNvSpPr/>
          <p:nvPr/>
        </p:nvSpPr>
        <p:spPr>
          <a:xfrm>
            <a:off x="640080" y="4800600"/>
            <a:ext cx="10881360" cy="1325880"/>
          </a:xfrm>
          <a:prstGeom prst="roundRect">
            <a:avLst>
              <a:gd name="adj" fmla="val 5517"/>
            </a:avLst>
          </a:prstGeom>
          <a:solidFill>
            <a:schemeClr val="bg2"/>
          </a:solidFill>
          <a:ln w="12700">
            <a:solidFill>
              <a:schemeClr val="bg2"/>
            </a:solidFill>
            <a:prstDash val="solid"/>
          </a:ln>
        </p:spPr>
      </p:sp>
      <p:sp>
        <p:nvSpPr>
          <p:cNvPr id="27" name="glyph circle"/>
          <p:cNvSpPr/>
          <p:nvPr/>
        </p:nvSpPr>
        <p:spPr>
          <a:xfrm>
            <a:off x="868680" y="5029200"/>
            <a:ext cx="457200" cy="457200"/>
          </a:xfrm>
          <a:prstGeom prst="ellipse">
            <a:avLst/>
          </a:prstGeom>
          <a:solidFill>
            <a:schemeClr val="accent2"/>
          </a:solidFill>
          <a:ln w="12700">
            <a:solidFill>
              <a:schemeClr val="accent2"/>
            </a:solidFill>
            <a:prstDash val="solid"/>
          </a:ln>
        </p:spPr>
      </p:sp>
      <p:sp>
        <p:nvSpPr>
          <p:cNvPr id="28" name="Text 26"/>
          <p:cNvSpPr txBox="1"/>
          <p:nvPr/>
        </p:nvSpPr>
        <p:spPr>
          <a:xfrm>
            <a:off x="868680" y="50292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29" name="Text 27"/>
          <p:cNvSpPr txBox="1"/>
          <p:nvPr/>
        </p:nvSpPr>
        <p:spPr>
          <a:xfrm>
            <a:off x="1508760" y="4983480"/>
            <a:ext cx="9784080" cy="365760"/>
          </a:xfrm>
          <a:prstGeom prst="rect">
            <a:avLst/>
          </a:prstGeom>
          <a:noFill/>
          <a:ln/>
        </p:spPr>
        <p:txBody>
          <a:bodyPr wrap="square" lIns="0" tIns="0" rIns="0" bIns="0" rtlCol="0" anchor="t"/>
          <a:lstStyle/>
          <a:p>
            <a:pPr indent="0" marL="0">
              <a:buNone/>
            </a:pPr>
            <a:r>
              <a:rPr lang="en-US" sz="1800" b="1" dirty="0">
                <a:solidFill>
                  <a:schemeClr val="tx2"/>
                </a:solidFill>
              </a:rPr>
              <a:t>Clearing is not losing work</a:t>
            </a:r>
            <a:endParaRPr lang="en-US" sz="1800" dirty="0"/>
          </a:p>
        </p:txBody>
      </p:sp>
      <p:sp>
        <p:nvSpPr>
          <p:cNvPr id="30" name="Text 28"/>
          <p:cNvSpPr txBox="1"/>
          <p:nvPr/>
        </p:nvSpPr>
        <p:spPr>
          <a:xfrm>
            <a:off x="1508760" y="5394960"/>
            <a:ext cx="9784080" cy="548640"/>
          </a:xfrm>
          <a:prstGeom prst="rect">
            <a:avLst/>
          </a:prstGeom>
          <a:noFill/>
          <a:ln/>
        </p:spPr>
        <p:txBody>
          <a:bodyPr wrap="square" lIns="0" tIns="0" rIns="0" bIns="0" rtlCol="0" anchor="t"/>
          <a:lstStyle/>
          <a:p>
            <a:pPr indent="0" marL="0">
              <a:buNone/>
            </a:pPr>
            <a:r>
              <a:rPr lang="en-US" sz="1500" dirty="0">
                <a:solidFill>
                  <a:schemeClr val="accent3"/>
                </a:solidFill>
              </a:rPr>
              <a:t>Code, tests, docs, git and your plan file are the durable memory. The transcript is scaffolding.</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3 · ADAM</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When to reset, and how to compact well</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Context rot is gradual. These are the signs, and the habits that keep a long session sharp.</a:t>
            </a:r>
            <a:endParaRPr lang="en-US" sz="1500" dirty="0"/>
          </a:p>
        </p:txBody>
      </p:sp>
      <p:sp>
        <p:nvSpPr>
          <p:cNvPr id="5" name="panel"/>
          <p:cNvSpPr/>
          <p:nvPr/>
        </p:nvSpPr>
        <p:spPr>
          <a:xfrm>
            <a:off x="640080" y="1691640"/>
            <a:ext cx="5349240" cy="4434840"/>
          </a:xfrm>
          <a:prstGeom prst="roundRect">
            <a:avLst>
              <a:gd name="adj" fmla="val 1649"/>
            </a:avLst>
          </a:prstGeom>
          <a:solidFill>
            <a:schemeClr val="bg2"/>
          </a:solidFill>
          <a:ln w="12700">
            <a:solidFill>
              <a:schemeClr val="bg2"/>
            </a:solidFill>
            <a:prstDash val="solid"/>
          </a:ln>
        </p:spPr>
      </p:sp>
      <p:sp>
        <p:nvSpPr>
          <p:cNvPr id="6" name="glyph circle"/>
          <p:cNvSpPr/>
          <p:nvPr/>
        </p:nvSpPr>
        <p:spPr>
          <a:xfrm>
            <a:off x="914400" y="1920240"/>
            <a:ext cx="457200" cy="457200"/>
          </a:xfrm>
          <a:prstGeom prst="ellipse">
            <a:avLst/>
          </a:prstGeom>
          <a:solidFill>
            <a:schemeClr val="tx2"/>
          </a:solidFill>
          <a:ln w="12700">
            <a:solidFill>
              <a:schemeClr val="tx2"/>
            </a:solidFill>
            <a:prstDash val="solid"/>
          </a:ln>
        </p:spPr>
      </p:sp>
      <p:sp>
        <p:nvSpPr>
          <p:cNvPr id="7" name="Text 5"/>
          <p:cNvSpPr txBox="1"/>
          <p:nvPr/>
        </p:nvSpPr>
        <p:spPr>
          <a:xfrm>
            <a:off x="914400" y="19202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8" name="Text 6"/>
          <p:cNvSpPr txBox="1"/>
          <p:nvPr/>
        </p:nvSpPr>
        <p:spPr>
          <a:xfrm>
            <a:off x="1554480" y="1947672"/>
            <a:ext cx="4206240" cy="411480"/>
          </a:xfrm>
          <a:prstGeom prst="rect">
            <a:avLst/>
          </a:prstGeom>
          <a:noFill/>
          <a:ln/>
        </p:spPr>
        <p:txBody>
          <a:bodyPr wrap="square" lIns="0" tIns="0" rIns="0" bIns="0" rtlCol="0" anchor="t"/>
          <a:lstStyle/>
          <a:p>
            <a:pPr indent="0" marL="0">
              <a:buNone/>
            </a:pPr>
            <a:r>
              <a:rPr lang="en-US" sz="1900" b="1" dirty="0">
                <a:solidFill>
                  <a:schemeClr val="tx2"/>
                </a:solidFill>
              </a:rPr>
              <a:t>Time to reset when…</a:t>
            </a:r>
            <a:endParaRPr lang="en-US" sz="1900" dirty="0"/>
          </a:p>
        </p:txBody>
      </p:sp>
      <p:sp>
        <p:nvSpPr>
          <p:cNvPr id="9" name="Text 7"/>
          <p:cNvSpPr txBox="1"/>
          <p:nvPr/>
        </p:nvSpPr>
        <p:spPr>
          <a:xfrm>
            <a:off x="960120" y="2606040"/>
            <a:ext cx="4800600" cy="338328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chemeClr val="tx1"/>
                </a:solidFill>
              </a:rPr>
              <a:t>The goal changed, even slightly</a:t>
            </a:r>
            <a:endParaRPr lang="en-US" sz="1500" dirty="0"/>
          </a:p>
          <a:p>
            <a:pPr marL="228600" indent="-228600">
              <a:spcAft>
                <a:spcPts val="1000"/>
              </a:spcAft>
              <a:buSzPct val="100000"/>
              <a:buChar char="•"/>
            </a:pPr>
            <a:r>
              <a:rPr lang="en-US" sz="1500" dirty="0">
                <a:solidFill>
                  <a:schemeClr val="tx1"/>
                </a:solidFill>
              </a:rPr>
              <a:t>It forgets a constraint you gave earlier</a:t>
            </a:r>
            <a:endParaRPr lang="en-US" sz="1500" dirty="0"/>
          </a:p>
          <a:p>
            <a:pPr marL="228600" indent="-228600">
              <a:spcAft>
                <a:spcPts val="1000"/>
              </a:spcAft>
              <a:buSzPct val="100000"/>
              <a:buChar char="•"/>
            </a:pPr>
            <a:r>
              <a:rPr lang="en-US" sz="1500" dirty="0">
                <a:solidFill>
                  <a:schemeClr val="tx1"/>
                </a:solidFill>
              </a:rPr>
              <a:t>It retries a fix that already failed</a:t>
            </a:r>
            <a:endParaRPr lang="en-US" sz="1500" dirty="0"/>
          </a:p>
          <a:p>
            <a:pPr marL="228600" indent="-228600">
              <a:spcAft>
                <a:spcPts val="1000"/>
              </a:spcAft>
              <a:buSzPct val="100000"/>
              <a:buChar char="•"/>
            </a:pPr>
            <a:r>
              <a:rPr lang="en-US" sz="1500" dirty="0">
                <a:solidFill>
                  <a:schemeClr val="tx1"/>
                </a:solidFill>
              </a:rPr>
              <a:t>Old logs and searches no longer matter</a:t>
            </a:r>
            <a:endParaRPr lang="en-US" sz="1500" dirty="0"/>
          </a:p>
          <a:p>
            <a:pPr marL="228600" indent="-228600">
              <a:spcAft>
                <a:spcPts val="1000"/>
              </a:spcAft>
              <a:buSzPct val="100000"/>
              <a:buChar char="•"/>
            </a:pPr>
            <a:r>
              <a:rPr lang="en-US" sz="1500" dirty="0">
                <a:solidFill>
                  <a:schemeClr val="tx1"/>
                </a:solidFill>
              </a:rPr>
              <a:t>Context passes ~50% and you're mid-task</a:t>
            </a:r>
            <a:endParaRPr lang="en-US" sz="1500" dirty="0"/>
          </a:p>
        </p:txBody>
      </p:sp>
      <p:sp>
        <p:nvSpPr>
          <p:cNvPr id="10" name="panel"/>
          <p:cNvSpPr/>
          <p:nvPr/>
        </p:nvSpPr>
        <p:spPr>
          <a:xfrm>
            <a:off x="6172200" y="1691640"/>
            <a:ext cx="5349240" cy="4434840"/>
          </a:xfrm>
          <a:prstGeom prst="roundRect">
            <a:avLst>
              <a:gd name="adj" fmla="val 1649"/>
            </a:avLst>
          </a:prstGeom>
          <a:solidFill>
            <a:schemeClr val="bg2"/>
          </a:solidFill>
          <a:ln w="12700">
            <a:solidFill>
              <a:schemeClr val="bg2"/>
            </a:solidFill>
            <a:prstDash val="solid"/>
          </a:ln>
        </p:spPr>
      </p:sp>
      <p:sp>
        <p:nvSpPr>
          <p:cNvPr id="11" name="glyph circle"/>
          <p:cNvSpPr/>
          <p:nvPr/>
        </p:nvSpPr>
        <p:spPr>
          <a:xfrm>
            <a:off x="6446520" y="1920240"/>
            <a:ext cx="457200" cy="457200"/>
          </a:xfrm>
          <a:prstGeom prst="ellipse">
            <a:avLst/>
          </a:prstGeom>
          <a:solidFill>
            <a:schemeClr val="accent2"/>
          </a:solidFill>
          <a:ln w="12700">
            <a:solidFill>
              <a:schemeClr val="accent2"/>
            </a:solidFill>
            <a:prstDash val="solid"/>
          </a:ln>
        </p:spPr>
      </p:sp>
      <p:sp>
        <p:nvSpPr>
          <p:cNvPr id="12" name="Text 10"/>
          <p:cNvSpPr txBox="1"/>
          <p:nvPr/>
        </p:nvSpPr>
        <p:spPr>
          <a:xfrm>
            <a:off x="6446520" y="19202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3" name="Text 11"/>
          <p:cNvSpPr txBox="1"/>
          <p:nvPr/>
        </p:nvSpPr>
        <p:spPr>
          <a:xfrm>
            <a:off x="7086600" y="1947672"/>
            <a:ext cx="4206240" cy="411480"/>
          </a:xfrm>
          <a:prstGeom prst="rect">
            <a:avLst/>
          </a:prstGeom>
          <a:noFill/>
          <a:ln/>
        </p:spPr>
        <p:txBody>
          <a:bodyPr wrap="square" lIns="0" tIns="0" rIns="0" bIns="0" rtlCol="0" anchor="t"/>
          <a:lstStyle/>
          <a:p>
            <a:pPr indent="0" marL="0">
              <a:buNone/>
            </a:pPr>
            <a:r>
              <a:rPr lang="en-US" sz="1900" b="1" dirty="0">
                <a:solidFill>
                  <a:schemeClr val="accent2"/>
                </a:solidFill>
              </a:rPr>
              <a:t>Compact well</a:t>
            </a:r>
            <a:endParaRPr lang="en-US" sz="1900" dirty="0"/>
          </a:p>
        </p:txBody>
      </p:sp>
      <p:sp>
        <p:nvSpPr>
          <p:cNvPr id="14" name="Text 12"/>
          <p:cNvSpPr txBox="1"/>
          <p:nvPr/>
        </p:nvSpPr>
        <p:spPr>
          <a:xfrm>
            <a:off x="6492240" y="2606040"/>
            <a:ext cx="4800600" cy="338328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chemeClr val="tx1"/>
                </a:solidFill>
              </a:rPr>
              <a:t>At a boundary (after the plan, after a sub-task), not mid-edit</a:t>
            </a:r>
            <a:endParaRPr lang="en-US" sz="1500" dirty="0"/>
          </a:p>
          <a:p>
            <a:pPr marL="228600" indent="-228600">
              <a:spcAft>
                <a:spcPts val="1000"/>
              </a:spcAft>
              <a:buSzPct val="100000"/>
              <a:buChar char="•"/>
            </a:pPr>
            <a:r>
              <a:rPr lang="en-US" sz="1500" dirty="0">
                <a:solidFill>
                  <a:schemeClr val="tx1"/>
                </a:solidFill>
              </a:rPr>
              <a:t>Say what to keep: "/compact keep the plan, decisions, failing tests"</a:t>
            </a:r>
            <a:endParaRPr lang="en-US" sz="1500" dirty="0"/>
          </a:p>
          <a:p>
            <a:pPr marL="228600" indent="-228600">
              <a:spcAft>
                <a:spcPts val="1000"/>
              </a:spcAft>
              <a:buSzPct val="100000"/>
              <a:buChar char="•"/>
            </a:pPr>
            <a:r>
              <a:rPr lang="en-US" sz="1500" dirty="0">
                <a:solidFill>
                  <a:schemeClr val="tx1"/>
                </a:solidFill>
              </a:rPr>
              <a:t>Restate the key constraint in one line afterwards</a:t>
            </a:r>
            <a:endParaRPr lang="en-US" sz="1500" dirty="0"/>
          </a:p>
          <a:p>
            <a:pPr marL="228600" indent="-228600">
              <a:spcAft>
                <a:spcPts val="1000"/>
              </a:spcAft>
              <a:buSzPct val="100000"/>
              <a:buChar char="•"/>
            </a:pPr>
            <a:r>
              <a:rPr lang="en-US" sz="1500" dirty="0">
                <a:solidFill>
                  <a:schemeClr val="tx1"/>
                </a:solidFill>
              </a:rPr>
              <a:t>Went the wrong way? Rewind (Esc Esc · /rewind) - don't argue with it</a:t>
            </a:r>
            <a:endParaRPr lang="en-US" sz="1500" dirty="0"/>
          </a:p>
          <a:p>
            <a:pPr marL="228600" indent="-228600">
              <a:spcAft>
                <a:spcPts val="1000"/>
              </a:spcAft>
              <a:buSzPct val="100000"/>
              <a:buChar char="•"/>
            </a:pPr>
            <a:r>
              <a:rPr lang="en-US" sz="1500" dirty="0">
                <a:solidFill>
                  <a:schemeClr val="tx1"/>
                </a:solidFill>
              </a:rPr>
              <a:t>Don't wait for auto-compact; it chooses what you lose</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3 · ADAM</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Progressive disclosure for agent docs</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Load knowledge in layers. The agent pays only for the layer the current step needs.</a:t>
            </a:r>
            <a:endParaRPr lang="en-US" sz="1500" dirty="0"/>
          </a:p>
        </p:txBody>
      </p:sp>
      <p:sp>
        <p:nvSpPr>
          <p:cNvPr id="5" name="layer"/>
          <p:cNvSpPr/>
          <p:nvPr/>
        </p:nvSpPr>
        <p:spPr>
          <a:xfrm>
            <a:off x="640080" y="1691640"/>
            <a:ext cx="4206240" cy="841248"/>
          </a:xfrm>
          <a:prstGeom prst="roundRect">
            <a:avLst>
              <a:gd name="adj" fmla="val 8696"/>
            </a:avLst>
          </a:prstGeom>
          <a:solidFill>
            <a:schemeClr val="tx2"/>
          </a:solidFill>
          <a:ln w="12700">
            <a:solidFill>
              <a:schemeClr val="tx2"/>
            </a:solidFill>
            <a:prstDash val="solid"/>
          </a:ln>
        </p:spPr>
      </p:sp>
      <p:sp>
        <p:nvSpPr>
          <p:cNvPr id="6" name="Text 4"/>
          <p:cNvSpPr txBox="1"/>
          <p:nvPr/>
        </p:nvSpPr>
        <p:spPr>
          <a:xfrm>
            <a:off x="868680" y="1783080"/>
            <a:ext cx="3840480" cy="347472"/>
          </a:xfrm>
          <a:prstGeom prst="rect">
            <a:avLst/>
          </a:prstGeom>
          <a:noFill/>
          <a:ln/>
        </p:spPr>
        <p:txBody>
          <a:bodyPr wrap="square" lIns="0" tIns="0" rIns="0" bIns="0" rtlCol="0" anchor="t"/>
          <a:lstStyle/>
          <a:p>
            <a:pPr indent="0" marL="0">
              <a:buNone/>
            </a:pPr>
            <a:r>
              <a:rPr lang="en-US" sz="1700" b="1" dirty="0">
                <a:solidFill>
                  <a:schemeClr val="bg1"/>
                </a:solidFill>
              </a:rPr>
              <a:t>0  Always loaded</a:t>
            </a:r>
            <a:endParaRPr lang="en-US" sz="1700" dirty="0"/>
          </a:p>
        </p:txBody>
      </p:sp>
      <p:sp>
        <p:nvSpPr>
          <p:cNvPr id="7" name="Text 5"/>
          <p:cNvSpPr txBox="1"/>
          <p:nvPr/>
        </p:nvSpPr>
        <p:spPr>
          <a:xfrm>
            <a:off x="868680" y="2130552"/>
            <a:ext cx="3840480" cy="347472"/>
          </a:xfrm>
          <a:prstGeom prst="rect">
            <a:avLst/>
          </a:prstGeom>
          <a:noFill/>
          <a:ln/>
        </p:spPr>
        <p:txBody>
          <a:bodyPr wrap="square" lIns="0" tIns="0" rIns="0" bIns="0" rtlCol="0" anchor="t"/>
          <a:lstStyle/>
          <a:p>
            <a:pPr indent="0" marL="0">
              <a:buNone/>
            </a:pPr>
            <a:r>
              <a:rPr lang="en-US" sz="1300" dirty="0">
                <a:solidFill>
                  <a:schemeClr val="bg1"/>
                </a:solidFill>
              </a:rPr>
              <a:t>CLAUDE.md / AGENTS.md: commands, non-negotiables, pointers</a:t>
            </a:r>
            <a:endParaRPr lang="en-US" sz="1300" dirty="0"/>
          </a:p>
        </p:txBody>
      </p:sp>
      <p:sp>
        <p:nvSpPr>
          <p:cNvPr id="8" name="Text 6"/>
          <p:cNvSpPr txBox="1"/>
          <p:nvPr/>
        </p:nvSpPr>
        <p:spPr>
          <a:xfrm>
            <a:off x="5074920" y="1920240"/>
            <a:ext cx="6446520" cy="411480"/>
          </a:xfrm>
          <a:prstGeom prst="rect">
            <a:avLst/>
          </a:prstGeom>
          <a:noFill/>
          <a:ln/>
        </p:spPr>
        <p:txBody>
          <a:bodyPr wrap="square" lIns="0" tIns="0" rIns="0" bIns="0" rtlCol="0" anchor="ctr"/>
          <a:lstStyle/>
          <a:p>
            <a:pPr indent="0" marL="0">
              <a:buNone/>
            </a:pPr>
            <a:r>
              <a:rPr lang="en-US" sz="1400" b="1" dirty="0">
                <a:solidFill>
                  <a:schemeClr val="tx2"/>
                </a:solidFill>
              </a:rPr>
              <a:t>every turn · ~1 screen</a:t>
            </a:r>
            <a:endParaRPr lang="en-US" sz="1400" dirty="0"/>
          </a:p>
        </p:txBody>
      </p:sp>
      <p:sp>
        <p:nvSpPr>
          <p:cNvPr id="9" name="layer"/>
          <p:cNvSpPr/>
          <p:nvPr/>
        </p:nvSpPr>
        <p:spPr>
          <a:xfrm>
            <a:off x="640080" y="2679192"/>
            <a:ext cx="5212080" cy="841248"/>
          </a:xfrm>
          <a:prstGeom prst="roundRect">
            <a:avLst>
              <a:gd name="adj" fmla="val 8696"/>
            </a:avLst>
          </a:prstGeom>
          <a:solidFill>
            <a:schemeClr val="accent1"/>
          </a:solidFill>
          <a:ln w="12700">
            <a:solidFill>
              <a:schemeClr val="accent1"/>
            </a:solidFill>
            <a:prstDash val="solid"/>
          </a:ln>
        </p:spPr>
      </p:sp>
      <p:sp>
        <p:nvSpPr>
          <p:cNvPr id="10" name="Text 8"/>
          <p:cNvSpPr txBox="1"/>
          <p:nvPr/>
        </p:nvSpPr>
        <p:spPr>
          <a:xfrm>
            <a:off x="868680" y="2770632"/>
            <a:ext cx="4846320" cy="347472"/>
          </a:xfrm>
          <a:prstGeom prst="rect">
            <a:avLst/>
          </a:prstGeom>
          <a:noFill/>
          <a:ln/>
        </p:spPr>
        <p:txBody>
          <a:bodyPr wrap="square" lIns="0" tIns="0" rIns="0" bIns="0" rtlCol="0" anchor="t"/>
          <a:lstStyle/>
          <a:p>
            <a:pPr indent="0" marL="0">
              <a:buNone/>
            </a:pPr>
            <a:r>
              <a:rPr lang="en-US" sz="1700" b="1" dirty="0">
                <a:solidFill>
                  <a:schemeClr val="bg1"/>
                </a:solidFill>
              </a:rPr>
              <a:t>1  Routing map</a:t>
            </a:r>
            <a:endParaRPr lang="en-US" sz="1700" dirty="0"/>
          </a:p>
        </p:txBody>
      </p:sp>
      <p:sp>
        <p:nvSpPr>
          <p:cNvPr id="11" name="Text 9"/>
          <p:cNvSpPr txBox="1"/>
          <p:nvPr/>
        </p:nvSpPr>
        <p:spPr>
          <a:xfrm>
            <a:off x="868680" y="3118104"/>
            <a:ext cx="4846320" cy="347472"/>
          </a:xfrm>
          <a:prstGeom prst="rect">
            <a:avLst/>
          </a:prstGeom>
          <a:noFill/>
          <a:ln/>
        </p:spPr>
        <p:txBody>
          <a:bodyPr wrap="square" lIns="0" tIns="0" rIns="0" bIns="0" rtlCol="0" anchor="t"/>
          <a:lstStyle/>
          <a:p>
            <a:pPr indent="0" marL="0">
              <a:buNone/>
            </a:pPr>
            <a:r>
              <a:rPr lang="en-US" sz="1300" dirty="0">
                <a:solidFill>
                  <a:schemeClr val="bg1"/>
                </a:solidFill>
              </a:rPr>
              <a:t>docs/architecture.md: which file owns what</a:t>
            </a:r>
            <a:endParaRPr lang="en-US" sz="1300" dirty="0"/>
          </a:p>
        </p:txBody>
      </p:sp>
      <p:sp>
        <p:nvSpPr>
          <p:cNvPr id="12" name="Text 10"/>
          <p:cNvSpPr txBox="1"/>
          <p:nvPr/>
        </p:nvSpPr>
        <p:spPr>
          <a:xfrm>
            <a:off x="6080760" y="2907792"/>
            <a:ext cx="5440680" cy="411480"/>
          </a:xfrm>
          <a:prstGeom prst="rect">
            <a:avLst/>
          </a:prstGeom>
          <a:noFill/>
          <a:ln/>
        </p:spPr>
        <p:txBody>
          <a:bodyPr wrap="square" lIns="0" tIns="0" rIns="0" bIns="0" rtlCol="0" anchor="ctr"/>
          <a:lstStyle/>
          <a:p>
            <a:pPr indent="0" marL="0">
              <a:buNone/>
            </a:pPr>
            <a:r>
              <a:rPr lang="en-US" sz="1400" b="1" dirty="0">
                <a:solidFill>
                  <a:schemeClr val="accent1"/>
                </a:solidFill>
              </a:rPr>
              <a:t>when locating code</a:t>
            </a:r>
            <a:endParaRPr lang="en-US" sz="1400" dirty="0"/>
          </a:p>
        </p:txBody>
      </p:sp>
      <p:sp>
        <p:nvSpPr>
          <p:cNvPr id="13" name="layer"/>
          <p:cNvSpPr/>
          <p:nvPr/>
        </p:nvSpPr>
        <p:spPr>
          <a:xfrm>
            <a:off x="640080" y="3666744"/>
            <a:ext cx="6217920" cy="841248"/>
          </a:xfrm>
          <a:prstGeom prst="roundRect">
            <a:avLst>
              <a:gd name="adj" fmla="val 8696"/>
            </a:avLst>
          </a:prstGeom>
          <a:solidFill>
            <a:schemeClr val="accent2"/>
          </a:solidFill>
          <a:ln w="12700">
            <a:solidFill>
              <a:schemeClr val="accent2"/>
            </a:solidFill>
            <a:prstDash val="solid"/>
          </a:ln>
        </p:spPr>
      </p:sp>
      <p:sp>
        <p:nvSpPr>
          <p:cNvPr id="14" name="Text 12"/>
          <p:cNvSpPr txBox="1"/>
          <p:nvPr/>
        </p:nvSpPr>
        <p:spPr>
          <a:xfrm>
            <a:off x="868680" y="3758184"/>
            <a:ext cx="5852160" cy="347472"/>
          </a:xfrm>
          <a:prstGeom prst="rect">
            <a:avLst/>
          </a:prstGeom>
          <a:noFill/>
          <a:ln/>
        </p:spPr>
        <p:txBody>
          <a:bodyPr wrap="square" lIns="0" tIns="0" rIns="0" bIns="0" rtlCol="0" anchor="t"/>
          <a:lstStyle/>
          <a:p>
            <a:pPr indent="0" marL="0">
              <a:buNone/>
            </a:pPr>
            <a:r>
              <a:rPr lang="en-US" sz="1700" b="1" dirty="0">
                <a:solidFill>
                  <a:schemeClr val="bg1"/>
                </a:solidFill>
              </a:rPr>
              <a:t>2  Scoped rules</a:t>
            </a:r>
            <a:endParaRPr lang="en-US" sz="1700" dirty="0"/>
          </a:p>
        </p:txBody>
      </p:sp>
      <p:sp>
        <p:nvSpPr>
          <p:cNvPr id="15" name="Text 13"/>
          <p:cNvSpPr txBox="1"/>
          <p:nvPr/>
        </p:nvSpPr>
        <p:spPr>
          <a:xfrm>
            <a:off x="868680" y="4105656"/>
            <a:ext cx="5852160" cy="347472"/>
          </a:xfrm>
          <a:prstGeom prst="rect">
            <a:avLst/>
          </a:prstGeom>
          <a:noFill/>
          <a:ln/>
        </p:spPr>
        <p:txBody>
          <a:bodyPr wrap="square" lIns="0" tIns="0" rIns="0" bIns="0" rtlCol="0" anchor="t"/>
          <a:lstStyle/>
          <a:p>
            <a:pPr indent="0" marL="0">
              <a:buNone/>
            </a:pPr>
            <a:r>
              <a:rPr lang="en-US" sz="1300" dirty="0">
                <a:solidFill>
                  <a:schemeClr val="bg1"/>
                </a:solidFill>
              </a:rPr>
              <a:t>.claude/rules + paths · nested CLAUDE.md · .cursor/rules</a:t>
            </a:r>
            <a:endParaRPr lang="en-US" sz="1300" dirty="0"/>
          </a:p>
        </p:txBody>
      </p:sp>
      <p:sp>
        <p:nvSpPr>
          <p:cNvPr id="16" name="Text 14"/>
          <p:cNvSpPr txBox="1"/>
          <p:nvPr/>
        </p:nvSpPr>
        <p:spPr>
          <a:xfrm>
            <a:off x="7086600" y="3895344"/>
            <a:ext cx="4434840" cy="411480"/>
          </a:xfrm>
          <a:prstGeom prst="rect">
            <a:avLst/>
          </a:prstGeom>
          <a:noFill/>
          <a:ln/>
        </p:spPr>
        <p:txBody>
          <a:bodyPr wrap="square" lIns="0" tIns="0" rIns="0" bIns="0" rtlCol="0" anchor="ctr"/>
          <a:lstStyle/>
          <a:p>
            <a:pPr indent="0" marL="0">
              <a:buNone/>
            </a:pPr>
            <a:r>
              <a:rPr lang="en-US" sz="1400" b="1" dirty="0">
                <a:solidFill>
                  <a:schemeClr val="accent2"/>
                </a:solidFill>
              </a:rPr>
              <a:t>when matching files are touched</a:t>
            </a:r>
            <a:endParaRPr lang="en-US" sz="1400" dirty="0"/>
          </a:p>
        </p:txBody>
      </p:sp>
      <p:sp>
        <p:nvSpPr>
          <p:cNvPr id="17" name="layer"/>
          <p:cNvSpPr/>
          <p:nvPr/>
        </p:nvSpPr>
        <p:spPr>
          <a:xfrm>
            <a:off x="640080" y="4654296"/>
            <a:ext cx="7223760" cy="841248"/>
          </a:xfrm>
          <a:prstGeom prst="roundRect">
            <a:avLst>
              <a:gd name="adj" fmla="val 8696"/>
            </a:avLst>
          </a:prstGeom>
          <a:solidFill>
            <a:schemeClr val="accent3"/>
          </a:solidFill>
          <a:ln w="12700">
            <a:solidFill>
              <a:schemeClr val="accent3"/>
            </a:solidFill>
            <a:prstDash val="solid"/>
          </a:ln>
        </p:spPr>
      </p:sp>
      <p:sp>
        <p:nvSpPr>
          <p:cNvPr id="18" name="Text 16"/>
          <p:cNvSpPr txBox="1"/>
          <p:nvPr/>
        </p:nvSpPr>
        <p:spPr>
          <a:xfrm>
            <a:off x="868680" y="4745736"/>
            <a:ext cx="6858000" cy="347472"/>
          </a:xfrm>
          <a:prstGeom prst="rect">
            <a:avLst/>
          </a:prstGeom>
          <a:noFill/>
          <a:ln/>
        </p:spPr>
        <p:txBody>
          <a:bodyPr wrap="square" lIns="0" tIns="0" rIns="0" bIns="0" rtlCol="0" anchor="t"/>
          <a:lstStyle/>
          <a:p>
            <a:pPr indent="0" marL="0">
              <a:buNone/>
            </a:pPr>
            <a:r>
              <a:rPr lang="en-US" sz="1700" b="1" dirty="0">
                <a:solidFill>
                  <a:schemeClr val="bg1"/>
                </a:solidFill>
              </a:rPr>
              <a:t>3  Deep docs</a:t>
            </a:r>
            <a:endParaRPr lang="en-US" sz="1700" dirty="0"/>
          </a:p>
        </p:txBody>
      </p:sp>
      <p:sp>
        <p:nvSpPr>
          <p:cNvPr id="19" name="Text 17"/>
          <p:cNvSpPr txBox="1"/>
          <p:nvPr/>
        </p:nvSpPr>
        <p:spPr>
          <a:xfrm>
            <a:off x="868680" y="5093208"/>
            <a:ext cx="6858000" cy="347472"/>
          </a:xfrm>
          <a:prstGeom prst="rect">
            <a:avLst/>
          </a:prstGeom>
          <a:noFill/>
          <a:ln/>
        </p:spPr>
        <p:txBody>
          <a:bodyPr wrap="square" lIns="0" tIns="0" rIns="0" bIns="0" rtlCol="0" anchor="t"/>
          <a:lstStyle/>
          <a:p>
            <a:pPr indent="0" marL="0">
              <a:buNone/>
            </a:pPr>
            <a:r>
              <a:rPr lang="en-US" sz="1300" dirty="0">
                <a:solidFill>
                  <a:schemeClr val="bg1"/>
                </a:solidFill>
              </a:rPr>
              <a:t>Decision records, runbooks, skills, specs</a:t>
            </a:r>
            <a:endParaRPr lang="en-US" sz="1300" dirty="0"/>
          </a:p>
        </p:txBody>
      </p:sp>
      <p:sp>
        <p:nvSpPr>
          <p:cNvPr id="20" name="Text 18"/>
          <p:cNvSpPr txBox="1"/>
          <p:nvPr/>
        </p:nvSpPr>
        <p:spPr>
          <a:xfrm>
            <a:off x="8092440" y="4882896"/>
            <a:ext cx="3429000" cy="411480"/>
          </a:xfrm>
          <a:prstGeom prst="rect">
            <a:avLst/>
          </a:prstGeom>
          <a:noFill/>
          <a:ln/>
        </p:spPr>
        <p:txBody>
          <a:bodyPr wrap="square" lIns="0" tIns="0" rIns="0" bIns="0" rtlCol="0" anchor="ctr"/>
          <a:lstStyle/>
          <a:p>
            <a:pPr indent="0" marL="0">
              <a:buNone/>
            </a:pPr>
            <a:r>
              <a:rPr lang="en-US" sz="1400" b="1" dirty="0">
                <a:solidFill>
                  <a:schemeClr val="accent3"/>
                </a:solidFill>
              </a:rPr>
              <a:t>only when changing that rule</a:t>
            </a:r>
            <a:endParaRPr lang="en-US" sz="1400" dirty="0"/>
          </a:p>
        </p:txBody>
      </p:sp>
      <p:sp>
        <p:nvSpPr>
          <p:cNvPr id="21" name="panel"/>
          <p:cNvSpPr/>
          <p:nvPr/>
        </p:nvSpPr>
        <p:spPr>
          <a:xfrm>
            <a:off x="640080" y="5715000"/>
            <a:ext cx="10881360" cy="548640"/>
          </a:xfrm>
          <a:prstGeom prst="roundRect">
            <a:avLst>
              <a:gd name="adj" fmla="val 13333"/>
            </a:avLst>
          </a:prstGeom>
          <a:solidFill>
            <a:schemeClr val="bg2"/>
          </a:solidFill>
          <a:ln w="12700">
            <a:solidFill>
              <a:schemeClr val="bg2"/>
            </a:solidFill>
            <a:prstDash val="solid"/>
          </a:ln>
        </p:spPr>
      </p:sp>
      <p:sp>
        <p:nvSpPr>
          <p:cNvPr id="22" name="Text 20"/>
          <p:cNvSpPr txBox="1"/>
          <p:nvPr/>
        </p:nvSpPr>
        <p:spPr>
          <a:xfrm>
            <a:off x="868680" y="5715000"/>
            <a:ext cx="10424160" cy="548640"/>
          </a:xfrm>
          <a:prstGeom prst="rect">
            <a:avLst/>
          </a:prstGeom>
          <a:noFill/>
          <a:ln/>
        </p:spPr>
        <p:txBody>
          <a:bodyPr wrap="square" lIns="0" tIns="0" rIns="0" bIns="0" rtlCol="0" anchor="ctr"/>
          <a:lstStyle/>
          <a:p>
            <a:pPr indent="0" marL="0">
              <a:buNone/>
            </a:pPr>
            <a:r>
              <a:rPr lang="en-US" sz="1500" b="1" dirty="0">
                <a:solidFill>
                  <a:schemeClr val="tx2"/>
                </a:solidFill>
              </a:rPr>
              <a:t>Skills and description-based rules work the same way: a one-line description is always loaded; the body loads only when it's relevant.</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3 · ADAM</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Pointers, not paragraphs</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Layer 0 should tell the agent where to look, not everything it might need to know.</a:t>
            </a:r>
            <a:endParaRPr lang="en-US" sz="1500" dirty="0"/>
          </a:p>
        </p:txBody>
      </p:sp>
      <p:sp>
        <p:nvSpPr>
          <p:cNvPr id="5" name="Text 3"/>
          <p:cNvSpPr txBox="1"/>
          <p:nvPr/>
        </p:nvSpPr>
        <p:spPr>
          <a:xfrm>
            <a:off x="640080" y="1691640"/>
            <a:ext cx="530352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PARCEL-PILOT'S CLAUDE.md (ABRIDGED)</a:t>
            </a:r>
            <a:endParaRPr lang="en-US" sz="1200" dirty="0"/>
          </a:p>
        </p:txBody>
      </p:sp>
      <p:sp>
        <p:nvSpPr>
          <p:cNvPr id="6" name="panel"/>
          <p:cNvSpPr/>
          <p:nvPr/>
        </p:nvSpPr>
        <p:spPr>
          <a:xfrm>
            <a:off x="640080" y="2011680"/>
            <a:ext cx="5303520" cy="3520440"/>
          </a:xfrm>
          <a:prstGeom prst="roundRect">
            <a:avLst>
              <a:gd name="adj" fmla="val 2078"/>
            </a:avLst>
          </a:prstGeom>
          <a:solidFill>
            <a:schemeClr val="tx1"/>
          </a:solidFill>
          <a:ln w="12700">
            <a:solidFill>
              <a:schemeClr val="tx1"/>
            </a:solidFill>
            <a:prstDash val="solid"/>
          </a:ln>
        </p:spPr>
      </p:sp>
      <p:sp>
        <p:nvSpPr>
          <p:cNvPr id="7" name="code"/>
          <p:cNvSpPr txBox="1"/>
          <p:nvPr/>
        </p:nvSpPr>
        <p:spPr>
          <a:xfrm>
            <a:off x="868680" y="2176272"/>
            <a:ext cx="4846320" cy="3191256"/>
          </a:xfrm>
          <a:prstGeom prst="rect">
            <a:avLst/>
          </a:prstGeom>
          <a:noFill/>
          <a:ln/>
        </p:spPr>
        <p:txBody>
          <a:bodyPr wrap="square" lIns="0" tIns="0" rIns="0" bIns="0" rtlCol="0" anchor="t"/>
          <a:lstStyle/>
          <a:p>
            <a:pPr indent="0" marL="0">
              <a:buNone/>
            </a:pPr>
            <a:r>
              <a:rPr lang="en-US" sz="1400" dirty="0">
                <a:solidFill>
                  <a:schemeClr val="bg2"/>
                </a:solidFill>
                <a:latin typeface="Consolas" pitchFamily="34" charset="0"/>
                <a:ea typeface="Consolas" pitchFamily="34" charset="-122"/>
                <a:cs typeface="Consolas" pitchFamily="34" charset="-120"/>
              </a:rPr>
              <a:t>- Test one file: npm test -- &lt;path&gt;</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Money is integer minor units.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archive/ is historical; never use it.</a:t>
            </a:r>
            <a:endParaRPr lang="en-US" sz="1400" dirty="0"/>
          </a:p>
          <a:p>
            <a:pPr indent="0" marL="0">
              <a:buNone/>
            </a:pP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Run the narrowest test before the full</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suite.</a:t>
            </a:r>
            <a:endParaRPr lang="en-US" sz="1400" dirty="0"/>
          </a:p>
          <a:p>
            <a:pPr indent="0" marL="0">
              <a:buNone/>
            </a:pP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Read docs/architecture.md only when you</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need to locate code.</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Read the relevant docs/decisions/ record</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only when changing a business rule.</a:t>
            </a:r>
            <a:endParaRPr lang="en-US" sz="1400" dirty="0"/>
          </a:p>
        </p:txBody>
      </p:sp>
      <p:sp>
        <p:nvSpPr>
          <p:cNvPr id="8" name="Text 6"/>
          <p:cNvSpPr txBox="1"/>
          <p:nvPr/>
        </p:nvSpPr>
        <p:spPr>
          <a:xfrm>
            <a:off x="6217920" y="1691640"/>
            <a:ext cx="5303520" cy="274320"/>
          </a:xfrm>
          <a:prstGeom prst="rect">
            <a:avLst/>
          </a:prstGeom>
          <a:noFill/>
          <a:ln/>
        </p:spPr>
        <p:txBody>
          <a:bodyPr wrap="square" lIns="0" tIns="0" rIns="0" bIns="0" rtlCol="0" anchor="t"/>
          <a:lstStyle/>
          <a:p>
            <a:pPr indent="0" marL="0">
              <a:buNone/>
            </a:pPr>
            <a:r>
              <a:rPr lang="en-US" sz="1200" b="1" spc="100" kern="0" dirty="0">
                <a:solidFill>
                  <a:schemeClr val="accent3"/>
                </a:solidFill>
              </a:rPr>
              <a:t>THE BLOATED VERSION</a:t>
            </a:r>
            <a:endParaRPr lang="en-US" sz="1200" dirty="0"/>
          </a:p>
        </p:txBody>
      </p:sp>
      <p:sp>
        <p:nvSpPr>
          <p:cNvPr id="9" name="panel"/>
          <p:cNvSpPr/>
          <p:nvPr/>
        </p:nvSpPr>
        <p:spPr>
          <a:xfrm>
            <a:off x="6217920" y="2011680"/>
            <a:ext cx="5303520" cy="3520440"/>
          </a:xfrm>
          <a:prstGeom prst="roundRect">
            <a:avLst>
              <a:gd name="adj" fmla="val 2078"/>
            </a:avLst>
          </a:prstGeom>
          <a:solidFill>
            <a:schemeClr val="tx1"/>
          </a:solidFill>
          <a:ln w="12700">
            <a:solidFill>
              <a:schemeClr val="tx1"/>
            </a:solidFill>
            <a:prstDash val="solid"/>
          </a:ln>
        </p:spPr>
      </p:sp>
      <p:sp>
        <p:nvSpPr>
          <p:cNvPr id="10" name="code"/>
          <p:cNvSpPr txBox="1"/>
          <p:nvPr/>
        </p:nvSpPr>
        <p:spPr>
          <a:xfrm>
            <a:off x="6446520" y="2176272"/>
            <a:ext cx="4846320" cy="3191256"/>
          </a:xfrm>
          <a:prstGeom prst="rect">
            <a:avLst/>
          </a:prstGeom>
          <a:noFill/>
          <a:ln/>
        </p:spPr>
        <p:txBody>
          <a:bodyPr wrap="square" lIns="0" tIns="0" rIns="0" bIns="0" rtlCol="0" anchor="t"/>
          <a:lstStyle/>
          <a:p>
            <a:pPr indent="0" marL="0">
              <a:buNone/>
            </a:pPr>
            <a:r>
              <a:rPr lang="en-US" sz="1400" dirty="0">
                <a:solidFill>
                  <a:schemeClr val="bg2"/>
                </a:solidFill>
                <a:latin typeface="Consolas" pitchFamily="34" charset="0"/>
                <a:ea typeface="Consolas" pitchFamily="34" charset="-122"/>
                <a:cs typeface="Consolas" pitchFamily="34" charset="-120"/>
              </a:rPr>
              <a:t>## Pricing</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Discounts apply before tax. Shipping is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taxable. Wholesale tiers get... (40 lines)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Notifications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Retries are... backoff is... (30 lines)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Promotions  (25 lines)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History</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In 2024 we migrated... (60 lines)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Things that went wrong once</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a:t>
            </a:r>
            <a:endParaRPr lang="en-US" sz="1400" dirty="0"/>
          </a:p>
        </p:txBody>
      </p:sp>
      <p:sp>
        <p:nvSpPr>
          <p:cNvPr id="11" name="panel"/>
          <p:cNvSpPr/>
          <p:nvPr/>
        </p:nvSpPr>
        <p:spPr>
          <a:xfrm>
            <a:off x="640080" y="5715000"/>
            <a:ext cx="10881360" cy="548640"/>
          </a:xfrm>
          <a:prstGeom prst="roundRect">
            <a:avLst>
              <a:gd name="adj" fmla="val 13333"/>
            </a:avLst>
          </a:prstGeom>
          <a:solidFill>
            <a:schemeClr val="bg2"/>
          </a:solidFill>
          <a:ln w="12700">
            <a:solidFill>
              <a:schemeClr val="bg2"/>
            </a:solidFill>
            <a:prstDash val="solid"/>
          </a:ln>
        </p:spPr>
      </p:sp>
      <p:sp>
        <p:nvSpPr>
          <p:cNvPr id="12" name="Text 10"/>
          <p:cNvSpPr txBox="1"/>
          <p:nvPr/>
        </p:nvSpPr>
        <p:spPr>
          <a:xfrm>
            <a:off x="868680" y="5715000"/>
            <a:ext cx="10424160" cy="548640"/>
          </a:xfrm>
          <a:prstGeom prst="rect">
            <a:avLst/>
          </a:prstGeom>
          <a:noFill/>
          <a:ln/>
        </p:spPr>
        <p:txBody>
          <a:bodyPr wrap="square" lIns="0" tIns="0" rIns="0" bIns="0" rtlCol="0" anchor="ctr"/>
          <a:lstStyle/>
          <a:p>
            <a:pPr indent="0" marL="0">
              <a:buNone/>
            </a:pPr>
            <a:r>
              <a:rPr lang="en-US" sz="1500" b="1" dirty="0">
                <a:solidFill>
                  <a:schemeClr val="tx2"/>
                </a:solidFill>
              </a:rPr>
              <a:t>Every line in an always-loaded file should earn its place on every task - including the ones that never touch pricing.</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THEORY 3 · ADAM</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Put each lesson at the narrowest layer</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Whatever loads automatically is paid for on every turn of every session, by everyone on the team.</a:t>
            </a:r>
            <a:endParaRPr lang="en-US" sz="1500" dirty="0"/>
          </a:p>
        </p:txBody>
      </p:sp>
      <p:sp>
        <p:nvSpPr>
          <p:cNvPr id="5" name="panel"/>
          <p:cNvSpPr/>
          <p:nvPr/>
        </p:nvSpPr>
        <p:spPr>
          <a:xfrm>
            <a:off x="640080" y="1691640"/>
            <a:ext cx="4206240" cy="3429000"/>
          </a:xfrm>
          <a:prstGeom prst="roundRect">
            <a:avLst>
              <a:gd name="adj" fmla="val 2133"/>
            </a:avLst>
          </a:prstGeom>
          <a:solidFill>
            <a:schemeClr val="bg2"/>
          </a:solidFill>
          <a:ln w="12700">
            <a:solidFill>
              <a:schemeClr val="bg2"/>
            </a:solidFill>
            <a:prstDash val="solid"/>
          </a:ln>
        </p:spPr>
      </p:sp>
      <p:sp>
        <p:nvSpPr>
          <p:cNvPr id="6" name="Text 4"/>
          <p:cNvSpPr txBox="1"/>
          <p:nvPr/>
        </p:nvSpPr>
        <p:spPr>
          <a:xfrm>
            <a:off x="914400" y="1920240"/>
            <a:ext cx="36576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PAID ON EVERY TURN</a:t>
            </a:r>
            <a:endParaRPr lang="en-US" sz="1200" dirty="0"/>
          </a:p>
        </p:txBody>
      </p:sp>
      <p:sp>
        <p:nvSpPr>
          <p:cNvPr id="7" name="Text 5"/>
          <p:cNvSpPr txBox="1"/>
          <p:nvPr/>
        </p:nvSpPr>
        <p:spPr>
          <a:xfrm>
            <a:off x="914400" y="2286000"/>
            <a:ext cx="3657600" cy="182880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CLAUDE.md and AGENTS.md</a:t>
            </a:r>
            <a:endParaRPr lang="en-US" sz="1600" dirty="0"/>
          </a:p>
          <a:p>
            <a:pPr marL="228600" indent="-228600">
              <a:spcAft>
                <a:spcPts val="600"/>
              </a:spcAft>
              <a:buSzPct val="100000"/>
              <a:buChar char="•"/>
            </a:pPr>
            <a:r>
              <a:rPr lang="en-US" sz="1600" dirty="0">
                <a:solidFill>
                  <a:schemeClr val="tx1"/>
                </a:solidFill>
              </a:rPr>
              <a:t>Cursor rules with alwaysApply</a:t>
            </a:r>
            <a:endParaRPr lang="en-US" sz="1600" dirty="0"/>
          </a:p>
          <a:p>
            <a:pPr marL="228600" indent="-228600">
              <a:spcAft>
                <a:spcPts val="600"/>
              </a:spcAft>
              <a:buSzPct val="100000"/>
              <a:buChar char="•"/>
            </a:pPr>
            <a:r>
              <a:rPr lang="en-US" sz="1600" dirty="0">
                <a:solidFill>
                  <a:schemeClr val="tx1"/>
                </a:solidFill>
              </a:rPr>
              <a:t>MCP servers' tool definitions</a:t>
            </a:r>
            <a:endParaRPr lang="en-US" sz="1600" dirty="0"/>
          </a:p>
          <a:p>
            <a:pPr marL="228600" indent="-228600">
              <a:spcAft>
                <a:spcPts val="600"/>
              </a:spcAft>
              <a:buSzPct val="100000"/>
              <a:buChar char="•"/>
            </a:pPr>
            <a:r>
              <a:rPr lang="en-US" sz="1600" dirty="0">
                <a:solidFill>
                  <a:schemeClr val="tx1"/>
                </a:solidFill>
              </a:rPr>
              <a:t>Every message already in the chat</a:t>
            </a:r>
            <a:endParaRPr lang="en-US" sz="1600" dirty="0"/>
          </a:p>
        </p:txBody>
      </p:sp>
      <p:sp>
        <p:nvSpPr>
          <p:cNvPr id="8" name="Text 6"/>
          <p:cNvSpPr txBox="1"/>
          <p:nvPr/>
        </p:nvSpPr>
        <p:spPr>
          <a:xfrm>
            <a:off x="914400" y="3840480"/>
            <a:ext cx="3657600" cy="1097280"/>
          </a:xfrm>
          <a:prstGeom prst="rect">
            <a:avLst/>
          </a:prstGeom>
          <a:noFill/>
          <a:ln/>
        </p:spPr>
        <p:txBody>
          <a:bodyPr wrap="square" lIns="0" tIns="0" rIns="0" bIns="0" rtlCol="0" anchor="t"/>
          <a:lstStyle/>
          <a:p>
            <a:pPr indent="0" marL="0">
              <a:buNone/>
            </a:pPr>
            <a:r>
              <a:rPr lang="en-US" sz="1500" b="1" dirty="0">
                <a:solidFill>
                  <a:schemeClr val="tx2"/>
                </a:solidFill>
              </a:rPr>
              <a:t>Keep layer 0 to about one screen. Disable MCP servers you aren't using in this task.</a:t>
            </a:r>
            <a:endParaRPr lang="en-US" sz="1500" dirty="0"/>
          </a:p>
        </p:txBody>
      </p:sp>
      <p:graphicFrame>
        <p:nvGraphicFramePr>
          <p:cNvPr id="22" name="knowledge table"/>
          <p:cNvGraphicFramePr>
            <a:graphicFrameLocks noGrp="1"/>
          </p:cNvGraphicFramePr>
          <p:nvPr>
            <p:extLst>
              <p:ext uri="{D42A27DB-BD31-4B8C-83A1-F6EECF244321}">
                <p14:modId xmlns:p14="http://schemas.microsoft.com/office/powerpoint/2010/main" val="1579011935"/>
              </p:ext>
            </p:extLst>
          </p:nvPr>
        </p:nvGraphicFramePr>
        <p:xfrm>
          <a:off x="5120640" y="1691640"/>
          <a:ext cx="6400800" cy="914400"/>
        </p:xfrm>
        <a:graphic>
          <a:graphicData uri="http://schemas.openxmlformats.org/drawingml/2006/table">
            <a:tbl>
              <a:tblPr/>
              <a:tblGrid>
                <a:gridCol w="3108960"/>
                <a:gridCol w="3291840"/>
              </a:tblGrid>
              <a:tr h="566928">
                <a:tc>
                  <a:txBody>
                    <a:bodyPr/>
                    <a:lstStyle/>
                    <a:p>
                      <a:pPr indent="0" marL="0">
                        <a:buNone/>
                      </a:pPr>
                      <a:r>
                        <a:rPr lang="en-US" sz="1500" b="1" dirty="0">
                          <a:solidFill>
                            <a:schemeClr val="bg1"/>
                          </a:solidFill>
                        </a:rPr>
                        <a:t>Lesson learned</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Where it belongs</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solidFill>
                      <a:schemeClr val="tx2"/>
                    </a:solidFill>
                  </a:tcPr>
                </a:tc>
              </a:tr>
              <a:tr h="566928">
                <a:tc>
                  <a:txBody>
                    <a:bodyPr/>
                    <a:lstStyle/>
                    <a:p>
                      <a:pPr indent="0" marL="0">
                        <a:buNone/>
                      </a:pPr>
                      <a:r>
                        <a:rPr lang="en-US" sz="1500" dirty="0">
                          <a:solidFill>
                            <a:schemeClr val="tx1"/>
                          </a:solidFill>
                        </a:rPr>
                        <a:t>Money is integer minor units</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Layer 0 - one line</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66928">
                <a:tc>
                  <a:txBody>
                    <a:bodyPr/>
                    <a:lstStyle/>
                    <a:p>
                      <a:pPr indent="0" marL="0">
                        <a:buNone/>
                      </a:pPr>
                      <a:r>
                        <a:rPr lang="en-US" sz="1500" dirty="0">
                          <a:solidFill>
                            <a:schemeClr val="tx1"/>
                          </a:solidFill>
                        </a:rPr>
                        <a:t>Pricing operation order</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Layer 2 rule + layer 3 ADR</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66928">
                <a:tc>
                  <a:txBody>
                    <a:bodyPr/>
                    <a:lstStyle/>
                    <a:p>
                      <a:pPr indent="0" marL="0">
                        <a:buNone/>
                      </a:pPr>
                      <a:r>
                        <a:rPr lang="en-US" sz="1500" dirty="0">
                          <a:solidFill>
                            <a:schemeClr val="tx1"/>
                          </a:solidFill>
                        </a:rPr>
                        <a:t>Free shipping starts at £100</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Policy constant + test</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66928">
                <a:tc>
                  <a:txBody>
                    <a:bodyPr/>
                    <a:lstStyle/>
                    <a:p>
                      <a:pPr indent="0" marL="0">
                        <a:buNone/>
                      </a:pPr>
                      <a:r>
                        <a:rPr lang="en-US" sz="1500" dirty="0">
                          <a:solidFill>
                            <a:schemeClr val="tx1"/>
                          </a:solidFill>
                        </a:rPr>
                        <a:t>A retry excludes attempt 1</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Layer 2 notifications rule</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566928">
                <a:tc>
                  <a:txBody>
                    <a:bodyPr/>
                    <a:lstStyle/>
                    <a:p>
                      <a:pPr indent="0" marL="0">
                        <a:buNone/>
                      </a:pPr>
                      <a:r>
                        <a:rPr lang="en-US" sz="1500" dirty="0">
                          <a:solidFill>
                            <a:schemeClr val="tx1"/>
                          </a:solidFill>
                        </a:rPr>
                        <a:t>"Task 1 took three prompts"</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500" dirty="0">
                          <a:solidFill>
                            <a:schemeClr val="tx1"/>
                          </a:solidFill>
                        </a:rPr>
                        <a:t>Nowhere. Let it go.</a:t>
                      </a:r>
                      <a:endParaRPr lang="en-US" sz="15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bl>
          </a:graphicData>
        </a:graphic>
      </p:graphicFrame>
      <p:sp>
        <p:nvSpPr>
          <p:cNvPr id="10" name="Text 7"/>
          <p:cNvSpPr txBox="1"/>
          <p:nvPr/>
        </p:nvSpPr>
        <p:spPr>
          <a:xfrm>
            <a:off x="5120640" y="5303520"/>
            <a:ext cx="6400800" cy="548640"/>
          </a:xfrm>
          <a:prstGeom prst="rect">
            <a:avLst/>
          </a:prstGeom>
          <a:noFill/>
          <a:ln/>
        </p:spPr>
        <p:txBody>
          <a:bodyPr wrap="square" lIns="0" tIns="0" rIns="0" bIns="0" rtlCol="0" anchor="t"/>
          <a:lstStyle/>
          <a:p>
            <a:pPr indent="0" marL="0">
              <a:buNone/>
            </a:pPr>
            <a:r>
              <a:rPr lang="en-US" sz="1500" dirty="0">
                <a:solidFill>
                  <a:schemeClr val="accent3"/>
                </a:solidFill>
              </a:rPr>
              <a:t>After a bad session, resist "add it to CLAUDE.md". Find the narrowest layer where it will still be found.</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4"/>
                </a:solidFill>
              </a:rPr>
              <a:t>LIVE DEMO 3 · EUGENE</a:t>
            </a:r>
            <a:endParaRPr lang="en-US" sz="1100" dirty="0"/>
          </a:p>
        </p:txBody>
      </p:sp>
      <p:sp>
        <p:nvSpPr>
          <p:cNvPr id="3" name="Text 1"/>
          <p:cNvSpPr/>
          <p:nvPr>
            <p:ph idx="101" type="title" hasCustomPrompt="1"/>
          </p:nvPr>
        </p:nvSpPr>
        <p:spPr>
          <a:xfrm>
            <a:off x="640080" y="868680"/>
            <a:ext cx="7315200" cy="731520"/>
          </a:xfrm>
          <a:prstGeom prst="rect">
            <a:avLst/>
          </a:prstGeom>
          <a:noFill/>
          <a:ln/>
        </p:spPr>
        <p:txBody>
          <a:bodyPr wrap="square" lIns="0" tIns="0" rIns="0" bIns="0" rtlCol="0" anchor="t"/>
          <a:lstStyle/>
          <a:p>
            <a:pPr indent="0" marL="0">
              <a:buNone/>
            </a:pPr>
            <a:r>
              <a:rPr lang="en-US" sz="3600" b="1" dirty="0">
                <a:solidFill>
                  <a:schemeClr val="bg1"/>
                </a:solidFill>
              </a:rPr>
              <a:t>Demo 3 · New goal, fresh context</a:t>
            </a:r>
            <a:endParaRPr lang="en-US" sz="3600" dirty="0"/>
          </a:p>
        </p:txBody>
      </p:sp>
      <p:sp>
        <p:nvSpPr>
          <p:cNvPr id="4" name="Text 1"/>
          <p:cNvSpPr/>
          <p:nvPr>
            <p:ph idx="102" type="body" hasCustomPrompt="1"/>
          </p:nvPr>
        </p:nvSpPr>
        <p:spPr>
          <a:xfrm>
            <a:off x="640080" y="1600200"/>
            <a:ext cx="7315200" cy="411480"/>
          </a:xfrm>
          <a:prstGeom prst="rect">
            <a:avLst/>
          </a:prstGeom>
          <a:noFill/>
          <a:ln/>
        </p:spPr>
        <p:txBody>
          <a:bodyPr wrap="square" lIns="0" tIns="0" rIns="0" bIns="0" rtlCol="0" anchor="t"/>
          <a:lstStyle/>
          <a:p>
            <a:pPr indent="0" marL="0">
              <a:buNone/>
            </a:pPr>
            <a:r>
              <a:rPr lang="en-US" sz="1600" dirty="0">
                <a:solidFill>
                  <a:schemeClr val="accent5"/>
                </a:solidFill>
              </a:rPr>
              <a:t>Claude Code CLI · the subject changes from pricing to notifications</a:t>
            </a:r>
            <a:endParaRPr lang="en-US" sz="1600" dirty="0"/>
          </a:p>
        </p:txBody>
      </p:sp>
      <p:sp>
        <p:nvSpPr>
          <p:cNvPr id="5" name="glyph circle"/>
          <p:cNvSpPr/>
          <p:nvPr/>
        </p:nvSpPr>
        <p:spPr>
          <a:xfrm>
            <a:off x="640080" y="2286000"/>
            <a:ext cx="457200" cy="457200"/>
          </a:xfrm>
          <a:prstGeom prst="ellipse">
            <a:avLst/>
          </a:prstGeom>
          <a:solidFill>
            <a:schemeClr val="accent2"/>
          </a:solidFill>
          <a:ln w="12700">
            <a:solidFill>
              <a:schemeClr val="accent2"/>
            </a:solidFill>
            <a:prstDash val="solid"/>
          </a:ln>
        </p:spPr>
      </p:sp>
      <p:sp>
        <p:nvSpPr>
          <p:cNvPr id="6" name="Text 4"/>
          <p:cNvSpPr txBox="1"/>
          <p:nvPr/>
        </p:nvSpPr>
        <p:spPr>
          <a:xfrm>
            <a:off x="640080" y="22860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1280160" y="2304288"/>
            <a:ext cx="5486400" cy="685800"/>
          </a:xfrm>
          <a:prstGeom prst="rect">
            <a:avLst/>
          </a:prstGeom>
          <a:noFill/>
          <a:ln/>
        </p:spPr>
        <p:txBody>
          <a:bodyPr wrap="square" lIns="0" tIns="0" rIns="0" bIns="0" rtlCol="0" anchor="t"/>
          <a:lstStyle/>
          <a:p>
            <a:pPr indent="0" marL="0">
              <a:buNone/>
            </a:pPr>
            <a:r>
              <a:rPr lang="en-US" sz="1600" dirty="0">
                <a:solidFill>
                  <a:schemeClr val="bg1"/>
                </a:solidFill>
              </a:rPr>
              <a:t>New goal, so /clear. Show CLAUDE.md: short, and nothing about notifications.</a:t>
            </a:r>
            <a:endParaRPr lang="en-US" sz="1600" dirty="0"/>
          </a:p>
        </p:txBody>
      </p:sp>
      <p:sp>
        <p:nvSpPr>
          <p:cNvPr id="8" name="glyph circle"/>
          <p:cNvSpPr/>
          <p:nvPr/>
        </p:nvSpPr>
        <p:spPr>
          <a:xfrm>
            <a:off x="640080" y="3072384"/>
            <a:ext cx="457200" cy="457200"/>
          </a:xfrm>
          <a:prstGeom prst="ellipse">
            <a:avLst/>
          </a:prstGeom>
          <a:solidFill>
            <a:schemeClr val="accent2"/>
          </a:solidFill>
          <a:ln w="12700">
            <a:solidFill>
              <a:schemeClr val="accent2"/>
            </a:solidFill>
            <a:prstDash val="solid"/>
          </a:ln>
        </p:spPr>
      </p:sp>
      <p:sp>
        <p:nvSpPr>
          <p:cNvPr id="9" name="Text 7"/>
          <p:cNvSpPr txBox="1"/>
          <p:nvPr/>
        </p:nvSpPr>
        <p:spPr>
          <a:xfrm>
            <a:off x="640080" y="3072384"/>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8"/>
          <p:cNvSpPr txBox="1"/>
          <p:nvPr/>
        </p:nvSpPr>
        <p:spPr>
          <a:xfrm>
            <a:off x="1280160" y="3090672"/>
            <a:ext cx="5486400" cy="685800"/>
          </a:xfrm>
          <a:prstGeom prst="rect">
            <a:avLst/>
          </a:prstGeom>
          <a:noFill/>
          <a:ln/>
        </p:spPr>
        <p:txBody>
          <a:bodyPr wrap="square" lIns="0" tIns="0" rIns="0" bIns="0" rtlCol="0" anchor="t"/>
          <a:lstStyle/>
          <a:p>
            <a:pPr indent="0" marL="0">
              <a:buNone/>
            </a:pPr>
            <a:r>
              <a:rPr lang="en-US" sz="1600" dirty="0">
                <a:solidFill>
                  <a:schemeClr val="bg1"/>
                </a:solidFill>
              </a:rPr>
              <a:t>Shift+Tab into plan mode. @ the retry policy and its test; the prompt points at ADR 003.</a:t>
            </a:r>
            <a:endParaRPr lang="en-US" sz="1600" dirty="0"/>
          </a:p>
        </p:txBody>
      </p:sp>
      <p:sp>
        <p:nvSpPr>
          <p:cNvPr id="11" name="glyph circle"/>
          <p:cNvSpPr/>
          <p:nvPr/>
        </p:nvSpPr>
        <p:spPr>
          <a:xfrm>
            <a:off x="640080" y="3858768"/>
            <a:ext cx="457200" cy="457200"/>
          </a:xfrm>
          <a:prstGeom prst="ellipse">
            <a:avLst/>
          </a:prstGeom>
          <a:solidFill>
            <a:schemeClr val="accent2"/>
          </a:solidFill>
          <a:ln w="12700">
            <a:solidFill>
              <a:schemeClr val="accent2"/>
            </a:solidFill>
            <a:prstDash val="solid"/>
          </a:ln>
        </p:spPr>
      </p:sp>
      <p:sp>
        <p:nvSpPr>
          <p:cNvPr id="12" name="Text 10"/>
          <p:cNvSpPr txBox="1"/>
          <p:nvPr/>
        </p:nvSpPr>
        <p:spPr>
          <a:xfrm>
            <a:off x="640080" y="385876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Text 11"/>
          <p:cNvSpPr txBox="1"/>
          <p:nvPr/>
        </p:nvSpPr>
        <p:spPr>
          <a:xfrm>
            <a:off x="1280160" y="3877056"/>
            <a:ext cx="5486400" cy="685800"/>
          </a:xfrm>
          <a:prstGeom prst="rect">
            <a:avLst/>
          </a:prstGeom>
          <a:noFill/>
          <a:ln/>
        </p:spPr>
        <p:txBody>
          <a:bodyPr wrap="square" lIns="0" tIns="0" rIns="0" bIns="0" rtlCol="0" anchor="t"/>
          <a:lstStyle/>
          <a:p>
            <a:pPr indent="0" marL="0">
              <a:buNone/>
            </a:pPr>
            <a:r>
              <a:rPr lang="en-US" sz="1600" dirty="0">
                <a:solidFill>
                  <a:schemeClr val="bg1"/>
                </a:solidFill>
              </a:rPr>
              <a:t>Spot the trap: two retries means three attempts. Did the plan get it right?</a:t>
            </a:r>
            <a:endParaRPr lang="en-US" sz="1600" dirty="0"/>
          </a:p>
        </p:txBody>
      </p:sp>
      <p:sp>
        <p:nvSpPr>
          <p:cNvPr id="14" name="glyph circle"/>
          <p:cNvSpPr/>
          <p:nvPr/>
        </p:nvSpPr>
        <p:spPr>
          <a:xfrm>
            <a:off x="640080" y="4645152"/>
            <a:ext cx="457200" cy="457200"/>
          </a:xfrm>
          <a:prstGeom prst="ellipse">
            <a:avLst/>
          </a:prstGeom>
          <a:solidFill>
            <a:schemeClr val="accent2"/>
          </a:solidFill>
          <a:ln w="12700">
            <a:solidFill>
              <a:schemeClr val="accent2"/>
            </a:solidFill>
            <a:prstDash val="solid"/>
          </a:ln>
        </p:spPr>
      </p:sp>
      <p:sp>
        <p:nvSpPr>
          <p:cNvPr id="15" name="Text 13"/>
          <p:cNvSpPr txBox="1"/>
          <p:nvPr/>
        </p:nvSpPr>
        <p:spPr>
          <a:xfrm>
            <a:off x="640080" y="464515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6" name="Text 14"/>
          <p:cNvSpPr txBox="1"/>
          <p:nvPr/>
        </p:nvSpPr>
        <p:spPr>
          <a:xfrm>
            <a:off x="1280160" y="4663440"/>
            <a:ext cx="5486400" cy="685800"/>
          </a:xfrm>
          <a:prstGeom prst="rect">
            <a:avLst/>
          </a:prstGeom>
          <a:noFill/>
          <a:ln/>
        </p:spPr>
        <p:txBody>
          <a:bodyPr wrap="square" lIns="0" tIns="0" rIns="0" bIns="0" rtlCol="0" anchor="t"/>
          <a:lstStyle/>
          <a:p>
            <a:pPr indent="0" marL="0">
              <a:buNone/>
            </a:pPr>
            <a:r>
              <a:rPr lang="en-US" sz="1600" dirty="0">
                <a:solidFill>
                  <a:schemeClr val="bg1"/>
                </a:solidFill>
              </a:rPr>
              <a:t>Build. Narrow test, typecheck, hidden verification. /compact if it got long.</a:t>
            </a:r>
            <a:endParaRPr lang="en-US" sz="1600" dirty="0"/>
          </a:p>
        </p:txBody>
      </p:sp>
      <p:sp>
        <p:nvSpPr>
          <p:cNvPr id="17" name="glyph circle"/>
          <p:cNvSpPr/>
          <p:nvPr/>
        </p:nvSpPr>
        <p:spPr>
          <a:xfrm>
            <a:off x="640080" y="5431536"/>
            <a:ext cx="457200" cy="457200"/>
          </a:xfrm>
          <a:prstGeom prst="ellipse">
            <a:avLst/>
          </a:prstGeom>
          <a:solidFill>
            <a:schemeClr val="accent2"/>
          </a:solidFill>
          <a:ln w="12700">
            <a:solidFill>
              <a:schemeClr val="accent2"/>
            </a:solidFill>
            <a:prstDash val="solid"/>
          </a:ln>
        </p:spPr>
      </p:sp>
      <p:sp>
        <p:nvSpPr>
          <p:cNvPr id="18" name="Text 16"/>
          <p:cNvSpPr txBox="1"/>
          <p:nvPr/>
        </p:nvSpPr>
        <p:spPr>
          <a:xfrm>
            <a:off x="640080" y="5431536"/>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9" name="Text 17"/>
          <p:cNvSpPr txBox="1"/>
          <p:nvPr/>
        </p:nvSpPr>
        <p:spPr>
          <a:xfrm>
            <a:off x="1280160" y="5449824"/>
            <a:ext cx="5486400" cy="685800"/>
          </a:xfrm>
          <a:prstGeom prst="rect">
            <a:avLst/>
          </a:prstGeom>
          <a:noFill/>
          <a:ln/>
        </p:spPr>
        <p:txBody>
          <a:bodyPr wrap="square" lIns="0" tIns="0" rIns="0" bIns="0" rtlCol="0" anchor="t"/>
          <a:lstStyle/>
          <a:p>
            <a:pPr indent="0" marL="0">
              <a:buNone/>
            </a:pPr>
            <a:r>
              <a:rPr lang="en-US" sz="1600" dirty="0">
                <a:solidFill>
                  <a:schemeClr val="bg1"/>
                </a:solidFill>
              </a:rPr>
              <a:t>Save the lesson at layer 2: a path-scoped rule, not CLAUDE.md.</a:t>
            </a:r>
            <a:endParaRPr lang="en-US" sz="1600" dirty="0"/>
          </a:p>
        </p:txBody>
      </p:sp>
      <p:sp>
        <p:nvSpPr>
          <p:cNvPr id="20" name="panel"/>
          <p:cNvSpPr/>
          <p:nvPr/>
        </p:nvSpPr>
        <p:spPr>
          <a:xfrm>
            <a:off x="7086600" y="2286000"/>
            <a:ext cx="4434840" cy="3840480"/>
          </a:xfrm>
          <a:prstGeom prst="roundRect">
            <a:avLst>
              <a:gd name="adj" fmla="val 1905"/>
            </a:avLst>
          </a:prstGeom>
          <a:solidFill>
            <a:schemeClr val="tx1"/>
          </a:solidFill>
          <a:ln w="12700">
            <a:solidFill>
              <a:schemeClr val="tx1"/>
            </a:solidFill>
            <a:prstDash val="solid"/>
          </a:ln>
        </p:spPr>
      </p:sp>
      <p:sp>
        <p:nvSpPr>
          <p:cNvPr id="21" name="Text 19"/>
          <p:cNvSpPr txBox="1"/>
          <p:nvPr/>
        </p:nvSpPr>
        <p:spPr>
          <a:xfrm>
            <a:off x="7360920" y="2514600"/>
            <a:ext cx="3931920" cy="274320"/>
          </a:xfrm>
          <a:prstGeom prst="rect">
            <a:avLst/>
          </a:prstGeom>
          <a:noFill/>
          <a:ln/>
        </p:spPr>
        <p:txBody>
          <a:bodyPr wrap="square" lIns="0" tIns="0" rIns="0" bIns="0" rtlCol="0" anchor="t"/>
          <a:lstStyle/>
          <a:p>
            <a:pPr indent="0" marL="0">
              <a:buNone/>
            </a:pPr>
            <a:r>
              <a:rPr lang="en-US" sz="1200" b="1" dirty="0">
                <a:solidFill>
                  <a:schemeClr val="accent4"/>
                </a:solidFill>
              </a:rPr>
              <a:t>.claude/rules/notifications.md</a:t>
            </a:r>
            <a:endParaRPr lang="en-US" sz="1200" dirty="0"/>
          </a:p>
        </p:txBody>
      </p:sp>
      <p:sp>
        <p:nvSpPr>
          <p:cNvPr id="22" name="Text 20"/>
          <p:cNvSpPr txBox="1"/>
          <p:nvPr/>
        </p:nvSpPr>
        <p:spPr>
          <a:xfrm>
            <a:off x="7360920" y="2880360"/>
            <a:ext cx="3931920" cy="3108960"/>
          </a:xfrm>
          <a:prstGeom prst="rect">
            <a:avLst/>
          </a:prstGeom>
          <a:noFill/>
          <a:ln/>
        </p:spPr>
        <p:txBody>
          <a:bodyPr wrap="square" lIns="0" tIns="0" rIns="0" bIns="0" rtlCol="0" anchor="t"/>
          <a:lstStyle/>
          <a:p>
            <a:pPr indent="0" marL="0">
              <a:buNone/>
            </a:pPr>
            <a:r>
              <a:rPr lang="en-US" sz="1400" dirty="0">
                <a:solidFill>
                  <a:schemeClr val="bg2"/>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paths: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 "src/notifications/**"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 "tests/notifications/**"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A retry is an attempt AFTER</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the initial one: N retries</a:t>
            </a:r>
            <a:endParaRPr lang="en-US" sz="1400" dirty="0"/>
          </a:p>
          <a:p>
            <a:pPr indent="0" marL="0">
              <a:buNone/>
            </a:pPr>
            <a:r>
              <a:rPr lang="en-US" sz="1400" dirty="0">
                <a:solidFill>
                  <a:schemeClr val="bg2"/>
                </a:solidFill>
                <a:latin typeface="Consolas" pitchFamily="34" charset="0"/>
                <a:ea typeface="Consolas" pitchFamily="34" charset="-122"/>
                <a:cs typeface="Consolas" pitchFamily="34" charset="-120"/>
              </a:rPr>
              <a:t>  = N + 1 attempts (ADR 003)</a:t>
            </a:r>
            <a:endParaRPr lang="en-US" sz="14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RESULTS · BOTH</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The race results</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Same model, same repo, same four tasks, then one QA round. Live numbers from the race terminal; rehearsal numbers below.</a:t>
            </a:r>
            <a:endParaRPr lang="en-US" sz="1500" dirty="0"/>
          </a:p>
        </p:txBody>
      </p:sp>
      <p:graphicFrame>
        <p:nvGraphicFramePr>
          <p:cNvPr id="24" name="results table"/>
          <p:cNvGraphicFramePr>
            <a:graphicFrameLocks noGrp="1"/>
          </p:cNvGraphicFramePr>
          <p:nvPr>
            <p:extLst>
              <p:ext uri="{D42A27DB-BD31-4B8C-83A1-F6EECF244321}">
                <p14:modId xmlns:p14="http://schemas.microsoft.com/office/powerpoint/2010/main" val="1579011935"/>
              </p:ext>
            </p:extLst>
          </p:nvPr>
        </p:nvGraphicFramePr>
        <p:xfrm>
          <a:off x="640080" y="1691640"/>
          <a:ext cx="7498080" cy="914400"/>
        </p:xfrm>
        <a:graphic>
          <a:graphicData uri="http://schemas.openxmlformats.org/drawingml/2006/table">
            <a:tbl>
              <a:tblPr/>
              <a:tblGrid>
                <a:gridCol w="3840480"/>
                <a:gridCol w="1828800"/>
                <a:gridCol w="1828800"/>
              </a:tblGrid>
              <a:tr h="420624">
                <a:tc>
                  <a:txBody>
                    <a:bodyPr/>
                    <a:lstStyle/>
                    <a:p>
                      <a:pPr indent="0" marL="0">
                        <a:buNone/>
                      </a:pPr>
                      <a:r>
                        <a:rPr lang="en-US" sz="1400" b="1" dirty="0">
                          <a:solidFill>
                            <a:schemeClr val="bg1"/>
                          </a:solidFill>
                        </a:rPr>
                        <a:t>Metric</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Vibe</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solidFill>
                      <a:schemeClr val="accent3"/>
                    </a:solidFill>
                  </a:tcPr>
                </a:tc>
                <a:tc>
                  <a:txBody>
                    <a:bodyPr/>
                    <a:lstStyle/>
                    <a:p>
                      <a:pPr algn="ctr" indent="0" marL="0">
                        <a:buNone/>
                      </a:pPr>
                      <a:r>
                        <a:rPr lang="en-US" sz="1400" b="1" dirty="0">
                          <a:solidFill>
                            <a:schemeClr val="bg1"/>
                          </a:solidFill>
                        </a:rPr>
                        <a:t>Disciplined</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solidFill>
                      <a:schemeClr val="accent2"/>
                    </a:solidFill>
                  </a:tcPr>
                </a:tc>
              </a:tr>
              <a:tr h="420624">
                <a:tc>
                  <a:txBody>
                    <a:bodyPr/>
                    <a:lstStyle/>
                    <a:p>
                      <a:pPr indent="0" marL="0">
                        <a:buNone/>
                      </a:pPr>
                      <a:r>
                        <a:rPr lang="en-US" sz="1400" b="1" dirty="0">
                          <a:solidFill>
                            <a:schemeClr val="tx1"/>
                          </a:solidFill>
                        </a:rPr>
                        <a:t>Hidden verification passed, first try</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400" dirty="0">
                          <a:solidFill>
                            <a:schemeClr val="tx1"/>
                          </a:solidFill>
                        </a:rPr>
                        <a:t>3 / 4</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400" dirty="0">
                          <a:solidFill>
                            <a:schemeClr val="tx1"/>
                          </a:solidFill>
                        </a:rPr>
                        <a:t>4 / 4</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420624">
                <a:tc>
                  <a:txBody>
                    <a:bodyPr/>
                    <a:lstStyle/>
                    <a:p>
                      <a:pPr indent="0" marL="0">
                        <a:buNone/>
                      </a:pPr>
                      <a:r>
                        <a:rPr lang="en-US" sz="1400" b="1" dirty="0">
                          <a:solidFill>
                            <a:schemeClr val="tx1"/>
                          </a:solidFill>
                        </a:rPr>
                        <a:t>...after one QA round</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400" dirty="0">
                          <a:solidFill>
                            <a:schemeClr val="tx1"/>
                          </a:solidFill>
                        </a:rPr>
                        <a:t>4 / 4</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400" dirty="0">
                          <a:solidFill>
                            <a:schemeClr val="tx1"/>
                          </a:solidFill>
                        </a:rPr>
                        <a:t>4 / 4</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420624">
                <a:tc>
                  <a:txBody>
                    <a:bodyPr/>
                    <a:lstStyle/>
                    <a:p>
                      <a:pPr indent="0" marL="0">
                        <a:buNone/>
                      </a:pPr>
                      <a:r>
                        <a:rPr lang="en-US" sz="1400" b="1" dirty="0">
                          <a:solidFill>
                            <a:schemeClr val="tx1"/>
                          </a:solidFill>
                        </a:rPr>
                        <a:t>Files read / files that mattered</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400" dirty="0">
                          <a:solidFill>
                            <a:schemeClr val="tx1"/>
                          </a:solidFill>
                        </a:rPr>
                        <a:t>9 / 9</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400" dirty="0">
                          <a:solidFill>
                            <a:schemeClr val="tx1"/>
                          </a:solidFill>
                        </a:rPr>
                        <a:t>11 / 10</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420624">
                <a:tc>
                  <a:txBody>
                    <a:bodyPr/>
                    <a:lstStyle/>
                    <a:p>
                      <a:pPr indent="0" marL="0">
                        <a:buNone/>
                      </a:pPr>
                      <a:r>
                        <a:rPr lang="en-US" sz="1400" b="1" dirty="0">
                          <a:solidFill>
                            <a:schemeClr val="tx1"/>
                          </a:solidFill>
                        </a:rPr>
                        <a:t>Prompts (corrections)</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400" dirty="0">
                          <a:solidFill>
                            <a:schemeClr val="tx1"/>
                          </a:solidFill>
                        </a:rPr>
                        <a:t>5 (1)</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400" dirty="0">
                          <a:solidFill>
                            <a:schemeClr val="tx1"/>
                          </a:solidFill>
                        </a:rPr>
                        <a:t>4 (0)</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420624">
                <a:tc>
                  <a:txBody>
                    <a:bodyPr/>
                    <a:lstStyle/>
                    <a:p>
                      <a:pPr indent="0" marL="0">
                        <a:buNone/>
                      </a:pPr>
                      <a:r>
                        <a:rPr lang="en-US" sz="1400" b="1" dirty="0">
                          <a:solidFill>
                            <a:schemeClr val="tx1"/>
                          </a:solidFill>
                        </a:rPr>
                        <a:t>Full / focused test runs</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400" dirty="0">
                          <a:solidFill>
                            <a:schemeClr val="tx1"/>
                          </a:solidFill>
                        </a:rPr>
                        <a:t>5 / 1</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400" dirty="0">
                          <a:solidFill>
                            <a:schemeClr val="tx1"/>
                          </a:solidFill>
                        </a:rPr>
                        <a:t>0 / 4</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420624">
                <a:tc>
                  <a:txBody>
                    <a:bodyPr/>
                    <a:lstStyle/>
                    <a:p>
                      <a:pPr indent="0" marL="0">
                        <a:buNone/>
                      </a:pPr>
                      <a:r>
                        <a:rPr lang="en-US" sz="1400" b="1" dirty="0">
                          <a:solidFill>
                            <a:schemeClr val="tx1"/>
                          </a:solidFill>
                        </a:rPr>
                        <a:t>Files changed that didn't need to</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400" dirty="0">
                          <a:solidFill>
                            <a:schemeClr val="tx1"/>
                          </a:solidFill>
                        </a:rPr>
                        <a:t>0</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400" dirty="0">
                          <a:solidFill>
                            <a:schemeClr val="tx1"/>
                          </a:solidFill>
                        </a:rPr>
                        <a:t>0</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420624">
                <a:tc>
                  <a:txBody>
                    <a:bodyPr/>
                    <a:lstStyle/>
                    <a:p>
                      <a:pPr indent="0" marL="0">
                        <a:buNone/>
                      </a:pPr>
                      <a:r>
                        <a:rPr lang="en-US" sz="1400" b="1" dirty="0">
                          <a:solidFill>
                            <a:schemeClr val="tx1"/>
                          </a:solidFill>
                        </a:rPr>
                        <a:t>Peak context</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400" dirty="0">
                          <a:solidFill>
                            <a:schemeClr val="tx1"/>
                          </a:solidFill>
                        </a:rPr>
                        <a:t>68.7k</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400" dirty="0">
                          <a:solidFill>
                            <a:schemeClr val="tx1"/>
                          </a:solidFill>
                        </a:rPr>
                        <a:t>49.2k</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420624">
                <a:tc>
                  <a:txBody>
                    <a:bodyPr/>
                    <a:lstStyle/>
                    <a:p>
                      <a:pPr indent="0" marL="0">
                        <a:buNone/>
                      </a:pPr>
                      <a:r>
                        <a:rPr lang="en-US" sz="1400" b="1" dirty="0">
                          <a:solidFill>
                            <a:schemeClr val="tx1"/>
                          </a:solidFill>
                        </a:rPr>
                        <a:t>Cost, incl. rework</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400" dirty="0">
                          <a:solidFill>
                            <a:schemeClr val="tx1"/>
                          </a:solidFill>
                        </a:rPr>
                        <a:t>$1.50</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400" dirty="0">
                          <a:solidFill>
                            <a:schemeClr val="tx1"/>
                          </a:solidFill>
                        </a:rPr>
                        <a:t>$0.72</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420624">
                <a:tc>
                  <a:txBody>
                    <a:bodyPr/>
                    <a:lstStyle/>
                    <a:p>
                      <a:pPr indent="0" marL="0">
                        <a:buNone/>
                      </a:pPr>
                      <a:r>
                        <a:rPr lang="en-US" sz="1400" b="1" dirty="0">
                          <a:solidFill>
                            <a:schemeClr val="tx1"/>
                          </a:solidFill>
                        </a:rPr>
                        <a:t>Agent minutes</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400" dirty="0">
                          <a:solidFill>
                            <a:schemeClr val="tx1"/>
                          </a:solidFill>
                        </a:rPr>
                        <a:t>3.0</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algn="ctr" indent="0" marL="0">
                        <a:buNone/>
                      </a:pPr>
                      <a:r>
                        <a:rPr lang="en-US" sz="1400" dirty="0">
                          <a:solidFill>
                            <a:schemeClr val="tx1"/>
                          </a:solidFill>
                        </a:rPr>
                        <a:t>2.1</a:t>
                      </a:r>
                      <a:endParaRPr lang="en-US" sz="1400" dirty="0"/>
                    </a:p>
                  </a:txBody>
                  <a:tcPr marL="128016" marR="128016" marT="36576" marB="36576"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bl>
          </a:graphicData>
        </a:graphic>
      </p:graphicFrame>
      <p:sp>
        <p:nvSpPr>
          <p:cNvPr id="6" name="Text 3"/>
          <p:cNvSpPr txBox="1"/>
          <p:nvPr/>
        </p:nvSpPr>
        <p:spPr>
          <a:xfrm>
            <a:off x="640080" y="5943600"/>
            <a:ext cx="7498080" cy="274320"/>
          </a:xfrm>
          <a:prstGeom prst="rect">
            <a:avLst/>
          </a:prstGeom>
          <a:noFill/>
          <a:ln/>
        </p:spPr>
        <p:txBody>
          <a:bodyPr wrap="square" lIns="0" tIns="0" rIns="0" bIns="0" rtlCol="0" anchor="t"/>
          <a:lstStyle/>
          <a:p>
            <a:pPr indent="0" marL="0">
              <a:buNone/>
            </a:pPr>
            <a:r>
              <a:rPr lang="en-US" sz="1200" i="1" dirty="0">
                <a:solidFill>
                  <a:schemeClr val="accent6"/>
                </a:solidFill>
              </a:rPr>
              <a:t>Files read is even: good docs kept both lanes on the right files (Theory 3).</a:t>
            </a:r>
            <a:endParaRPr lang="en-US" sz="1200" dirty="0"/>
          </a:p>
        </p:txBody>
      </p:sp>
      <p:sp>
        <p:nvSpPr>
          <p:cNvPr id="7" name="panel"/>
          <p:cNvSpPr/>
          <p:nvPr/>
        </p:nvSpPr>
        <p:spPr>
          <a:xfrm>
            <a:off x="8412480" y="1691640"/>
            <a:ext cx="3108960" cy="4114800"/>
          </a:xfrm>
          <a:prstGeom prst="roundRect">
            <a:avLst>
              <a:gd name="adj" fmla="val 2353"/>
            </a:avLst>
          </a:prstGeom>
          <a:solidFill>
            <a:schemeClr val="bg2"/>
          </a:solidFill>
          <a:ln w="12700">
            <a:solidFill>
              <a:schemeClr val="bg2"/>
            </a:solidFill>
            <a:prstDash val="solid"/>
          </a:ln>
        </p:spPr>
      </p:sp>
      <p:sp>
        <p:nvSpPr>
          <p:cNvPr id="8" name="glyph circle"/>
          <p:cNvSpPr/>
          <p:nvPr/>
        </p:nvSpPr>
        <p:spPr>
          <a:xfrm>
            <a:off x="8686800" y="1920240"/>
            <a:ext cx="457200" cy="457200"/>
          </a:xfrm>
          <a:prstGeom prst="ellipse">
            <a:avLst/>
          </a:prstGeom>
          <a:solidFill>
            <a:schemeClr val="accent2"/>
          </a:solidFill>
          <a:ln w="12700">
            <a:solidFill>
              <a:schemeClr val="accent2"/>
            </a:solidFill>
            <a:prstDash val="solid"/>
          </a:ln>
        </p:spPr>
      </p:sp>
      <p:sp>
        <p:nvSpPr>
          <p:cNvPr id="9" name="Text 6"/>
          <p:cNvSpPr txBox="1"/>
          <p:nvPr/>
        </p:nvSpPr>
        <p:spPr>
          <a:xfrm>
            <a:off x="8686800" y="19202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0" name="Text 7"/>
          <p:cNvSpPr txBox="1"/>
          <p:nvPr/>
        </p:nvSpPr>
        <p:spPr>
          <a:xfrm>
            <a:off x="8686800" y="2514600"/>
            <a:ext cx="2606040" cy="685800"/>
          </a:xfrm>
          <a:prstGeom prst="rect">
            <a:avLst/>
          </a:prstGeom>
          <a:noFill/>
          <a:ln/>
        </p:spPr>
        <p:txBody>
          <a:bodyPr wrap="square" lIns="0" tIns="0" rIns="0" bIns="0" rtlCol="0" anchor="t"/>
          <a:lstStyle/>
          <a:p>
            <a:pPr indent="0" marL="0">
              <a:buNone/>
            </a:pPr>
            <a:r>
              <a:rPr lang="en-US" sz="1800" b="1" dirty="0">
                <a:solidFill>
                  <a:schemeClr val="tx2"/>
                </a:solidFill>
              </a:rPr>
              <a:t>Read correctness first</a:t>
            </a:r>
            <a:endParaRPr lang="en-US" sz="1800" dirty="0"/>
          </a:p>
        </p:txBody>
      </p:sp>
      <p:sp>
        <p:nvSpPr>
          <p:cNvPr id="11" name="Text 8"/>
          <p:cNvSpPr txBox="1"/>
          <p:nvPr/>
        </p:nvSpPr>
        <p:spPr>
          <a:xfrm>
            <a:off x="8686800" y="3246120"/>
            <a:ext cx="2606040" cy="1463040"/>
          </a:xfrm>
          <a:prstGeom prst="rect">
            <a:avLst/>
          </a:prstGeom>
          <a:noFill/>
          <a:ln/>
        </p:spPr>
        <p:txBody>
          <a:bodyPr wrap="square" lIns="0" tIns="0" rIns="0" bIns="0" rtlCol="0" anchor="t"/>
          <a:lstStyle/>
          <a:p>
            <a:pPr indent="0" marL="0">
              <a:buNone/>
            </a:pPr>
            <a:r>
              <a:rPr lang="en-US" sz="1500" dirty="0">
                <a:solidFill>
                  <a:schemeClr val="accent3"/>
                </a:solidFill>
              </a:rPr>
              <a:t>A lane that is cheaper but wrong lost. A lane that is right and cheaper won twice.</a:t>
            </a:r>
            <a:endParaRPr lang="en-US" sz="1500" dirty="0"/>
          </a:p>
        </p:txBody>
      </p:sp>
      <p:sp>
        <p:nvSpPr>
          <p:cNvPr id="12" name="Text 9"/>
          <p:cNvSpPr txBox="1"/>
          <p:nvPr/>
        </p:nvSpPr>
        <p:spPr>
          <a:xfrm>
            <a:off x="8686800" y="4617720"/>
            <a:ext cx="2606040" cy="1097280"/>
          </a:xfrm>
          <a:prstGeom prst="rect">
            <a:avLst/>
          </a:prstGeom>
          <a:noFill/>
          <a:ln/>
        </p:spPr>
        <p:txBody>
          <a:bodyPr wrap="square" lIns="0" tIns="0" rIns="0" bIns="0" rtlCol="0" anchor="t"/>
          <a:lstStyle/>
          <a:p>
            <a:pPr indent="0" marL="0">
              <a:buNone/>
            </a:pPr>
            <a:r>
              <a:rPr lang="en-US" sz="1500" b="1" dirty="0">
                <a:solidFill>
                  <a:schemeClr val="tx1"/>
                </a:solidFill>
              </a:rPr>
              <a:t>The fix was one line either way. The rest was the cost of not saying what we knew.</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CLOSE · EUGENE</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Take it back to your desk</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The pocket checklist. It's also on the cheat sheet.</a:t>
            </a:r>
            <a:endParaRPr lang="en-US" sz="1500" dirty="0"/>
          </a:p>
        </p:txBody>
      </p:sp>
      <p:sp>
        <p:nvSpPr>
          <p:cNvPr id="5" name="panel"/>
          <p:cNvSpPr/>
          <p:nvPr/>
        </p:nvSpPr>
        <p:spPr>
          <a:xfrm>
            <a:off x="640080" y="1737360"/>
            <a:ext cx="10881360" cy="914400"/>
          </a:xfrm>
          <a:prstGeom prst="roundRect">
            <a:avLst>
              <a:gd name="adj" fmla="val 8000"/>
            </a:avLst>
          </a:prstGeom>
          <a:solidFill>
            <a:schemeClr val="bg2"/>
          </a:solidFill>
          <a:ln w="12700">
            <a:solidFill>
              <a:schemeClr val="bg2"/>
            </a:solidFill>
            <a:prstDash val="solid"/>
          </a:ln>
        </p:spPr>
      </p:sp>
      <p:sp>
        <p:nvSpPr>
          <p:cNvPr id="6" name="phase"/>
          <p:cNvSpPr/>
          <p:nvPr/>
        </p:nvSpPr>
        <p:spPr>
          <a:xfrm>
            <a:off x="868680" y="1956816"/>
            <a:ext cx="1645920" cy="475488"/>
          </a:xfrm>
          <a:prstGeom prst="roundRect">
            <a:avLst>
              <a:gd name="adj" fmla="val 15385"/>
            </a:avLst>
          </a:prstGeom>
          <a:solidFill>
            <a:schemeClr val="accent1"/>
          </a:solidFill>
          <a:ln w="12700">
            <a:solidFill>
              <a:schemeClr val="accent1"/>
            </a:solidFill>
            <a:prstDash val="solid"/>
          </a:ln>
        </p:spPr>
      </p:sp>
      <p:sp>
        <p:nvSpPr>
          <p:cNvPr id="7" name="Text 5"/>
          <p:cNvSpPr txBox="1"/>
          <p:nvPr/>
        </p:nvSpPr>
        <p:spPr>
          <a:xfrm>
            <a:off x="868680" y="1956816"/>
            <a:ext cx="1645920" cy="475488"/>
          </a:xfrm>
          <a:prstGeom prst="rect">
            <a:avLst/>
          </a:prstGeom>
          <a:noFill/>
          <a:ln/>
        </p:spPr>
        <p:txBody>
          <a:bodyPr wrap="square" lIns="0" tIns="0" rIns="0" bIns="0" rtlCol="0" anchor="ctr"/>
          <a:lstStyle/>
          <a:p>
            <a:pPr algn="ctr" indent="0" marL="0">
              <a:buNone/>
            </a:pPr>
            <a:r>
              <a:rPr lang="en-US" sz="1400" b="1" spc="100" kern="0" dirty="0">
                <a:solidFill>
                  <a:schemeClr val="bg1"/>
                </a:solidFill>
              </a:rPr>
              <a:t>BEFORE</a:t>
            </a:r>
            <a:endParaRPr lang="en-US" sz="1400" dirty="0"/>
          </a:p>
        </p:txBody>
      </p:sp>
      <p:sp>
        <p:nvSpPr>
          <p:cNvPr id="8" name="Text 6"/>
          <p:cNvSpPr txBox="1"/>
          <p:nvPr/>
        </p:nvSpPr>
        <p:spPr>
          <a:xfrm>
            <a:off x="2788920" y="1737360"/>
            <a:ext cx="8503920" cy="914400"/>
          </a:xfrm>
          <a:prstGeom prst="rect">
            <a:avLst/>
          </a:prstGeom>
          <a:noFill/>
          <a:ln/>
        </p:spPr>
        <p:txBody>
          <a:bodyPr wrap="square" lIns="0" tIns="0" rIns="0" bIns="0" rtlCol="0" anchor="ctr"/>
          <a:lstStyle/>
          <a:p>
            <a:pPr indent="0" marL="0">
              <a:buNone/>
            </a:pPr>
            <a:r>
              <a:rPr lang="en-US" sz="1700" dirty="0">
                <a:solidFill>
                  <a:schemeClr val="tx1"/>
                </a:solidFill>
              </a:rPr>
              <a:t>One goal · acceptance criteria · name the files · plan if anything is uncertain · note context %</a:t>
            </a:r>
            <a:endParaRPr lang="en-US" sz="1700" dirty="0"/>
          </a:p>
        </p:txBody>
      </p:sp>
      <p:sp>
        <p:nvSpPr>
          <p:cNvPr id="9" name="panel"/>
          <p:cNvSpPr/>
          <p:nvPr/>
        </p:nvSpPr>
        <p:spPr>
          <a:xfrm>
            <a:off x="640080" y="2816352"/>
            <a:ext cx="10881360" cy="914400"/>
          </a:xfrm>
          <a:prstGeom prst="roundRect">
            <a:avLst>
              <a:gd name="adj" fmla="val 8000"/>
            </a:avLst>
          </a:prstGeom>
          <a:solidFill>
            <a:schemeClr val="bg2"/>
          </a:solidFill>
          <a:ln w="12700">
            <a:solidFill>
              <a:schemeClr val="bg2"/>
            </a:solidFill>
            <a:prstDash val="solid"/>
          </a:ln>
        </p:spPr>
      </p:sp>
      <p:sp>
        <p:nvSpPr>
          <p:cNvPr id="10" name="phase"/>
          <p:cNvSpPr/>
          <p:nvPr/>
        </p:nvSpPr>
        <p:spPr>
          <a:xfrm>
            <a:off x="868680" y="3035808"/>
            <a:ext cx="1645920" cy="475488"/>
          </a:xfrm>
          <a:prstGeom prst="roundRect">
            <a:avLst>
              <a:gd name="adj" fmla="val 15385"/>
            </a:avLst>
          </a:prstGeom>
          <a:solidFill>
            <a:schemeClr val="accent2"/>
          </a:solidFill>
          <a:ln w="12700">
            <a:solidFill>
              <a:schemeClr val="accent2"/>
            </a:solidFill>
            <a:prstDash val="solid"/>
          </a:ln>
        </p:spPr>
      </p:sp>
      <p:sp>
        <p:nvSpPr>
          <p:cNvPr id="11" name="Text 9"/>
          <p:cNvSpPr txBox="1"/>
          <p:nvPr/>
        </p:nvSpPr>
        <p:spPr>
          <a:xfrm>
            <a:off x="868680" y="3035808"/>
            <a:ext cx="1645920" cy="475488"/>
          </a:xfrm>
          <a:prstGeom prst="rect">
            <a:avLst/>
          </a:prstGeom>
          <a:noFill/>
          <a:ln/>
        </p:spPr>
        <p:txBody>
          <a:bodyPr wrap="square" lIns="0" tIns="0" rIns="0" bIns="0" rtlCol="0" anchor="ctr"/>
          <a:lstStyle/>
          <a:p>
            <a:pPr algn="ctr" indent="0" marL="0">
              <a:buNone/>
            </a:pPr>
            <a:r>
              <a:rPr lang="en-US" sz="1400" b="1" spc="100" kern="0" dirty="0">
                <a:solidFill>
                  <a:schemeClr val="bg1"/>
                </a:solidFill>
              </a:rPr>
              <a:t>DURING</a:t>
            </a:r>
            <a:endParaRPr lang="en-US" sz="1400" dirty="0"/>
          </a:p>
        </p:txBody>
      </p:sp>
      <p:sp>
        <p:nvSpPr>
          <p:cNvPr id="12" name="Text 10"/>
          <p:cNvSpPr txBox="1"/>
          <p:nvPr/>
        </p:nvSpPr>
        <p:spPr>
          <a:xfrm>
            <a:off x="2788920" y="2816352"/>
            <a:ext cx="8503920" cy="914400"/>
          </a:xfrm>
          <a:prstGeom prst="rect">
            <a:avLst/>
          </a:prstGeom>
          <a:noFill/>
          <a:ln/>
        </p:spPr>
        <p:txBody>
          <a:bodyPr wrap="square" lIns="0" tIns="0" rIns="0" bIns="0" rtlCol="0" anchor="ctr"/>
          <a:lstStyle/>
          <a:p>
            <a:pPr indent="0" marL="0">
              <a:buNone/>
            </a:pPr>
            <a:r>
              <a:rPr lang="en-US" sz="1700" dirty="0">
                <a:solidFill>
                  <a:schemeClr val="tx1"/>
                </a:solidFill>
              </a:rPr>
              <a:t>Build only what the plan says · narrowest test first · re-plan when evidence changes</a:t>
            </a:r>
            <a:endParaRPr lang="en-US" sz="1700" dirty="0"/>
          </a:p>
        </p:txBody>
      </p:sp>
      <p:sp>
        <p:nvSpPr>
          <p:cNvPr id="13" name="panel"/>
          <p:cNvSpPr/>
          <p:nvPr/>
        </p:nvSpPr>
        <p:spPr>
          <a:xfrm>
            <a:off x="640080" y="3895344"/>
            <a:ext cx="10881360" cy="914400"/>
          </a:xfrm>
          <a:prstGeom prst="roundRect">
            <a:avLst>
              <a:gd name="adj" fmla="val 8000"/>
            </a:avLst>
          </a:prstGeom>
          <a:solidFill>
            <a:schemeClr val="bg2"/>
          </a:solidFill>
          <a:ln w="12700">
            <a:solidFill>
              <a:schemeClr val="bg2"/>
            </a:solidFill>
            <a:prstDash val="solid"/>
          </a:ln>
        </p:spPr>
      </p:sp>
      <p:sp>
        <p:nvSpPr>
          <p:cNvPr id="14" name="phase"/>
          <p:cNvSpPr/>
          <p:nvPr/>
        </p:nvSpPr>
        <p:spPr>
          <a:xfrm>
            <a:off x="868680" y="4114800"/>
            <a:ext cx="1645920" cy="475488"/>
          </a:xfrm>
          <a:prstGeom prst="roundRect">
            <a:avLst>
              <a:gd name="adj" fmla="val 15385"/>
            </a:avLst>
          </a:prstGeom>
          <a:solidFill>
            <a:schemeClr val="tx2"/>
          </a:solidFill>
          <a:ln w="12700">
            <a:solidFill>
              <a:schemeClr val="tx2"/>
            </a:solidFill>
            <a:prstDash val="solid"/>
          </a:ln>
        </p:spPr>
      </p:sp>
      <p:sp>
        <p:nvSpPr>
          <p:cNvPr id="15" name="Text 13"/>
          <p:cNvSpPr txBox="1"/>
          <p:nvPr/>
        </p:nvSpPr>
        <p:spPr>
          <a:xfrm>
            <a:off x="868680" y="4114800"/>
            <a:ext cx="1645920" cy="475488"/>
          </a:xfrm>
          <a:prstGeom prst="rect">
            <a:avLst/>
          </a:prstGeom>
          <a:noFill/>
          <a:ln/>
        </p:spPr>
        <p:txBody>
          <a:bodyPr wrap="square" lIns="0" tIns="0" rIns="0" bIns="0" rtlCol="0" anchor="ctr"/>
          <a:lstStyle/>
          <a:p>
            <a:pPr algn="ctr" indent="0" marL="0">
              <a:buNone/>
            </a:pPr>
            <a:r>
              <a:rPr lang="en-US" sz="1400" b="1" spc="100" kern="0" dirty="0">
                <a:solidFill>
                  <a:schemeClr val="bg1"/>
                </a:solidFill>
              </a:rPr>
              <a:t>SWITCHING</a:t>
            </a:r>
            <a:endParaRPr lang="en-US" sz="1400" dirty="0"/>
          </a:p>
        </p:txBody>
      </p:sp>
      <p:sp>
        <p:nvSpPr>
          <p:cNvPr id="16" name="Text 14"/>
          <p:cNvSpPr txBox="1"/>
          <p:nvPr/>
        </p:nvSpPr>
        <p:spPr>
          <a:xfrm>
            <a:off x="2788920" y="3895344"/>
            <a:ext cx="8503920" cy="914400"/>
          </a:xfrm>
          <a:prstGeom prst="rect">
            <a:avLst/>
          </a:prstGeom>
          <a:noFill/>
          <a:ln/>
        </p:spPr>
        <p:txBody>
          <a:bodyPr wrap="square" lIns="0" tIns="0" rIns="0" bIns="0" rtlCol="0" anchor="ctr"/>
          <a:lstStyle/>
          <a:p>
            <a:pPr indent="0" marL="0">
              <a:buNone/>
            </a:pPr>
            <a:r>
              <a:rPr lang="en-US" sz="1700" dirty="0">
                <a:solidFill>
                  <a:schemeClr val="tx1"/>
                </a:solidFill>
              </a:rPr>
              <a:t>Save the plan or a handoff to a file · same goal → compact · new goal → /clear</a:t>
            </a:r>
            <a:endParaRPr lang="en-US" sz="1700" dirty="0"/>
          </a:p>
        </p:txBody>
      </p:sp>
      <p:sp>
        <p:nvSpPr>
          <p:cNvPr id="17" name="panel"/>
          <p:cNvSpPr/>
          <p:nvPr/>
        </p:nvSpPr>
        <p:spPr>
          <a:xfrm>
            <a:off x="640080" y="4974336"/>
            <a:ext cx="10881360" cy="914400"/>
          </a:xfrm>
          <a:prstGeom prst="roundRect">
            <a:avLst>
              <a:gd name="adj" fmla="val 8000"/>
            </a:avLst>
          </a:prstGeom>
          <a:solidFill>
            <a:schemeClr val="bg2"/>
          </a:solidFill>
          <a:ln w="12700">
            <a:solidFill>
              <a:schemeClr val="bg2"/>
            </a:solidFill>
            <a:prstDash val="solid"/>
          </a:ln>
        </p:spPr>
      </p:sp>
      <p:sp>
        <p:nvSpPr>
          <p:cNvPr id="18" name="phase"/>
          <p:cNvSpPr/>
          <p:nvPr/>
        </p:nvSpPr>
        <p:spPr>
          <a:xfrm>
            <a:off x="868680" y="5193792"/>
            <a:ext cx="1645920" cy="475488"/>
          </a:xfrm>
          <a:prstGeom prst="roundRect">
            <a:avLst>
              <a:gd name="adj" fmla="val 15385"/>
            </a:avLst>
          </a:prstGeom>
          <a:solidFill>
            <a:schemeClr val="accent3"/>
          </a:solidFill>
          <a:ln w="12700">
            <a:solidFill>
              <a:schemeClr val="accent3"/>
            </a:solidFill>
            <a:prstDash val="solid"/>
          </a:ln>
        </p:spPr>
      </p:sp>
      <p:sp>
        <p:nvSpPr>
          <p:cNvPr id="19" name="Text 17"/>
          <p:cNvSpPr txBox="1"/>
          <p:nvPr/>
        </p:nvSpPr>
        <p:spPr>
          <a:xfrm>
            <a:off x="868680" y="5193792"/>
            <a:ext cx="1645920" cy="475488"/>
          </a:xfrm>
          <a:prstGeom prst="rect">
            <a:avLst/>
          </a:prstGeom>
          <a:noFill/>
          <a:ln/>
        </p:spPr>
        <p:txBody>
          <a:bodyPr wrap="square" lIns="0" tIns="0" rIns="0" bIns="0" rtlCol="0" anchor="ctr"/>
          <a:lstStyle/>
          <a:p>
            <a:pPr algn="ctr" indent="0" marL="0">
              <a:buNone/>
            </a:pPr>
            <a:r>
              <a:rPr lang="en-US" sz="1400" b="1" spc="100" kern="0" dirty="0">
                <a:solidFill>
                  <a:schemeClr val="bg1"/>
                </a:solidFill>
              </a:rPr>
              <a:t>AFTER</a:t>
            </a:r>
            <a:endParaRPr lang="en-US" sz="1400" dirty="0"/>
          </a:p>
        </p:txBody>
      </p:sp>
      <p:sp>
        <p:nvSpPr>
          <p:cNvPr id="20" name="Text 18"/>
          <p:cNvSpPr txBox="1"/>
          <p:nvPr/>
        </p:nvSpPr>
        <p:spPr>
          <a:xfrm>
            <a:off x="2788920" y="4974336"/>
            <a:ext cx="8503920" cy="914400"/>
          </a:xfrm>
          <a:prstGeom prst="rect">
            <a:avLst/>
          </a:prstGeom>
          <a:noFill/>
          <a:ln/>
        </p:spPr>
        <p:txBody>
          <a:bodyPr wrap="square" lIns="0" tIns="0" rIns="0" bIns="0" rtlCol="0" anchor="ctr"/>
          <a:lstStyle/>
          <a:p>
            <a:pPr indent="0" marL="0">
              <a:buNone/>
            </a:pPr>
            <a:r>
              <a:rPr lang="en-US" sz="1700" dirty="0">
                <a:solidFill>
                  <a:schemeClr val="tx1"/>
                </a:solidFill>
              </a:rPr>
              <a:t>Verify · nothing unrelated changed · lessons go to the narrowest doc layer</a:t>
            </a:r>
            <a:endParaRPr lang="en-US" sz="17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731520" y="2011680"/>
            <a:ext cx="10515600" cy="1005840"/>
          </a:xfrm>
          <a:prstGeom prst="rect">
            <a:avLst/>
          </a:prstGeom>
          <a:noFill/>
          <a:ln/>
        </p:spPr>
        <p:txBody>
          <a:bodyPr wrap="square" lIns="0" tIns="0" rIns="0" bIns="0" rtlCol="0" anchor="b"/>
          <a:lstStyle/>
          <a:p>
            <a:pPr indent="0" marL="0">
              <a:buNone/>
            </a:pPr>
            <a:r>
              <a:rPr lang="en-US" sz="5400" b="1" dirty="0">
                <a:solidFill>
                  <a:schemeClr val="bg1"/>
                </a:solidFill>
              </a:rPr>
              <a:t>Say what you know.</a:t>
            </a:r>
            <a:endParaRPr lang="en-US" sz="5400" dirty="0"/>
          </a:p>
          <a:p>
            <a:pPr indent="0" marL="0">
              <a:buNone/>
            </a:pPr>
            <a:r>
              <a:rPr lang="en-US" sz="5400" b="1" dirty="0">
                <a:solidFill>
                  <a:schemeClr val="bg1"/>
                </a:solidFill>
              </a:rPr>
              <a:t>Prove what you changed.</a:t>
            </a:r>
            <a:endParaRPr lang="en-US" sz="5400" dirty="0"/>
          </a:p>
        </p:txBody>
      </p:sp>
      <p:sp>
        <p:nvSpPr>
          <p:cNvPr id="3" name="Text 1"/>
          <p:cNvSpPr/>
          <p:nvPr>
            <p:ph idx="102" type="body" hasCustomPrompt="1"/>
          </p:nvPr>
        </p:nvSpPr>
        <p:spPr>
          <a:xfrm>
            <a:off x="731520" y="3108960"/>
            <a:ext cx="10515600" cy="640080"/>
          </a:xfrm>
          <a:prstGeom prst="rect">
            <a:avLst/>
          </a:prstGeom>
          <a:noFill/>
          <a:ln/>
        </p:spPr>
        <p:txBody>
          <a:bodyPr wrap="square" lIns="0" tIns="0" rIns="0" bIns="0" rtlCol="0" anchor="t"/>
          <a:lstStyle/>
          <a:p>
            <a:pPr indent="0" marL="0">
              <a:buNone/>
            </a:pPr>
            <a:r>
              <a:rPr lang="en-US" sz="2400" dirty="0">
                <a:solidFill>
                  <a:schemeClr val="bg2"/>
                </a:solidFill>
              </a:rPr>
              <a:t>Reset when the goal changes.</a:t>
            </a:r>
            <a:endParaRPr lang="en-US" sz="2400" dirty="0"/>
          </a:p>
        </p:txBody>
      </p:sp>
      <p:sp>
        <p:nvSpPr>
          <p:cNvPr id="4" name="Text 1"/>
          <p:cNvSpPr/>
          <p:nvPr>
            <p:ph idx="103" type="body" hasCustomPrompt="1"/>
          </p:nvPr>
        </p:nvSpPr>
        <p:spPr>
          <a:xfrm>
            <a:off x="731520" y="4937760"/>
            <a:ext cx="10515600" cy="914400"/>
          </a:xfrm>
          <a:prstGeom prst="rect">
            <a:avLst/>
          </a:prstGeom>
          <a:noFill/>
          <a:ln/>
        </p:spPr>
        <p:txBody>
          <a:bodyPr wrap="square" lIns="0" tIns="0" rIns="0" bIns="0" rtlCol="0" anchor="t"/>
          <a:lstStyle/>
          <a:p>
            <a:pPr indent="0" marL="0">
              <a:buNone/>
            </a:pPr>
            <a:r>
              <a:rPr lang="en-US" sz="1600" b="1" dirty="0">
                <a:solidFill>
                  <a:schemeClr val="accent4"/>
                </a:solidFill>
              </a:rPr>
              <a:t>Cheat sheet and practice repo: parcel-pilot</a:t>
            </a:r>
            <a:endParaRPr lang="en-US" sz="1600" dirty="0"/>
          </a:p>
          <a:p>
            <a:pPr indent="0" marL="0">
              <a:buNone/>
            </a:pPr>
            <a:r>
              <a:rPr lang="en-US" sz="1600" b="1" dirty="0">
                <a:solidFill>
                  <a:schemeClr val="bg2"/>
                </a:solidFill>
              </a:rPr>
              <a:t>Homework: tasks 2, 5, 6 and 7 in workshop/tasks  ·  Questions?</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BACKUP</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Same habits, two CLIs</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We demo in claude. If you use Cursor, every move has an equivalent.</a:t>
            </a:r>
            <a:endParaRPr lang="en-US" sz="1500" dirty="0"/>
          </a:p>
        </p:txBody>
      </p:sp>
      <p:graphicFrame>
        <p:nvGraphicFramePr>
          <p:cNvPr id="27" name="tool map"/>
          <p:cNvGraphicFramePr>
            <a:graphicFrameLocks noGrp="1"/>
          </p:cNvGraphicFramePr>
          <p:nvPr>
            <p:extLst>
              <p:ext uri="{D42A27DB-BD31-4B8C-83A1-F6EECF244321}">
                <p14:modId xmlns:p14="http://schemas.microsoft.com/office/powerpoint/2010/main" val="1579011935"/>
              </p:ext>
            </p:extLst>
          </p:nvPr>
        </p:nvGraphicFramePr>
        <p:xfrm>
          <a:off x="640080" y="1645920"/>
          <a:ext cx="10881360" cy="914400"/>
        </p:xfrm>
        <a:graphic>
          <a:graphicData uri="http://schemas.openxmlformats.org/drawingml/2006/table">
            <a:tbl>
              <a:tblPr/>
              <a:tblGrid>
                <a:gridCol w="2834640"/>
                <a:gridCol w="3840480"/>
                <a:gridCol w="4206240"/>
              </a:tblGrid>
              <a:tr h="475488">
                <a:tc>
                  <a:txBody>
                    <a:bodyPr/>
                    <a:lstStyle/>
                    <a:p>
                      <a:pPr indent="0" marL="0">
                        <a:buNone/>
                      </a:pPr>
                      <a:r>
                        <a:rPr lang="en-US" sz="1400" b="1" dirty="0">
                          <a:solidFill>
                            <a:schemeClr val="bg1"/>
                          </a:solidFill>
                        </a:rPr>
                        <a:t>Habit</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Claude Code · claude</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Cursor CLI · agent</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solidFill>
                      <a:schemeClr val="tx2"/>
                    </a:solidFill>
                  </a:tcPr>
                </a:tc>
              </a:tr>
              <a:tr h="475488">
                <a:tc>
                  <a:txBody>
                    <a:bodyPr/>
                    <a:lstStyle/>
                    <a:p>
                      <a:pPr indent="0" marL="0">
                        <a:buNone/>
                      </a:pPr>
                      <a:r>
                        <a:rPr lang="en-US" sz="1400" b="1" dirty="0">
                          <a:solidFill>
                            <a:schemeClr val="tx1"/>
                          </a:solidFill>
                        </a:rPr>
                        <a:t>Plan before editing</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rPr>
                        <a:t>Shift+Tab → plan mode</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rPr>
                        <a:t>Shift+Tab → Plan or Ask · /plan · /ask</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475488">
                <a:tc>
                  <a:txBody>
                    <a:bodyPr/>
                    <a:lstStyle/>
                    <a:p>
                      <a:pPr indent="0" marL="0">
                        <a:buNone/>
                      </a:pPr>
                      <a:r>
                        <a:rPr lang="en-US" sz="1400" b="1" dirty="0">
                          <a:solidFill>
                            <a:schemeClr val="tx1"/>
                          </a:solidFill>
                        </a:rPr>
                        <a:t>Point at the code</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@src/pricing/apply-discount.ts</a:t>
                      </a:r>
                      <a:endParaRPr lang="en-US" sz="1400" dirty="0">
                        <a:latin typeface="Consolas" charset="0"/>
                        <a:ea typeface="Consolas" charset="0"/>
                        <a:cs typeface="Consolas" charset="0"/>
                      </a:endParaRPr>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@src/pricing/apply-discount.ts</a:t>
                      </a:r>
                      <a:endParaRPr lang="en-US" sz="1400" dirty="0">
                        <a:latin typeface="Consolas" charset="0"/>
                        <a:ea typeface="Consolas" charset="0"/>
                        <a:cs typeface="Consolas" charset="0"/>
                      </a:endParaRPr>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475488">
                <a:tc>
                  <a:txBody>
                    <a:bodyPr/>
                    <a:lstStyle/>
                    <a:p>
                      <a:pPr indent="0" marL="0">
                        <a:buNone/>
                      </a:pPr>
                      <a:r>
                        <a:rPr lang="en-US" sz="1400" b="1" dirty="0">
                          <a:solidFill>
                            <a:schemeClr val="tx1"/>
                          </a:solidFill>
                        </a:rPr>
                        <a:t>See what you spend</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/context · /statusline · /usage</a:t>
                      </a:r>
                      <a:endParaRPr lang="en-US" sz="1400" dirty="0">
                        <a:latin typeface="Consolas" charset="0"/>
                        <a:ea typeface="Consolas" charset="0"/>
                        <a:cs typeface="Consolas" charset="0"/>
                      </a:endParaRPr>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rPr>
                        <a:t>Context % status line · cursor.com dashboard</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475488">
                <a:tc>
                  <a:txBody>
                    <a:bodyPr/>
                    <a:lstStyle/>
                    <a:p>
                      <a:pPr indent="0" marL="0">
                        <a:buNone/>
                      </a:pPr>
                      <a:r>
                        <a:rPr lang="en-US" sz="1400" b="1" dirty="0">
                          <a:solidFill>
                            <a:schemeClr val="tx1"/>
                          </a:solidFill>
                        </a:rPr>
                        <a:t>Same goal, long chat</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/compact keep the decisions</a:t>
                      </a:r>
                      <a:endParaRPr lang="en-US" sz="1400" dirty="0">
                        <a:latin typeface="Consolas" charset="0"/>
                        <a:ea typeface="Consolas" charset="0"/>
                        <a:cs typeface="Consolas" charset="0"/>
                      </a:endParaRPr>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/summarize</a:t>
                      </a:r>
                      <a:endParaRPr lang="en-US" sz="1400" dirty="0">
                        <a:latin typeface="Consolas" charset="0"/>
                        <a:ea typeface="Consolas" charset="0"/>
                        <a:cs typeface="Consolas" charset="0"/>
                      </a:endParaRPr>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475488">
                <a:tc>
                  <a:txBody>
                    <a:bodyPr/>
                    <a:lstStyle/>
                    <a:p>
                      <a:pPr indent="0" marL="0">
                        <a:buNone/>
                      </a:pPr>
                      <a:r>
                        <a:rPr lang="en-US" sz="1400" b="1" dirty="0">
                          <a:solidFill>
                            <a:schemeClr val="tx1"/>
                          </a:solidFill>
                        </a:rPr>
                        <a:t>New goal</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/clear</a:t>
                      </a:r>
                      <a:endParaRPr lang="en-US" sz="1400" dirty="0">
                        <a:latin typeface="Consolas" charset="0"/>
                        <a:ea typeface="Consolas" charset="0"/>
                        <a:cs typeface="Consolas" charset="0"/>
                      </a:endParaRPr>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/clear  (/new-chat)</a:t>
                      </a:r>
                      <a:endParaRPr lang="en-US" sz="1400" dirty="0">
                        <a:latin typeface="Consolas" charset="0"/>
                        <a:ea typeface="Consolas" charset="0"/>
                        <a:cs typeface="Consolas" charset="0"/>
                      </a:endParaRPr>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475488">
                <a:tc>
                  <a:txBody>
                    <a:bodyPr/>
                    <a:lstStyle/>
                    <a:p>
                      <a:pPr indent="0" marL="0">
                        <a:buNone/>
                      </a:pPr>
                      <a:r>
                        <a:rPr lang="en-US" sz="1400" b="1" dirty="0">
                          <a:solidFill>
                            <a:schemeClr val="tx1"/>
                          </a:solidFill>
                        </a:rPr>
                        <a:t>Undo a wrong turn</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rPr>
                        <a:t>Esc Esc · /rewind</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rPr>
                        <a:t>/rewind · Ctrl+R to review changes</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475488">
                <a:tc>
                  <a:txBody>
                    <a:bodyPr/>
                    <a:lstStyle/>
                    <a:p>
                      <a:pPr indent="0" marL="0">
                        <a:buNone/>
                      </a:pPr>
                      <a:r>
                        <a:rPr lang="en-US" sz="1400" b="1" dirty="0">
                          <a:solidFill>
                            <a:schemeClr val="tx1"/>
                          </a:solidFill>
                        </a:rPr>
                        <a:t>Right model for the job</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/model</a:t>
                      </a:r>
                      <a:endParaRPr lang="en-US" sz="1400" dirty="0">
                        <a:latin typeface="Consolas" charset="0"/>
                        <a:ea typeface="Consolas" charset="0"/>
                        <a:cs typeface="Consolas" charset="0"/>
                      </a:endParaRPr>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/model</a:t>
                      </a:r>
                      <a:endParaRPr lang="en-US" sz="1400" dirty="0">
                        <a:latin typeface="Consolas" charset="0"/>
                        <a:ea typeface="Consolas" charset="0"/>
                        <a:cs typeface="Consolas" charset="0"/>
                      </a:endParaRPr>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r h="475488">
                <a:tc>
                  <a:txBody>
                    <a:bodyPr/>
                    <a:lstStyle/>
                    <a:p>
                      <a:pPr indent="0" marL="0">
                        <a:buNone/>
                      </a:pPr>
                      <a:r>
                        <a:rPr lang="en-US" sz="1400" b="1" dirty="0">
                          <a:solidFill>
                            <a:schemeClr val="tx1"/>
                          </a:solidFill>
                        </a:rPr>
                        <a:t>Keep lessons, scoped</a:t>
                      </a:r>
                      <a:endParaRPr lang="en-US" sz="1400" dirty="0"/>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.claude/rules/*.md + paths:</a:t>
                      </a:r>
                      <a:endParaRPr lang="en-US" sz="1400" dirty="0">
                        <a:latin typeface="Consolas" charset="0"/>
                        <a:ea typeface="Consolas" charset="0"/>
                        <a:cs typeface="Consolas" charset="0"/>
                      </a:endParaRPr>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.cursor/rules/*.mdc + globs</a:t>
                      </a:r>
                      <a:endParaRPr lang="en-US" sz="1400" dirty="0">
                        <a:latin typeface="Consolas" charset="0"/>
                        <a:ea typeface="Consolas" charset="0"/>
                        <a:cs typeface="Consolas" charset="0"/>
                      </a:endParaRPr>
                    </a:p>
                  </a:txBody>
                  <a:tcPr marL="128016" marR="128016" marT="27432" marB="27432" anchor="ctr">
                    <a:lnL w="12700" cap="flat" cmpd="sng" algn="ctr">
                      <a:solidFill>
                        <a:srgbClr val="EAF0F4"/>
                      </a:solidFill>
                      <a:prstDash val="solid"/>
                      <a:round/>
                      <a:headEnd type="none" w="med" len="med"/>
                      <a:tailEnd type="none" w="med" len="med"/>
                    </a:lnL>
                    <a:lnR w="12700" cap="flat" cmpd="sng" algn="ctr">
                      <a:solidFill>
                        <a:srgbClr val="EAF0F4"/>
                      </a:solidFill>
                      <a:prstDash val="solid"/>
                      <a:round/>
                      <a:headEnd type="none" w="med" len="med"/>
                      <a:tailEnd type="none" w="med" len="med"/>
                    </a:lnR>
                    <a:lnT w="12700" cap="flat" cmpd="sng" algn="ctr">
                      <a:solidFill>
                        <a:srgbClr val="EAF0F4"/>
                      </a:solidFill>
                      <a:prstDash val="solid"/>
                      <a:round/>
                      <a:headEnd type="none" w="med" len="med"/>
                      <a:tailEnd type="none" w="med" len="med"/>
                    </a:lnT>
                    <a:lnB w="12700" cap="flat" cmpd="sng" algn="ctr">
                      <a:solidFill>
                        <a:srgbClr val="EAF0F4"/>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block chip"/>
          <p:cNvSpPr txBox="1"/>
          <p:nvPr/>
        </p:nvSpPr>
        <p:spPr>
          <a:xfrm>
            <a:off x="8778240" y="457200"/>
            <a:ext cx="2770632" cy="274320"/>
          </a:xfrm>
          <a:prstGeom prst="rect">
            <a:avLst/>
          </a:prstGeom>
          <a:noFill/>
          <a:ln/>
        </p:spPr>
        <p:txBody>
          <a:bodyPr wrap="square" lIns="0" tIns="0" rIns="0" bIns="0" rtlCol="0" anchor="ctr"/>
          <a:lstStyle/>
          <a:p>
            <a:pPr algn="r" indent="0" marL="0">
              <a:buNone/>
            </a:pPr>
            <a:r>
              <a:rPr lang="en-US" sz="1100" b="1" spc="100" kern="0" dirty="0">
                <a:solidFill>
                  <a:schemeClr val="accent6"/>
                </a:solidFill>
              </a:rPr>
              <a:t>BACKUP</a:t>
            </a:r>
            <a:endParaRPr lang="en-US" sz="1100" dirty="0"/>
          </a:p>
        </p:txBody>
      </p:sp>
      <p:sp>
        <p:nvSpPr>
          <p:cNvPr id="3" name="Text 1"/>
          <p:cNvSpPr/>
          <p:nvPr>
            <p:ph idx="101" type="title" hasCustomPrompt="1"/>
          </p:nvPr>
        </p:nvSpPr>
        <p:spPr>
          <a:xfrm>
            <a:off x="640080" y="411480"/>
            <a:ext cx="8412480" cy="640080"/>
          </a:xfrm>
          <a:prstGeom prst="rect">
            <a:avLst/>
          </a:prstGeom>
          <a:noFill/>
          <a:ln/>
        </p:spPr>
        <p:txBody>
          <a:bodyPr wrap="square" lIns="0" tIns="0" rIns="0" bIns="0" rtlCol="0" anchor="t"/>
          <a:lstStyle/>
          <a:p>
            <a:pPr indent="0" marL="0">
              <a:buNone/>
            </a:pPr>
            <a:r>
              <a:rPr lang="en-US" sz="3000" b="1" dirty="0">
                <a:solidFill>
                  <a:schemeClr val="tx2"/>
                </a:solidFill>
              </a:rPr>
              <a:t>Match the model and mode to the task</a:t>
            </a:r>
            <a:endParaRPr lang="en-US" sz="3000" dirty="0"/>
          </a:p>
        </p:txBody>
      </p:sp>
      <p:sp>
        <p:nvSpPr>
          <p:cNvPr id="4" name="Text 1"/>
          <p:cNvSpPr/>
          <p:nvPr>
            <p:ph idx="102" type="body" hasCustomPrompt="1"/>
          </p:nvPr>
        </p:nvSpPr>
        <p:spPr>
          <a:xfrm>
            <a:off x="640080" y="1024128"/>
            <a:ext cx="10881360" cy="365760"/>
          </a:xfrm>
          <a:prstGeom prst="rect">
            <a:avLst/>
          </a:prstGeom>
          <a:noFill/>
          <a:ln/>
        </p:spPr>
        <p:txBody>
          <a:bodyPr wrap="square" lIns="0" tIns="0" rIns="0" bIns="0" rtlCol="0" anchor="t"/>
          <a:lstStyle/>
          <a:p>
            <a:pPr indent="0" marL="0">
              <a:buNone/>
            </a:pPr>
            <a:r>
              <a:rPr lang="en-US" sz="1500" dirty="0">
                <a:solidFill>
                  <a:schemeClr val="accent3"/>
                </a:solidFill>
              </a:rPr>
              <a:t>"Always use the strongest model" is not a strategy. Escalate on evidence.</a:t>
            </a:r>
            <a:endParaRPr lang="en-US" sz="1500" dirty="0"/>
          </a:p>
        </p:txBody>
      </p:sp>
      <p:sp>
        <p:nvSpPr>
          <p:cNvPr id="5" name="panel"/>
          <p:cNvSpPr/>
          <p:nvPr/>
        </p:nvSpPr>
        <p:spPr>
          <a:xfrm>
            <a:off x="640080" y="1691640"/>
            <a:ext cx="3502152" cy="3063240"/>
          </a:xfrm>
          <a:prstGeom prst="roundRect">
            <a:avLst>
              <a:gd name="adj" fmla="val 2388"/>
            </a:avLst>
          </a:prstGeom>
          <a:solidFill>
            <a:schemeClr val="bg2"/>
          </a:solidFill>
          <a:ln w="12700">
            <a:solidFill>
              <a:schemeClr val="bg2"/>
            </a:solidFill>
            <a:prstDash val="solid"/>
          </a:ln>
        </p:spPr>
      </p:sp>
      <p:sp>
        <p:nvSpPr>
          <p:cNvPr id="6" name="glyph circle"/>
          <p:cNvSpPr/>
          <p:nvPr/>
        </p:nvSpPr>
        <p:spPr>
          <a:xfrm>
            <a:off x="914400" y="1920240"/>
            <a:ext cx="502920" cy="502920"/>
          </a:xfrm>
          <a:prstGeom prst="ellipse">
            <a:avLst/>
          </a:prstGeom>
          <a:solidFill>
            <a:schemeClr val="accent2"/>
          </a:solidFill>
          <a:ln w="12700">
            <a:solidFill>
              <a:schemeClr val="accent2"/>
            </a:solidFill>
            <a:prstDash val="solid"/>
          </a:ln>
        </p:spPr>
      </p:sp>
      <p:sp>
        <p:nvSpPr>
          <p:cNvPr id="7" name="Text 5"/>
          <p:cNvSpPr txBox="1"/>
          <p:nvPr/>
        </p:nvSpPr>
        <p:spPr>
          <a:xfrm>
            <a:off x="914400" y="1920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6"/>
          <p:cNvSpPr txBox="1"/>
          <p:nvPr/>
        </p:nvSpPr>
        <p:spPr>
          <a:xfrm>
            <a:off x="914400" y="2560320"/>
            <a:ext cx="3017520" cy="411480"/>
          </a:xfrm>
          <a:prstGeom prst="rect">
            <a:avLst/>
          </a:prstGeom>
          <a:noFill/>
          <a:ln/>
        </p:spPr>
        <p:txBody>
          <a:bodyPr wrap="square" lIns="0" tIns="0" rIns="0" bIns="0" rtlCol="0" anchor="t"/>
          <a:lstStyle/>
          <a:p>
            <a:pPr indent="0" marL="0">
              <a:buNone/>
            </a:pPr>
            <a:r>
              <a:rPr lang="en-US" sz="2000" b="1" dirty="0">
                <a:solidFill>
                  <a:schemeClr val="accent2"/>
                </a:solidFill>
              </a:rPr>
              <a:t>Mechanical</a:t>
            </a:r>
            <a:endParaRPr lang="en-US" sz="2000" dirty="0"/>
          </a:p>
        </p:txBody>
      </p:sp>
      <p:sp>
        <p:nvSpPr>
          <p:cNvPr id="9" name="Text 7"/>
          <p:cNvSpPr txBox="1"/>
          <p:nvPr/>
        </p:nvSpPr>
        <p:spPr>
          <a:xfrm>
            <a:off x="914400" y="3017520"/>
            <a:ext cx="3017520" cy="640080"/>
          </a:xfrm>
          <a:prstGeom prst="rect">
            <a:avLst/>
          </a:prstGeom>
          <a:noFill/>
          <a:ln/>
        </p:spPr>
        <p:txBody>
          <a:bodyPr wrap="square" lIns="0" tIns="0" rIns="0" bIns="0" rtlCol="0" anchor="t"/>
          <a:lstStyle/>
          <a:p>
            <a:pPr indent="0" marL="0">
              <a:buNone/>
            </a:pPr>
            <a:r>
              <a:rPr lang="en-US" sz="1500" i="1" dirty="0">
                <a:solidFill>
                  <a:schemeClr val="accent3"/>
                </a:solidFill>
              </a:rPr>
              <a:t>Rename a helper in one test file.</a:t>
            </a:r>
            <a:endParaRPr lang="en-US" sz="1500" dirty="0"/>
          </a:p>
        </p:txBody>
      </p:sp>
      <p:sp>
        <p:nvSpPr>
          <p:cNvPr id="10" name="Text 8"/>
          <p:cNvSpPr txBox="1"/>
          <p:nvPr/>
        </p:nvSpPr>
        <p:spPr>
          <a:xfrm>
            <a:off x="914400" y="3749040"/>
            <a:ext cx="3017520" cy="868680"/>
          </a:xfrm>
          <a:prstGeom prst="rect">
            <a:avLst/>
          </a:prstGeom>
          <a:noFill/>
          <a:ln/>
        </p:spPr>
        <p:txBody>
          <a:bodyPr wrap="square" lIns="0" tIns="0" rIns="0" bIns="0" rtlCol="0" anchor="t"/>
          <a:lstStyle/>
          <a:p>
            <a:pPr indent="0" marL="0">
              <a:buNone/>
            </a:pPr>
            <a:r>
              <a:rPr lang="en-US" sz="1500" b="1" dirty="0">
                <a:solidFill>
                  <a:schemeClr val="tx1"/>
                </a:solidFill>
              </a:rPr>
              <a:t>Fast model · inline edit · one file attached · no plan</a:t>
            </a:r>
            <a:endParaRPr lang="en-US" sz="1500" dirty="0"/>
          </a:p>
        </p:txBody>
      </p:sp>
      <p:sp>
        <p:nvSpPr>
          <p:cNvPr id="11" name="panel"/>
          <p:cNvSpPr/>
          <p:nvPr/>
        </p:nvSpPr>
        <p:spPr>
          <a:xfrm>
            <a:off x="4325112" y="1691640"/>
            <a:ext cx="3502152" cy="3063240"/>
          </a:xfrm>
          <a:prstGeom prst="roundRect">
            <a:avLst>
              <a:gd name="adj" fmla="val 2388"/>
            </a:avLst>
          </a:prstGeom>
          <a:solidFill>
            <a:schemeClr val="bg2"/>
          </a:solidFill>
          <a:ln w="12700">
            <a:solidFill>
              <a:schemeClr val="bg2"/>
            </a:solidFill>
            <a:prstDash val="solid"/>
          </a:ln>
        </p:spPr>
      </p:sp>
      <p:sp>
        <p:nvSpPr>
          <p:cNvPr id="12" name="glyph circle"/>
          <p:cNvSpPr/>
          <p:nvPr/>
        </p:nvSpPr>
        <p:spPr>
          <a:xfrm>
            <a:off x="4599432" y="1920240"/>
            <a:ext cx="502920" cy="502920"/>
          </a:xfrm>
          <a:prstGeom prst="ellipse">
            <a:avLst/>
          </a:prstGeom>
          <a:solidFill>
            <a:schemeClr val="accent1"/>
          </a:solidFill>
          <a:ln w="12700">
            <a:solidFill>
              <a:schemeClr val="accent1"/>
            </a:solidFill>
            <a:prstDash val="solid"/>
          </a:ln>
        </p:spPr>
      </p:sp>
      <p:sp>
        <p:nvSpPr>
          <p:cNvPr id="13" name="Text 11"/>
          <p:cNvSpPr txBox="1"/>
          <p:nvPr/>
        </p:nvSpPr>
        <p:spPr>
          <a:xfrm>
            <a:off x="4599432" y="1920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4" name="Text 12"/>
          <p:cNvSpPr txBox="1"/>
          <p:nvPr/>
        </p:nvSpPr>
        <p:spPr>
          <a:xfrm>
            <a:off x="4599432" y="2560320"/>
            <a:ext cx="3017520" cy="411480"/>
          </a:xfrm>
          <a:prstGeom prst="rect">
            <a:avLst/>
          </a:prstGeom>
          <a:noFill/>
          <a:ln/>
        </p:spPr>
        <p:txBody>
          <a:bodyPr wrap="square" lIns="0" tIns="0" rIns="0" bIns="0" rtlCol="0" anchor="t"/>
          <a:lstStyle/>
          <a:p>
            <a:pPr indent="0" marL="0">
              <a:buNone/>
            </a:pPr>
            <a:r>
              <a:rPr lang="en-US" sz="2000" b="1" dirty="0">
                <a:solidFill>
                  <a:schemeClr val="accent1"/>
                </a:solidFill>
              </a:rPr>
              <a:t>Known, multi-file</a:t>
            </a:r>
            <a:endParaRPr lang="en-US" sz="2000" dirty="0"/>
          </a:p>
        </p:txBody>
      </p:sp>
      <p:sp>
        <p:nvSpPr>
          <p:cNvPr id="15" name="Text 13"/>
          <p:cNvSpPr txBox="1"/>
          <p:nvPr/>
        </p:nvSpPr>
        <p:spPr>
          <a:xfrm>
            <a:off x="4599432" y="3017520"/>
            <a:ext cx="3017520" cy="640080"/>
          </a:xfrm>
          <a:prstGeom prst="rect">
            <a:avLst/>
          </a:prstGeom>
          <a:noFill/>
          <a:ln/>
        </p:spPr>
        <p:txBody>
          <a:bodyPr wrap="square" lIns="0" tIns="0" rIns="0" bIns="0" rtlCol="0" anchor="t"/>
          <a:lstStyle/>
          <a:p>
            <a:pPr indent="0" marL="0">
              <a:buNone/>
            </a:pPr>
            <a:r>
              <a:rPr lang="en-US" sz="1500" i="1" dirty="0">
                <a:solidFill>
                  <a:schemeClr val="accent3"/>
                </a:solidFill>
              </a:rPr>
              <a:t>Expose an existing estimate in an API response.</a:t>
            </a:r>
            <a:endParaRPr lang="en-US" sz="1500" dirty="0"/>
          </a:p>
        </p:txBody>
      </p:sp>
      <p:sp>
        <p:nvSpPr>
          <p:cNvPr id="16" name="Text 14"/>
          <p:cNvSpPr txBox="1"/>
          <p:nvPr/>
        </p:nvSpPr>
        <p:spPr>
          <a:xfrm>
            <a:off x="4599432" y="3749040"/>
            <a:ext cx="3017520" cy="868680"/>
          </a:xfrm>
          <a:prstGeom prst="rect">
            <a:avLst/>
          </a:prstGeom>
          <a:noFill/>
          <a:ln/>
        </p:spPr>
        <p:txBody>
          <a:bodyPr wrap="square" lIns="0" tIns="0" rIns="0" bIns="0" rtlCol="0" anchor="t"/>
          <a:lstStyle/>
          <a:p>
            <a:pPr indent="0" marL="0">
              <a:buNone/>
            </a:pPr>
            <a:r>
              <a:rPr lang="en-US" sz="1500" b="1" dirty="0">
                <a:solidFill>
                  <a:schemeClr val="tx1"/>
                </a:solidFill>
              </a:rPr>
              <a:t>Default model · short plan · then agent mode</a:t>
            </a:r>
            <a:endParaRPr lang="en-US" sz="1500" dirty="0"/>
          </a:p>
        </p:txBody>
      </p:sp>
      <p:sp>
        <p:nvSpPr>
          <p:cNvPr id="17" name="panel"/>
          <p:cNvSpPr/>
          <p:nvPr/>
        </p:nvSpPr>
        <p:spPr>
          <a:xfrm>
            <a:off x="8010144" y="1691640"/>
            <a:ext cx="3502152" cy="3063240"/>
          </a:xfrm>
          <a:prstGeom prst="roundRect">
            <a:avLst>
              <a:gd name="adj" fmla="val 2388"/>
            </a:avLst>
          </a:prstGeom>
          <a:solidFill>
            <a:schemeClr val="bg2"/>
          </a:solidFill>
          <a:ln w="12700">
            <a:solidFill>
              <a:schemeClr val="bg2"/>
            </a:solidFill>
            <a:prstDash val="solid"/>
          </a:ln>
        </p:spPr>
      </p:sp>
      <p:sp>
        <p:nvSpPr>
          <p:cNvPr id="18" name="glyph circle"/>
          <p:cNvSpPr/>
          <p:nvPr/>
        </p:nvSpPr>
        <p:spPr>
          <a:xfrm>
            <a:off x="8284464" y="1920240"/>
            <a:ext cx="502920" cy="502920"/>
          </a:xfrm>
          <a:prstGeom prst="ellipse">
            <a:avLst/>
          </a:prstGeom>
          <a:solidFill>
            <a:schemeClr val="tx2"/>
          </a:solidFill>
          <a:ln w="12700">
            <a:solidFill>
              <a:schemeClr val="tx2"/>
            </a:solidFill>
            <a:prstDash val="solid"/>
          </a:ln>
        </p:spPr>
      </p:sp>
      <p:sp>
        <p:nvSpPr>
          <p:cNvPr id="19" name="Text 17"/>
          <p:cNvSpPr txBox="1"/>
          <p:nvPr/>
        </p:nvSpPr>
        <p:spPr>
          <a:xfrm>
            <a:off x="8284464" y="1920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0" name="Text 18"/>
          <p:cNvSpPr txBox="1"/>
          <p:nvPr/>
        </p:nvSpPr>
        <p:spPr>
          <a:xfrm>
            <a:off x="8284464" y="2560320"/>
            <a:ext cx="3017520" cy="411480"/>
          </a:xfrm>
          <a:prstGeom prst="rect">
            <a:avLst/>
          </a:prstGeom>
          <a:noFill/>
          <a:ln/>
        </p:spPr>
        <p:txBody>
          <a:bodyPr wrap="square" lIns="0" tIns="0" rIns="0" bIns="0" rtlCol="0" anchor="t"/>
          <a:lstStyle/>
          <a:p>
            <a:pPr indent="0" marL="0">
              <a:buNone/>
            </a:pPr>
            <a:r>
              <a:rPr lang="en-US" sz="2000" b="1" dirty="0">
                <a:solidFill>
                  <a:schemeClr val="tx2"/>
                </a:solidFill>
              </a:rPr>
              <a:t>Unknown root cause</a:t>
            </a:r>
            <a:endParaRPr lang="en-US" sz="2000" dirty="0"/>
          </a:p>
        </p:txBody>
      </p:sp>
      <p:sp>
        <p:nvSpPr>
          <p:cNvPr id="21" name="Text 19"/>
          <p:cNvSpPr txBox="1"/>
          <p:nvPr/>
        </p:nvSpPr>
        <p:spPr>
          <a:xfrm>
            <a:off x="8284464" y="3017520"/>
            <a:ext cx="3017520" cy="640080"/>
          </a:xfrm>
          <a:prstGeom prst="rect">
            <a:avLst/>
          </a:prstGeom>
          <a:noFill/>
          <a:ln/>
        </p:spPr>
        <p:txBody>
          <a:bodyPr wrap="square" lIns="0" tIns="0" rIns="0" bIns="0" rtlCol="0" anchor="t"/>
          <a:lstStyle/>
          <a:p>
            <a:pPr indent="0" marL="0">
              <a:buNone/>
            </a:pPr>
            <a:r>
              <a:rPr lang="en-US" sz="1500" i="1" dirty="0">
                <a:solidFill>
                  <a:schemeClr val="accent3"/>
                </a:solidFill>
              </a:rPr>
              <a:t>Duplicate emails after a timeout, sometimes.</a:t>
            </a:r>
            <a:endParaRPr lang="en-US" sz="1500" dirty="0"/>
          </a:p>
        </p:txBody>
      </p:sp>
      <p:sp>
        <p:nvSpPr>
          <p:cNvPr id="22" name="Text 20"/>
          <p:cNvSpPr txBox="1"/>
          <p:nvPr/>
        </p:nvSpPr>
        <p:spPr>
          <a:xfrm>
            <a:off x="8284464" y="3749040"/>
            <a:ext cx="3017520" cy="868680"/>
          </a:xfrm>
          <a:prstGeom prst="rect">
            <a:avLst/>
          </a:prstGeom>
          <a:noFill/>
          <a:ln/>
        </p:spPr>
        <p:txBody>
          <a:bodyPr wrap="square" lIns="0" tIns="0" rIns="0" bIns="0" rtlCol="0" anchor="t"/>
          <a:lstStyle/>
          <a:p>
            <a:pPr indent="0" marL="0">
              <a:buNone/>
            </a:pPr>
            <a:r>
              <a:rPr lang="en-US" sz="1500" b="1" dirty="0">
                <a:solidFill>
                  <a:schemeClr val="tx1"/>
                </a:solidFill>
              </a:rPr>
              <a:t>Strongest model · plan or ask first · logs, not folders</a:t>
            </a:r>
            <a:endParaRPr lang="en-US" sz="1500" dirty="0"/>
          </a:p>
        </p:txBody>
      </p:sp>
      <p:sp>
        <p:nvSpPr>
          <p:cNvPr id="23" name="panel"/>
          <p:cNvSpPr/>
          <p:nvPr/>
        </p:nvSpPr>
        <p:spPr>
          <a:xfrm>
            <a:off x="640080" y="5029200"/>
            <a:ext cx="10881360" cy="914400"/>
          </a:xfrm>
          <a:prstGeom prst="roundRect">
            <a:avLst>
              <a:gd name="adj" fmla="val 8000"/>
            </a:avLst>
          </a:prstGeom>
          <a:solidFill>
            <a:schemeClr val="bg2"/>
          </a:solidFill>
          <a:ln w="12700">
            <a:solidFill>
              <a:schemeClr val="bg2"/>
            </a:solidFill>
            <a:prstDash val="solid"/>
          </a:ln>
        </p:spPr>
      </p:sp>
      <p:sp>
        <p:nvSpPr>
          <p:cNvPr id="24" name="Text 22"/>
          <p:cNvSpPr txBox="1"/>
          <p:nvPr/>
        </p:nvSpPr>
        <p:spPr>
          <a:xfrm>
            <a:off x="868680" y="5029200"/>
            <a:ext cx="10424160" cy="914400"/>
          </a:xfrm>
          <a:prstGeom prst="rect">
            <a:avLst/>
          </a:prstGeom>
          <a:noFill/>
          <a:ln/>
        </p:spPr>
        <p:txBody>
          <a:bodyPr wrap="square" lIns="0" tIns="0" rIns="0" bIns="0" rtlCol="0" anchor="ctr"/>
          <a:lstStyle/>
          <a:p>
            <a:pPr indent="0" marL="0">
              <a:buNone/>
            </a:pPr>
            <a:r>
              <a:rPr lang="en-US" sz="1500" b="1" dirty="0">
                <a:solidFill>
                  <a:schemeClr val="tx2"/>
                </a:solidFill>
              </a:rPr>
              <a:t>Escalate when you have two failed attempts or can't form a hypothesis - not when it "feels hard". Send broad exploration to a subagent so your main chat stays lean.</a:t>
            </a:r>
            <a:endParaRPr lang="en-US" sz="1500" dirty="0"/>
          </a:p>
        </p:txBody>
      </p:sp>
      <p:sp>
        <p:nvSpPr>
          <p:cNvPr id="25" name="Slide Number Placeholder 0"/>
          <p:cNvSpPr>
            <a:spLocks noGrp="1"/>
          </p:cNvSpPr>
          <p:nvPr>
            <p:ph type="sldNum" sz="quarter" idx="4294967295"/>
          </p:nvPr>
        </p:nvSpPr>
        <p:spPr>
          <a:xfrm>
            <a:off x="111099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Office Theme">
  <a:themeElements>
    <a:clrScheme name="Xplor">
      <a:dk1>
        <a:srgbClr val="282F35"/>
      </a:dk1>
      <a:lt1>
        <a:srgbClr val="FFFFFF"/>
      </a:lt1>
      <a:dk2>
        <a:srgbClr val="401F9F"/>
      </a:dk2>
      <a:lt2>
        <a:srgbClr val="F1F6FA"/>
      </a:lt2>
      <a:accent1>
        <a:srgbClr val="6923F4"/>
      </a:accent1>
      <a:accent2>
        <a:srgbClr val="0FA3A4"/>
      </a:accent2>
      <a:accent3>
        <a:srgbClr val="545D63"/>
      </a:accent3>
      <a:accent4>
        <a:srgbClr val="3ACBCA"/>
      </a:accent4>
      <a:accent5>
        <a:srgbClr val="BABEFC"/>
      </a:accent5>
      <a:accent6>
        <a:srgbClr val="8C969F"/>
      </a:accent6>
      <a:hlink>
        <a:srgbClr val="6923F4"/>
      </a:hlink>
      <a:folHlink>
        <a:srgbClr val="401F9F"/>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Xplor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Vibe vs. Verified</dc:title>
  <dc:subject>PptxGenJS Presentation</dc:subject>
  <dc:creator>Adam &amp; Eugene</dc:creator>
  <cp:lastModifiedBy>Adam &amp; Eugene</cp:lastModifiedBy>
  <cp:revision>1</cp:revision>
  <dcterms:created xsi:type="dcterms:W3CDTF">2026-10-14T00:00:50Z</dcterms:created>
  <dcterms:modified xsi:type="dcterms:W3CDTF">2026-10-14T00:00:50Z</dcterms:modified>
</cp:coreProperties>
</file>